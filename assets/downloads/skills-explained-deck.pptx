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 just happened. Title card lands here. Hold 2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Reframed. The problem is not that the output looked wrong. It is that nobody agrees what right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reveal, reframed. A prompt is something you say. A skill is something your company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jobs. This is the slide that stops people thinking skills are a formatting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Breadth, early. Kills the "skills are for documents" assumption before it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Binder first, folder second. The analogy leads, the implementation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hire analogy. Build one box at a time in the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published this table. Clearest thing in the docs. Source: Copilot Studio skills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binder up close. Spine and cover are the frontmatter. Inside is the body. Back pocket is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parts. Frontmatter and body. Point at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binder. SKILL.md is one of four things in it. This is the section April felt was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guide. This is the evergreen slide, no product UI in it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ladder. Start at level 1. Climb only when the job forces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use case per rung. This is the slide people screenshot when deciding what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reasons: cost and noise, plus dilution. This is the technical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stages, not two. Advertise, load, read resources, run scripts. Straight from the Agent Framework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spines. This is progressive disclosure made physical.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skills can call Python. Spec supports Python, Bash, JavaScript in scripts/.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reliability line. Anywhere creativity is a bug, write a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not a Microsoft thing and not a Claude thing. Open standard. This surprised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Compressed on purpose. Product UI changes, so point at the docs and move on. The format is the durable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divider. Cut to screen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divider. The instruction wall teardown.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model problem. An architecture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warning beat. Two features, same name. This earns comments.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 once. Public preview, say so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Slow down here. Camera push-in.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person. Starts with Use when. Loaded with the words real people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acronym. This is the screenshot slide and the carousel. Say each letter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talk. Skills are trendy. Do not reach for one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vs workflows. The rule of thumb is the last line,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dependencies. Treat them like npm packages, not like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Least glamorous feature, biggest change in how agents perform.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37160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772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77724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Explained.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process down once. Have it followed every time.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  ·   Copilot Studio   ·   Cowork   ·   Power Platform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people.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different answers.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40080" y="2834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90672"/>
            <a:ext cx="292608" cy="29260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lives in a head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34564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person who has been there longest. It has never been written down.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834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3090672"/>
            <a:ext cx="292608" cy="29260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re-explain it every time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95160" y="34564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context, retyped into every prompt, slightly differently each time.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690872"/>
            <a:ext cx="292608" cy="29260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4599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does it their own way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371600" y="5056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wrong, just different. Which means nothing is comparable.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4434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4690872"/>
            <a:ext cx="292608" cy="29260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599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changes, nothing follows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995160" y="5056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updates. The twelve versions in twelve heads do not.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 formatting problem. That is a standardization problem.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is something you say.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something your company decides.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3017520"/>
            <a:ext cx="365760" cy="365760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one conversation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every time you type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has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version, no owner, no review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7432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3017520"/>
            <a:ext cx="365760" cy="365760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29400" y="361188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 file, on a shelf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every time it runs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whole team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owned, reviewable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words. Completely different thing.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SKILLS ARE FOR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jobs a skill does.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people, one output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produces the same thing, in the same shape, whether they have been here ten years or ten days.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219456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70332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03320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outlives the person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03320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judgement nobody wrote down stops living in one head and starts living in a file.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19456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92240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run forever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do more than about three times is a candidate. You stop re-explaining and start invoking.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06840" y="219456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8116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281160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was done right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281160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 check. The work gets tested against your rules before it reaches anyone.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is the least interesting one, and it is the only one most people notice.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DOCUMENTS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do more than three times.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4028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status report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every Friday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24028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to actions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1772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date on every line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224028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legal playbook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5661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response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boilerplate, past win themes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43400" y="35661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triage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1772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matrix, not vibes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35661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2104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2104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never promise a client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8920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compliance check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440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actual brand guide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43400" y="48920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variance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61772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applied identically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46720" y="48920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104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 onboarding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32104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nobody can find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formatting. All of them are a process somebody keeps re-explaining.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binder.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disk, that binder is a folder.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56032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1141A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76148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client-qbr/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SKILL.md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256032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5603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3182112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318211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3803904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8039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center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0" y="4425696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44256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package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write a decent handoff doc, you can write a skill.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hired someone on Monday.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606040"/>
            <a:ext cx="384048" cy="384048"/>
          </a:xfrm>
          <a:prstGeom prst="ellipse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647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responsive,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overpromises.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23317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606040"/>
            <a:ext cx="384048" cy="384048"/>
          </a:xfrm>
          <a:prstGeom prst="ellipse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647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70332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wiki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703320" y="3657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3317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606040"/>
            <a:ext cx="384048" cy="384048"/>
          </a:xfrm>
          <a:prstGeom prst="ellipse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647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logins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92240" y="3657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06840" y="23317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260604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647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8116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binder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281160" y="3657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We Actually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Things Here."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28116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reads the binder cover to cover. They pull it off the shelf when they need it.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FROM THE DOCS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boxes. Know which one you need.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3317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474720" y="233172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agent behavior and personality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0" y="23317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26440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2644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74720" y="326440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agent can reference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0" y="326440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knows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19709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19709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474720" y="419709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via external services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0" y="419709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touch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512978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512978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3474720" y="51297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task-specific capabilities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29600" y="512978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do the job here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Learn, Skills overview for agents (Copilot Studio)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BINDER, UP CLOSE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 of a binder maps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part of the file.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97180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886200" y="3273552"/>
            <a:ext cx="411480" cy="201168"/>
          </a:xfrm>
          <a:prstGeom prst="rightArrow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it’s called. Kebab-case, matches the folder.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813048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8130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cover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886200" y="4114800"/>
            <a:ext cx="411480" cy="201168"/>
          </a:xfrm>
          <a:prstGeom prst="rightArrow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8130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0" y="3813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pull it off the shelf. This is the trigger.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654296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6542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pages inside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886200" y="4956048"/>
            <a:ext cx="411480" cy="201168"/>
          </a:xfrm>
          <a:prstGeom prst="rightArrow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465429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body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40880" y="465429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instructions, in plain Markdown.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495544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549554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pocket in the back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3886200" y="5797296"/>
            <a:ext cx="411480" cy="201168"/>
          </a:xfrm>
          <a:prstGeom prst="rightArrow">
            <a:avLst/>
          </a:prstGeom>
          <a:solidFill>
            <a:srgbClr val="4A5464"/>
          </a:solidFill>
          <a:ln w="12700">
            <a:solidFill>
              <a:srgbClr val="4A54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54955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40880" y="54955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scripts, the long reference docs. Pulled out only when needed.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 and cover. Then the contents.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6766560" cy="3977640"/>
          </a:xfrm>
          <a:prstGeom prst="roundRect">
            <a:avLst>
              <a:gd name="adj" fmla="val 2759"/>
            </a:avLst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194560"/>
            <a:ext cx="6766560" cy="3977640"/>
          </a:xfrm>
          <a:prstGeom prst="roundRect">
            <a:avLst>
              <a:gd name="adj" fmla="val 2759"/>
            </a:avLst>
          </a:prstGeom>
          <a:solidFill>
            <a:srgbClr val="11141A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2395728"/>
            <a:ext cx="6309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client-qbr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when the user asks for a QBR,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quarterly business review, or client review deck.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QBR deck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this section order exactly: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Executive summary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Scope delivered vs committed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Risk register (never omit, even if empty)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Budget burn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Next quarter recommendation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21945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39572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 = SPINE + COVER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it’s called and when to pull it off the shelf. The only part read up front.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411480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315968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spc="100" kern="0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= THE PAGES INSIDE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instructions. Anything long goes in the back pocket: references/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IN A SKILL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is one file of four.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5943600" cy="3657600"/>
          </a:xfrm>
          <a:prstGeom prst="roundRect">
            <a:avLst>
              <a:gd name="adj" fmla="val 3000"/>
            </a:avLst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286000"/>
            <a:ext cx="5943600" cy="3657600"/>
          </a:xfrm>
          <a:prstGeom prst="roundRect">
            <a:avLst>
              <a:gd name="adj" fmla="val 3000"/>
            </a:avLst>
          </a:prstGeom>
          <a:solidFill>
            <a:srgbClr val="11141A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2487168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client-qbr/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references/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account-health-definitions.md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qbr-writing-guide.md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assets/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qbr-outline-template.md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risk-register-table.md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calculate_burn.py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validate_qbr.py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228600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3227832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3227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0" y="32278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it reads when needed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4169664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16966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0" y="416966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it builds from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49440" y="5111496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51114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0" y="51114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it runs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SKILL.md is required. The other three are where the real leverage is.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IT 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folders. One question each.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926080" y="226771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agent need this EVERY time it runs the skill?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26080" y="265176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 itself. Steps, rules, order of operations.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26080" y="331927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background it might need to look up?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0" y="3703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definitions, style guides, thresholds, edge cases. Loaded only when the instructions point at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297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92608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something it builds the output FROM?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26080" y="475488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boilerplate, table formats, letterheads.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5349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926080" y="54223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need the same answer every single time?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26080" y="58064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validation, parsing, formatting. Anything where creativity is a bug.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answer the question, it probably belongs in references/ until you know.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YOU ACTUALLY NEED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simple. Climb only when forced.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39572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4592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230428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 are all you need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0" y="268833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the process. You just do not want to retype it every 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23697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43814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3236976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references/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40480" y="334670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needs knowledge attached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840480" y="37307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policy, a playbook, a style guide. Word, PDF, PowerPoint, Markdown, all fine.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27939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4805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480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45920" y="427939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assets/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40480" y="43891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has to look like something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840480" y="47731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deck, a letterhead, a contract template. It builds FROM the file.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5321808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" y="552297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522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645920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scripts/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840480" y="543153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 has to be right every time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840480" y="581558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thresholds, validation. The parts where being creative is a bug.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skills never leave level 1. That is not a failure, that is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LEVEL LOOKS LIKE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ladder. Real examples.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4231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only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971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email in your team’s shape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to actions, owner and date on each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that match the repo convention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1945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4231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references/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2971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against the legal playbook (Word)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 using approved boilerplate (PDF)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using the on-call rota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5262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3040" y="4526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assets/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5074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deck built from the branded template (PPTX)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from the standard Word template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on the customer-facing layout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63640" y="42976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45262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86600" y="4526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scripts/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83680" y="5074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with policy thresholds applied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that validates the draft before saving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on an import file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skip rungs. A level 1 skill with one script is fine. The ladder is a guide, not a gate.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PART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why not one giant prompt?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788920"/>
            <a:ext cx="384048" cy="38404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8254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761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noise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instructions loads on every single turn. Ask about the weather, pay for 4,000 words of QBR rules sitting in context doing nothing.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788920"/>
            <a:ext cx="384048" cy="384048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8254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86600" y="2761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3796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get worse as the pile grows, and not linearly. You add scenario seven and scenario three quietly stops working.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with 3 topics. Flaky with 12. You have felt this.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disclosure, four stages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 tokens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skill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description go into the system prompt at the start of every run.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21945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7033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0332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5,000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03320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matches a description, so the full SKILL.md body gets pulled in.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1945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468880"/>
            <a:ext cx="384048" cy="384048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resources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9224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needed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assets fetched only when the instructions point at them.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06840" y="21945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2468880"/>
            <a:ext cx="384048" cy="38404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5054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8116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scripts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28116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only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81160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code executes. The code never enters context. Only what it prints.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skills installed costs you fifty spines. Nothing else loads until it has to.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SIMPLY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read the spines.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read all 200 binders.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69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client-qbr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7744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0545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monthly-variance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8620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1421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triage-new-ticket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306324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94960" y="3063240"/>
            <a:ext cx="1371600" cy="2286000"/>
          </a:xfrm>
          <a:prstGeom prst="roundRect">
            <a:avLst>
              <a:gd name="adj" fmla="val 6667"/>
            </a:avLst>
          </a:prstGeom>
          <a:solidFill>
            <a:srgbClr val="2B313C"/>
          </a:solidFill>
          <a:ln w="25400">
            <a:solidFill>
              <a:srgbClr val="2EE6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2976" y="3246120"/>
            <a:ext cx="11155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escalate-to-tier-2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3173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draft-customer-update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1248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049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weekly-status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921240" y="3291840"/>
            <a:ext cx="1371600" cy="196596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49256" y="347472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brand-voice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binder costs you one spine. Only the one you pull off the shelf gets opened.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 GET MOST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Skills can run code.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4028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decides.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run it, how to read the answer, what to do when it fails.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224028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27889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computes.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output, every time. No creativity.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script’s code never enters the context window.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its output does. A 200-line validator costs you the eight lines it prints.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supports Python, Bash, and JavaScript in scripts/. Whether they execute depends on the runtime.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PUT IN A SCRIPT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creativity is a bug.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4028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514600"/>
            <a:ext cx="329184" cy="329184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percentages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self-checks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files and formats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threshold logic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policy number in 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24028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514600"/>
            <a:ext cx="329184" cy="329184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MODEL DO 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30632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calls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prose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matters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unexpected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human would debate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script to bundle is a self-check. Write it, run it, fix what it flags.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PEOPLE MISS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an open standard.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agentskills.io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9000" y="29718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29718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06840" y="29718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9319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29000" y="39319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7920" y="39319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006840" y="39319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3544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file. Different runtimes. No translation layer.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adopted the format instead of inventing a competing one. That surprised me.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RUNS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format. Different shelves.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48840"/>
            <a:ext cx="10881360" cy="530352"/>
          </a:xfrm>
          <a:prstGeom prst="roundRect">
            <a:avLst>
              <a:gd name="adj" fmla="val 2069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148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21488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OneDrive skills folder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875520" y="21488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7249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Office apps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272491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OneDrive skills folder, @mention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0" y="27249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300984"/>
            <a:ext cx="10881360" cy="530352"/>
          </a:xfrm>
          <a:prstGeom prst="roundRect">
            <a:avLst>
              <a:gd name="adj" fmla="val 2069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3009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SharePoint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330098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Agent Assets library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75520" y="33009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38770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46320" y="387705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Authored or uploaded to the agent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875520" y="387705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453128"/>
            <a:ext cx="10881360" cy="530352"/>
          </a:xfrm>
          <a:prstGeom prst="roundRect">
            <a:avLst>
              <a:gd name="adj" fmla="val 2069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4531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business skills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445312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Central, discovered over MCP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875520" y="44531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50292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 VS Code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46320" y="50292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or personal skills folder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875520" y="50292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605272"/>
            <a:ext cx="10881360" cy="530352"/>
          </a:xfrm>
          <a:prstGeom prst="roundRect">
            <a:avLst>
              <a:gd name="adj" fmla="val 2069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6052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Cursor, Codex, +20 more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46320" y="56052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file, no translation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875520" y="5605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paths and limits move. Check the docs. The file format is the part that stays put.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237744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108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Cowork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the QBR format in 30 seconds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237744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108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up the 4,000-word instruction wall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not a model problem.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an architecture problem.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BLOB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words of instructions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rules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rules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rules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pasted refund policy that contradicts the top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27432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THREE SKILLS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347472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sentences of instructions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triage-new-ticket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escalate-to-tier-2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draft-customer-update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procedure loaded at a time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features. Same name.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60120" y="38862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files. Instructions. New agent experience. The thing this video is about.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251460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YOU’LL GOOGLE INTO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Bot Service skills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629400" y="388620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separately deployed bot as a callable sub-agent. Completely different feature. Completely different docs page.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which page you’re reading. I have lost hours to this.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once. Govern it once.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377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everything so far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126480" y="2377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one person’s OneDrive or inside one agent. When the policy changes, who updates the forty copies?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Dataverse business skills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preview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4069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centrally in Dataverse, not personal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plain language, governed with real controls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on the Dataverse MCP server discovers it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ONE THAT FIRES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binder with a blank spine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gets pulled off the shelf.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374904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startup the agent reads only your name and description. That is the entire basis on which it decides whether to open your skill.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4,000-word body is invisible if the description never matches. Most people spend 90% of their effort on the contents. Flip that.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description vs good description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310896" cy="310896"/>
          </a:xfrm>
          <a:prstGeom prst="ellipse">
            <a:avLst/>
          </a:prstGeom>
          <a:solidFill>
            <a:srgbClr val="FF6B5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fires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11141A"/>
          </a:solidFill>
          <a:ln w="12700">
            <a:solidFill>
              <a:srgbClr val="FF6B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9443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QBR helper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310896" cy="310896"/>
          </a:xfrm>
          <a:prstGeom prst="ellipse">
            <a:avLst/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reliably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11141A"/>
          </a:solidFill>
          <a:ln w="12700">
            <a:solidFill>
              <a:srgbClr val="1114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425196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11141A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445312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when the user asks for a QBR, quarterly business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review, client review deck, or quarterly account summary. Also use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preparing materials for a scheduled client review meeting.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person   ·   starts with "Use when"   ·   loaded with the words people actually type   ·   under 500 characters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ONE THAT FIRES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to S.K.I.L.L.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221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45920" y="2103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it to one job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0" y="2103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binder, one procedure. Two jobs means two skills.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044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4592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in the description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4360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a real person would actually type. That’s your trigger surface.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74904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38679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4592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Instructions, not explanations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943600" y="3749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runbook, not an essay. Count the hedges in your draft.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457200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46908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45920" y="4572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body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943600" y="4572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~500 lines. Everything longer goes in the back pocket: references/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9496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55138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E6A8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645920" y="5394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test and iterate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943600" y="5394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rarely one and done. Install, test, and iterate.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 must match the name in your frontmatter. Kebab-case, identical, or some runtimes skip it silently.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TALK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NOT to use a skill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402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call a system?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a tool.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instructions. They can’t hit your API. Use a connector or MCP server.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22402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request?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a prompt.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3246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value is repetition. Don’t build a skill for something you’ll do once.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1605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knowledge.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0120" y="5166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procedure. Your product catalog is not a procedure.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41605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instructions.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5166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persona, general behavior. That belongs in the always-on box.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Cowork: custom skills are not validated by Microsoft. Review what you deploy.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BOUNDARY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or workflow?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20624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0624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decides how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2560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exact path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401568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401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06240" y="34015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turn, retry the whole thing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34015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Checkpoints, resume where it failed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242816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2428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effects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206240" y="424281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when steps are safe to repeat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0" y="424281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steps send money or email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084064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084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06240" y="50840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task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508406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process, multiple agents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594360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943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AI to figure out HOW? Skill. Need to guarantee WHAT runs and in what order?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INSTALL SOMEONE ELSE’S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dependency.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551176"/>
            <a:ext cx="365760" cy="36576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5877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28600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use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28600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SKILL.md, the scripts, and the resources. Check the script does what it says.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319272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84448"/>
            <a:ext cx="365760" cy="36576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6210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08760" y="3319272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source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3319272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instructions go straight into the agent’s context. Watch for typosquatted names.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352544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21262F"/>
          </a:solidFill>
          <a:ln w="12700">
            <a:solidFill>
              <a:srgbClr val="2126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4617720"/>
            <a:ext cx="365760" cy="36576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654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08760" y="4352544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execution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37760" y="4352544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scripts/ should run isolated, with limits on filesystem and network.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385816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0120" y="5650992"/>
            <a:ext cx="365760" cy="36576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5687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508760" y="5385816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what loaded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37760" y="5385816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skills, which resources, which scripts. That is your audit trail when something goes wrong.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Cowork, custom skills are not validated by Microsoft. A bad skill gets followed like a good one.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re-prompting.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down once.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process, in a file. Picked up when it’s relevant, ignored when it isn’t. Portable across products. Versioned like code. Governed if you need it to be.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2B313C"/>
          </a:solidFill>
          <a:ln w="12700">
            <a:solidFill>
              <a:srgbClr val="2B31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0292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missions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937760" y="502920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aka.ms/agent-academy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Skills, Explained</dc:title>
  <dc:subject>PptxGenJS Presentation</dc:subject>
  <dc:creator>April Dunnam</dc:creator>
  <cp:lastModifiedBy>April Dunnam</cp:lastModifiedBy>
  <cp:revision>1</cp:revision>
  <dcterms:created xsi:type="dcterms:W3CDTF">2026-08-14T16:56:06Z</dcterms:created>
  <dcterms:modified xsi:type="dcterms:W3CDTF">2026-08-14T16:56:06Z</dcterms:modified>
</cp:coreProperties>
</file>