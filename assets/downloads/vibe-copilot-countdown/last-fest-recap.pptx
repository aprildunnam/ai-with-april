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charts/chart1.xml" ContentType="application/vnd.openxmlformats-officedocument.drawingml.chart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charts/chart2.xml" ContentType="application/vnd.openxmlformats-officedocument.drawingml.chart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Tickets</c:v>
                </c:pt>
              </c:strCache>
            </c:strRef>
          </c:tx>
          <c:spPr>
            <a:solidFill>
              <a:srgbClr val="B44A1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4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Friday</c:v>
                  </c:pt>
                  <c:pt idx="1">
                    <c:v>Saturday</c:v>
                  </c:pt>
                  <c:pt idx="2">
                    <c:v>Sunday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240</c:v>
                </c:pt>
                <c:pt idx="1">
                  <c:v>255</c:v>
                </c:pt>
                <c:pt idx="2">
                  <c:v>115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4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CCB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Records</c:v>
                </c:pt>
              </c:strCache>
            </c:strRef>
          </c:tx>
          <c:spPr>
            <a:solidFill>
              <a:srgbClr val="B44A1C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Friday</c:v>
                  </c:pt>
                  <c:pt idx="1">
                    <c:v>Saturday</c:v>
                  </c:pt>
                  <c:pt idx="2">
                    <c:v>Sunday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4900</c:v>
                </c:pt>
                <c:pt idx="1">
                  <c:v>7900</c:v>
                </c:pt>
                <c:pt idx="2">
                  <c:v>3000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Bar</c:v>
                </c:pt>
              </c:strCache>
            </c:strRef>
          </c:tx>
          <c:spPr>
            <a:solidFill>
              <a:srgbClr val="1F7A74"/>
            </a:solidFill>
            <a:effectLst/>
          </c:spPr>
          <c:invertIfNegative val="0"/>
          <c:dLbls>
            <c:numFmt formatCode="$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Friday</c:v>
                  </c:pt>
                  <c:pt idx="1">
                    <c:v>Saturday</c:v>
                  </c:pt>
                  <c:pt idx="2">
                    <c:v>Sunday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2300</c:v>
                </c:pt>
                <c:pt idx="1">
                  <c:v>2900</c:v>
                </c:pt>
                <c:pt idx="2">
                  <c:v>1000</c:v>
                </c:pt>
              </c:numCache>
            </c:numRef>
          </c:val>
        </c:ser>
        <c:dLbls>
          <c:numFmt formatCode="$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D8CCB8"/>
              </a:solidFill>
              <a:prstDash val="solid"/>
              <a:round/>
            </a:ln>
          </c:spPr>
        </c:majorGridlines>
        <c:numFmt formatCode="$#,##0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Recap of last year's festival. Numbers, what worked, what broke.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AA">
    <p:bg>
      <p:bgPr>
        <a:solidFill>
          <a:srgbClr val="F5ECD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583680"/>
            <a:ext cx="12188952" cy="274320"/>
          </a:xfrm>
          <a:prstGeom prst="rect">
            <a:avLst/>
          </a:prstGeom>
          <a:solidFill>
            <a:srgbClr val="1B1B1B"/>
          </a:solidFill>
          <a:ln/>
        </p:spPr>
      </p:sp>
      <p:pic>
        <p:nvPicPr>
          <p:cNvPr id="3" name="Image 0" descr="shared/AprilsAnalog_Logo_Horizontal_Ligh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11512" y="274320"/>
            <a:ext cx="1920240" cy="6400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B1B1B"/>
          </a:solidFill>
          <a:ln/>
        </p:spPr>
      </p:sp>
      <p:pic>
        <p:nvPicPr>
          <p:cNvPr id="3" name="Image 0" descr="shared/AprilsAnalog_Logo_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89520" y="1097280"/>
            <a:ext cx="4023360" cy="402336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640080" y="2011680"/>
            <a:ext cx="68580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5ECD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Analog Fest 2025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640080" y="3108960"/>
            <a:ext cx="68580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E0A52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Recap: 3 nights, 12 bands, 610 fans</a:t>
            </a:r>
            <a:endParaRPr lang="en-US" sz="2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Attendance: 610 tickets vs. goal of 700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73152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4" name="Text 1"/>
          <p:cNvSpPr/>
          <p:nvPr/>
        </p:nvSpPr>
        <p:spPr>
          <a:xfrm>
            <a:off x="8229600" y="2011680"/>
            <a:ext cx="3474720" cy="2743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5400" b="1" dirty="0">
                <a:solidFill>
                  <a:srgbClr val="B44A1C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87%</a:t>
            </a:r>
            <a:endParaRPr lang="en-US" sz="5400" dirty="0"/>
          </a:p>
          <a:p>
            <a:pPr indent="0" marL="0">
              <a:buNone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goal</a:t>
            </a:r>
            <a:endParaRPr lang="en-US" sz="5400" dirty="0"/>
          </a:p>
          <a:p>
            <a:pPr indent="0" marL="0">
              <a:buNone/>
            </a:pPr>
            <a:r>
              <a:rPr lang="en-US" sz="16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was the drag: 115 tickets</a:t>
            </a:r>
            <a:endParaRPr lang="en-US" sz="5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Sales: $15,800 in records, $6,200 at the bar</a:t>
            </a:r>
            <a:endParaRPr lang="en-US" sz="3200" dirty="0"/>
          </a:p>
        </p:txBody>
      </p:sp>
      <p:graphicFrame>
        <p:nvGraphicFramePr>
          <p:cNvPr id="3" name="Chart 0" descr=""/>
          <p:cNvGraphicFramePr/>
          <p:nvPr/>
        </p:nvGraphicFramePr>
        <p:xfrm>
          <a:off x="548640" y="1371600"/>
          <a:ext cx="10972800" cy="484632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Top sellers</a:t>
            </a:r>
            <a:endParaRPr lang="en-US" sz="3200" dirty="0"/>
          </a:p>
        </p:txBody>
      </p:sp>
      <p:graphicFrame>
        <p:nvGraphicFramePr>
          <p:cNvPr id="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48640" y="1463040"/>
          <a:ext cx="10972800" cy="914400"/>
        </p:xfrm>
        <a:graphic>
          <a:graphicData uri="http://schemas.openxmlformats.org/drawingml/2006/table">
            <a:tbl>
              <a:tblPr/>
              <a:tblGrid>
                <a:gridCol w="4114800"/>
                <a:gridCol w="5029200"/>
                <a:gridCol w="1828800"/>
              </a:tblGrid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EC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Artist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EC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Title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b="1" dirty="0">
                          <a:solidFill>
                            <a:srgbClr val="F5ECDC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Units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1B1B"/>
                    </a:solidFill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Needle Drop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Side B Forever (LP)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48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Tape Hiss Society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Cassette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40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The Velvet Static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Static Hearts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31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Midnight Pressing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Graveyard Shift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27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5486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Honey Hollow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Reissue (180g)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800" dirty="0">
                          <a:solidFill>
                            <a:srgbClr val="1B1B1B"/>
                          </a:solidFill>
                          <a:latin typeface="Arial" pitchFamily="34" charset="0"/>
                          <a:ea typeface="Arial" pitchFamily="34" charset="-122"/>
                          <a:cs typeface="Arial" pitchFamily="34" charset="-120"/>
                        </a:rPr>
                        <a:t>22</a:t>
                      </a:r>
                      <a:endParaRPr lang="en-US" sz="1800" dirty="0">
                        <a:latin typeface="Arial" charset="0"/>
                        <a:ea typeface="Arial" charset="0"/>
                        <a:cs typeface="Arial" charset="0"/>
                      </a:endParaRPr>
                    </a:p>
                  </a:txBody>
                  <a:tcPr marL="91440" marR="91440" marT="45720" marB="45720">
                    <a:lnL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D8CCB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worked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Label pop-ups in the listening bar. Crate &amp; Needle sold out their table.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volunteers, zero no-shows on Friday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local paper's writeup drove Saturday walk-ups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 weekend passes, better than expected</a:t>
            </a:r>
            <a:endParaRPr lang="en-US" sz="2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went wrong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 tripped the breaker twice on Friday (one circuit for everything)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Ran out of wristbands Saturday at 9 pm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25-minute bar line on Saturday with one bartender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Posters arrived 4 days before the fest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Sunday record swap was empty after 2 pm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Saturday headliner ran 20 minutes over, noise complaint at 11:15</a:t>
            </a:r>
            <a:endParaRPr lang="en-US" sz="2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Fixes for 2026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Two dedicated 20-amp circuits: PA and backline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Second bartender Friday and Saturday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Order posters 4 weeks out, wristbands +20%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Rethink the Sunday swap slot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Hard stop at 11:00 pm, stage manager owns the clock</a:t>
            </a:r>
            <a:endParaRPr lang="en-US" sz="2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20040"/>
            <a:ext cx="896112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1B1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972800" cy="47548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band, especially Needle Drop for playing through the power cut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Marcus for running merch solo on Sunday, Dee for stage wrangling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Maya and the volunteer crew</a:t>
            </a:r>
            <a:endParaRPr lang="en-US" sz="20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2000" dirty="0">
                <a:solidFill>
                  <a:srgbClr val="1B1B1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Rick at Loud &amp; Clear Audio and Hops &amp; Grooves Brewing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Analog Fest 2025 Recap</dc:title>
  <dc:subject>PptxGenJS Presentation</dc:subject>
  <dc:creator>PptxGenJS</dc:creator>
  <cp:lastModifiedBy>PptxGenJS</cp:lastModifiedBy>
  <cp:revision>1</cp:revision>
  <dcterms:created xsi:type="dcterms:W3CDTF">2026-09-19T02:30:00Z</dcterms:created>
  <dcterms:modified xsi:type="dcterms:W3CDTF">2026-09-19T02:30:00Z</dcterms:modified>
</cp:coreProperties>
</file>