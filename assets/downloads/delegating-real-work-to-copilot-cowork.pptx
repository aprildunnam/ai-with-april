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9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29"/>
    <p:restoredTop sz="94610"/>
  </p:normalViewPr>
  <p:slideViewPr>
    <p:cSldViewPr snapToGrid="0" snapToObjects="1">
      <p:cViewPr varScale="1">
        <p:scale>
          <a:sx n="126" d="100"/>
          <a:sy n="126" d="100"/>
        </p:scale>
        <p:origin x="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0424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Hey Vibe! Show of hands: who's tried Copilot Cowork? Keep it up if you've used it for something that actually saved you an hour. Fewer hands. That's what this session is for. We'll sort out where Cowork fits, what just landed, and how to hand it real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You've probably seen this line on a slide somewhere. Chat helps you think, Cowork does the work. Catchy, right? Also not true. [Pause.] Copilot Chat drafts the doc, builds the deck, runs the analysis in Excel, writes the email. That's work! So if that's not the difference, what is? Fun fact: that line is in Microsoft's own Cowork FAQ. So I'm not mocking a strawman, I'm mocking the docs. That's the question we're answering in the next hour, and every demo today does something plain Copilot can't.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Real quick on me. I'm April, Cloud Advocate at Microsoft. I spend a lot of my week handing work to Cowork and seeing what breaks. [Swap in headshot.]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Five stops. First, the elephant in the room: which Copilot is which. Then how Cowork actually works. Then what just landed, including building apps right inside Cowork. Then how to make it yours with skills and plugins. And finally how to run it like a pro, including what it costs. And every demo does something plain Copilot can't do. That's the bar.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Every demo today runs in one business: April's Analog. A retro record shop with a listening bar and a tiny stage, getting ready for Analog Fest. Tons of email from labels and bands, 40 volunteers to wrangle, and one owner who'd really like to hand off the busywork. Totally fictional. Mostly.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OK, the elephant in the room. Microsoft has a lot of things called Copilot. I know. Let's untangle it in a few slides, and fix that slogan while we're at it so the rest of the hour makes sense.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Here's the family in plain English. Notice I'm not saying chat is just for thinking. Microsoft 365 Copilot is help in the flow of work, inside the apps. Cowork is your AI coworker: it takes a multi-step job across apps and finishes it. Scout is a personal autopilot that takes work off your plate over time, and it's in Frontier preview. Agent Builder and Copilot Studio are for building agents that many people use. Power Automate is for fixed rules. And the consumer Copilot app is great at home, but it doesn't know your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So here's my version. Copilot Chat and Copilot in the apps absolutely do work. Agent Mode in Word, Excel, and PowerPoint builds the whole thing. Researcher and Analyst will grind on a problem for minutes. But you're steering, turn by turn. Cowork is built for a different shape of work: a whole job with a lot of steps across a lot of apps, that keeps running in the cloud when you close your laptop, can run on a schedule or when an email lands, and only pulls you in for the moments that matter. My test: if you'd hand it to a teammate and walk away, that's Cowork. If you want to sit there and shape it, stay in chat.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Here's the simplest way I explain it. Do this single task for me: that's Microsoft 365 Copilot. Do this whole multi-step workflow for me: that's Cowork. Take this work off my plate, ongoing: that's where Scout and autopilots come in. And the rule I give everyone: use the cheapest tool that can do the job. If chat can do it in 30 seconds, you don't need Cowork. All three run on the same brain underneath, Work IQ.</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I get asked this every single time, so let's hit it. Claude Cowork and Copilot Cowork share an idea, but the fit for work is different. Copilot Cowork has Work IQ, so it knows your whole Microsoft 365 world. It takes the action natively: sends the email, books the meeting. It runs in the cloud, so it keeps going when your laptop is closed. It stays inside your Microsoft 365 governance. And you get model choice. [This comes from Microsoft's own comparison, reviewed in June, so present it as Microsoft's 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 Section two. How Cowork actually works, and the mindset shift that makes it click.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 Here's the loop. You describe the outcome, not the steps. Cowork builds a plan you can see. It works across your apps. It checks in before anything consequential, like sending an email, posting to Teams, or booking a meeting. And you get finished work back, saved to OneDrive. It's less chat assistant and more a colleague who takes a task and comes back with a draft.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[DEMO: Cowork on the web] Quick tour first, 1 minute tops: My tasks, Automations, Customize, the model picker and effort slider in the prompt box. Then paste the Demo 1 prompt (DemoType #1). Narrate: the plan appears, edit one step to show you can steer. Watch the Email, Calendar and Communications chips. At the approval card, show the per-recipient options, then Approve All for the five quick replies. Show the Thursday 2:00 hold, the Teams note to Maya, and the new Newsletters rule. Point out what it flagged instead of answering: the sound quote, the permit, the proofs, the interview. The line: 'Copilot drafts one reply at a time. It can't send, book, post, or set a rule. This just cleared my week, and it asked before anything left the building.' [~4 min]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 This is the mindset shift. Stop crafting the perfect prompt. Think about how you'd hand a task to a new teammate. What's the outcome, who's it for, which sources should they use, what format do you want back, and when should they check with you? That's it. And if the first result isn't right, you don't start over. You say tighten it, add a blockers section, just like you would with a person.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Why does Cowork know your work when other AI tools don't? Work IQ. Three layers. Data at the bottom: your mail, calendar, chats, files, people, plus business systems like Dynamics, Power BI, and Fabric. Context in the middle: memory of how you work, who you work with, how you write. And skills and tools on top: specialized instructions for specific jobs. The more you use it, the better it gets.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Out of the box, Cowork ships with 13 skills: the Office apps and PDF, email and communications, meetings, scheduling, calendar, a daily briefing, enterprise search, deep research, and adaptive cards. You don't pick them. Cowork chooses the right ones and shows each one as a chip, so you always see what ran. And you can add up to 50 of your own, which we'll build later.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 [DEMO: Cowork] Paste the Demo 2 prompt (DemoType #2). It reads Vendor_Pipeline.xlsx, checks the Pop-up list, and lands on six labels: Deep Cut Soul, Moonroof, Analog Heart, B-Side Society, Thrift Store Classics and Crossfade. It skips the three already on the list and Crate &amp; Needle. Show all six drafts side by side, each mentioning that label's last order. Approve. Flip to your Gmail tab: six emails just landed (plus-addressing, so they come to you). Flip to the Pop-up list: six new rows marked Invited. Show the Monday 9:00 automation it set up for non-replies. Then 30 seconds: 'Save this as a skill called popup-outreach' (DemoType #3). The line: 'Researcher could tell you who to invite. Cowork invited them, updated the list, and booked its own follow-up.' [~5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Section three. Cowork went generally available on June 16th, and it's been shipping fast since. Here's what's new, including the one I'm most excited about: building apps.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Three months in one picture. June: GA, 13 built-in skills, Copilot Credits billing with spend limits, and nine partner plugins. July: event-triggered tasks, browser use in Edge, and mobile hand-off. August: model selection per task, skill authoring right in the Customize tab, image creation and editing, your org's PowerPoint templates, and approval and completion notifications. And September: building apps, a renamed Automations area, a reasoning effort slider, and better cost visibility plus skill sharing. [Re-check against release notes the week of the event.]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Here's the big one, and it started rolling out September 8th. You can now build apps right inside Cowork. Type slash app and describe what you need. Cowork plans it and asks you a few questions first, which is it being careful with your credits. It builds a first draft in about ten minutes. You preview it, test it, refine it in plain English, and publish it. And the app opens in Copilot Studio if you want to keep going. For the IT folks in the room: it uses Entra sign-in, follows your existing connector and data policies, each maker gets a personal developer environment, and admins see every published app in the admin center.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[DEMO: Cowork] Paste the /app prompt (DemoType #4). Answer its planning questions and keep scope small. While it builds, talk governance. Switch to the pre-built copy, check in as Jess Park from your phone, and show the CheckedIn column flip to Yes on the SharePoint list. Refine live: 'Add a no-show count by shift at the top' (DemoType #5). Show Publish and Share. Honest line if asked: 'Copilot has an App Builder agent in Frontier for simple personal apps. This one is wired to live SharePoint data and published to the whole crew.' [~5 min. A build takes about 10 min, so kick it off and switch to the pre-built copy.]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Automations. There are two kinds now, and as of September they have their own spot in the left nav. Scheduled: every weekday at 8, brief me. And event-triggered, which is the one people miss: when an email comes in from a certain sender, when someone @mentions you in Teams, when a keyword shows up, or around a meeting. By default these are draft-and-approve, so you decide how much rope to give it. And you get notified when it needs you or when it's done.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 [DEMO: Cowork &gt; Automations] Paste the trigger prompt (DemoType #6) and show the trigger it proposes. Confirm it. Now the fun part: flip to Gmail, open the Demo 2 invite to Deep Cut Soul, and reply 'We're in! Can we bring a turntable...' (DemoType #7). Back in Cowork, the task fires: it matches the reply, drafts a thank-you with load-in details from the handbook, and wants to set Deep Cut Soul to Yes on the Pop-up list. Approve. The line: 'Copilot has schedules. It doesn't have triggers. Nothing in Copilot wakes up when an email lands.' [~3 min. Triggers can take a minute or two, so talk through the approval model while you wait. Backup: send the Tape Hiss email from your second mailbox, DemoType #10 and #11.]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Three new controls, and they're all in the prompt box now. The model picker, split into Claude and GPT sections based on what your admin enables. A reasoning effort slider, from Faster to Smarter. Smarter thinks longer and costs more credits. And cost visibility: type slash cost to see what this task has used, and View usage shows your monthly quota and your group's spend. My rule of thumb: start on Faster, and go Smarter for research, analysis, and anything a customer will see.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A few more that landed, rapid fire. Browser use: Cowork drives a hidden Edge tab with your sign-ins to do web tasks like expenses or travel, and it hands back to you for MFA. Your admin has to switch it on, and we'll see it live in a second. It can create and edit images now. It uses your org's PowerPoint templates. You can @mention it in Teams. Start a task on your phone and it finishes in the cloud. And for the technical folks, there's a Cowork CLI with the same runtime, which you can even run as an MCP server.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Section four. Making Cowork yours with skills, plugins, and MCP.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If you remember one thing from this section, make it this. A skill is a capability: what Cowork can do. It's a folder with a SKILL.md that says when to use it and how. A plugin is a container: how new capabilities arrive. It packages skills and connectors into one Microsoft 365 app package, and admins manage it like any other app.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Here's a custom skill. It's plain markdown in your OneDrive, under Documents, Cowork, skills. A name, a description that tells Cowork when to use it, and the steps. Three tips. The folder name has to match the name field; that's the number one reason skills don't load. The description is the trigger, so be explicit about when to use it. And new in September, you can share skills with your colleagues from the Customize area. Bonus: this is the same open format PowerPoint, Excel, and Agent Builder use.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 Here's the workflow I actually use, and you already saw it at the end of Demo 2. Don't start by writing a skill. Start with a task. Do it once in Cowork until you like the result. Then say, save this as a skill, and Cowork writes the SKILL.md for you. If it's recurring, turn it into an automation. And if it's useful to others, generalize it and share it. The Cowork twist: a Cowork skill can send, post and update lists. A Copilot skill shapes an answer. A Cowork skill does the job. One heads up: authoring and testing skills uses credits too.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 Connectors trip everybody up because the word means three different things. Copilot connectors index external data into Microsoft 365 so search and chat can find it. Cowork connectors are remote MCP servers: live data and actions, packaged in a plugin. And Power Platform connectors are the 1,400 prebuilt ones you know from Power Automate, which Cowork doesn't use. When you talk about connecting Cowork to a system, you mean the MCP kind.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For the builders. A plugin is a standard Microsoft 365 app package: a manifest, two icons, a skills folder, and optionally a connector to a remote MCP server. Same packaging as Teams apps, so your admins already know how to govern it. MCP is the open standard underneath, so what you build works across AI tools. MCP apps let a plugin render live widgets right in the conversation: dashboards, pickers, forms. And if your team already built a Claude plugin, there's a conversion script to bring it over.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The plugin catalog. Microsoft's own: Dynamics 365 and Fabric. Productivity and design: Miro, monday.com, Box, Canva. Industry data like LSEG, Moody's, Morningstar, and S&amp;P. And specialists like Harvey for legal and enosix for SAP. Plus your own. Install one and Cowork becomes a specialist in that system. [Confirm current availability in your tenant; some partners were announced as coming soon.]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[OPTIONAL DEMO, skip if running long: Cowork with the Miro plugin] Paste the finale prompt (DemoType #9). One job, five apps: it reads the Crew Handbook and Band_Contacts.xlsx, builds the run-of-show board in Miro, drafts three headliner emails (Velvet Static and Needle Drop get the no-house-drum-kit note, Midnight Pressing doesn't because they bring their own), posts the board and handbook links in the Fest Crew channel, and adds three 4:30 load-in holds. Approve All. Show the board, the Gmail tab, the channel post, the calendar. The line: 'Miro's own Copilot agent can draw a board. Only Cowork draws it, emails three bands, posts to Teams and books my calendar in one go.' [~4 min]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 Last section. Running it like a pro: how to ask, what it costs, and what your IT team will ask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 Every great Cowork request has four parts. Goal: the outcome in one line. Sources: which files, people, or dates. Format: length, structure, tone, and where to save it. Boundary: what to preview and when to check with you. Here's the one from my first demo, color-coded. And one habit: one topic per thread. Start fresh for a new task and you'll get cleaner results and spend fewer credits.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Money. Cowork runs on Copilot Credits on top of your Microsoft 365 Copilot license, about a penny a credit, pay as you go or prepaid. Microsoft groups tasks roughly into light, a dollar to three; medium, three to seven; and heavy, seven plus. The hidden cost is reading your data, so scope tasks to the sources they need. And before you schedule anything to repeat, run slash cost and multiply by how often it'll run. A 200-credit task run 50 times a month is about a hundred bucks a person. [Confirm current pricing before the event.]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The questions IT always asks. It only touches what you can touch, and sensitivity labels are respected. It previews before it sends, posts, schedules, or shares. Admins can turn it on or off, pick which models are allowed, and govern plugins and now apps. Spend limits and alerts by tenant, group, or user. More Purview controls are rolling out. And know the data boundary story: Anthropic models run as a subprocessor, so check the EU Data Boundary notes if that matters to you.</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 If you do nothing else, start with these three, and notice every one of them is something plain Copilot can't do. Set a trigger for the email you answer the same way every week. Clear your inbox for real: replies sent after you approve, holds booked, a rule for the noise. And pick one job your team does by hand, like outreach or follow-ups, do it once in Cowork, then save it as a skill.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Everything's here: the Cowork docs, building skills, building plugins, the hands-on labs, my YouTube, and Agent Academy. [Verify the Cowork docs URL before the event.] Questions?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Vibe Plain">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be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vibe_logo.png"/>
          <p:cNvPicPr>
            <a:picLocks noChangeAspect="1"/>
          </p:cNvPicPr>
          <p:nvPr/>
        </p:nvPicPr>
        <p:blipFill>
          <a:blip r:embed="rId3"/>
          <a:stretch>
            <a:fillRect/>
          </a:stretch>
        </p:blipFill>
        <p:spPr>
          <a:xfrm>
            <a:off x="640080" y="1188720"/>
            <a:ext cx="4004862" cy="4023360"/>
          </a:xfrm>
          <a:prstGeom prst="rect">
            <a:avLst/>
          </a:prstGeom>
        </p:spPr>
      </p:pic>
      <p:pic>
        <p:nvPicPr>
          <p:cNvPr id="3" name="Image 1" descr="partnerin.png"/>
          <p:cNvPicPr>
            <a:picLocks noChangeAspect="1"/>
          </p:cNvPicPr>
          <p:nvPr/>
        </p:nvPicPr>
        <p:blipFill>
          <a:blip r:embed="rId4"/>
          <a:stretch>
            <a:fillRect/>
          </a:stretch>
        </p:blipFill>
        <p:spPr>
          <a:xfrm>
            <a:off x="9905695" y="457200"/>
            <a:ext cx="1737360" cy="328403"/>
          </a:xfrm>
          <a:prstGeom prst="rect">
            <a:avLst/>
          </a:prstGeom>
        </p:spPr>
      </p:pic>
      <p:sp>
        <p:nvSpPr>
          <p:cNvPr id="4" name="Text 0"/>
          <p:cNvSpPr>
            <a:spLocks noGrp="1"/>
          </p:cNvSpPr>
          <p:nvPr>
            <p:ph type="title" idx="102" hasCustomPrompt="1"/>
          </p:nvPr>
        </p:nvSpPr>
        <p:spPr>
          <a:xfrm>
            <a:off x="5120640" y="1417320"/>
            <a:ext cx="6492240" cy="2011680"/>
          </a:xfrm>
          <a:prstGeom prst="rect">
            <a:avLst/>
          </a:prstGeom>
          <a:noFill/>
          <a:ln/>
        </p:spPr>
        <p:txBody>
          <a:bodyPr wrap="square" rtlCol="0"/>
          <a:lstStyle>
            <a:lvl1pPr marL="0" indent="0" algn="l">
              <a:buNone/>
              <a:defRPr lang="en-US" sz="4400" b="1" dirty="0">
                <a:solidFill>
                  <a:srgbClr val="FFFFFF"/>
                </a:solidFill>
                <a:latin typeface="Arial" pitchFamily="34" charset="0"/>
                <a:ea typeface="Arial" pitchFamily="34" charset="-122"/>
                <a:cs typeface="Arial" pitchFamily="34" charset="-120"/>
              </a:defRPr>
            </a:lvl1pPr>
          </a:lstStyle>
          <a:p>
            <a:pPr marL="0" indent="0" algn="l">
              <a:buNone/>
            </a:pPr>
            <a:r>
              <a:rPr lang="en-US" sz="4400" b="1" dirty="0">
                <a:solidFill>
                  <a:srgbClr val="FFFFFF"/>
                </a:solidFill>
                <a:latin typeface="Arial" pitchFamily="34" charset="0"/>
                <a:ea typeface="Arial" pitchFamily="34" charset="-122"/>
                <a:cs typeface="Arial" pitchFamily="34" charset="-120"/>
              </a:rPr>
              <a:t>Click to add title</a:t>
            </a:r>
            <a:endParaRPr lang="en-US" sz="4400" dirty="0"/>
          </a:p>
        </p:txBody>
      </p:sp>
      <p:sp>
        <p:nvSpPr>
          <p:cNvPr id="5" name="Text 0"/>
          <p:cNvSpPr>
            <a:spLocks noGrp="1"/>
          </p:cNvSpPr>
          <p:nvPr>
            <p:ph type="body" idx="103" hasCustomPrompt="1"/>
          </p:nvPr>
        </p:nvSpPr>
        <p:spPr>
          <a:xfrm>
            <a:off x="5120640" y="3566160"/>
            <a:ext cx="6492240" cy="822960"/>
          </a:xfrm>
          <a:prstGeom prst="rect">
            <a:avLst/>
          </a:prstGeom>
          <a:noFill/>
          <a:ln/>
        </p:spPr>
        <p:txBody>
          <a:bodyPr wrap="square" rtlCol="0"/>
          <a:lstStyle>
            <a:lvl1pPr marL="0" indent="0">
              <a:buNone/>
              <a:defRPr lang="en-US" sz="2200" dirty="0">
                <a:solidFill>
                  <a:srgbClr val="5B8CF5"/>
                </a:solidFill>
                <a:latin typeface="Arial" pitchFamily="34" charset="0"/>
                <a:ea typeface="Arial" pitchFamily="34" charset="-122"/>
                <a:cs typeface="Arial" pitchFamily="34" charset="-120"/>
              </a:defRPr>
            </a:lvl1pPr>
          </a:lstStyle>
          <a:p>
            <a:pPr marL="0" indent="0">
              <a:buNone/>
            </a:pPr>
            <a:r>
              <a:rPr lang="en-US" sz="2200" dirty="0">
                <a:solidFill>
                  <a:srgbClr val="5B8CF5"/>
                </a:solidFill>
                <a:latin typeface="Arial" pitchFamily="34" charset="0"/>
                <a:ea typeface="Arial" pitchFamily="34" charset="-122"/>
                <a:cs typeface="Arial" pitchFamily="34" charset="-120"/>
              </a:rPr>
              <a:t>Click to add session subtitle</a:t>
            </a:r>
            <a:endParaRPr lang="en-US" sz="2200" dirty="0"/>
          </a:p>
        </p:txBody>
      </p:sp>
      <p:sp>
        <p:nvSpPr>
          <p:cNvPr id="6" name="Text 0"/>
          <p:cNvSpPr>
            <a:spLocks noGrp="1"/>
          </p:cNvSpPr>
          <p:nvPr>
            <p:ph type="body" idx="104" hasCustomPrompt="1"/>
          </p:nvPr>
        </p:nvSpPr>
        <p:spPr>
          <a:xfrm>
            <a:off x="5120640" y="4572000"/>
            <a:ext cx="6492240" cy="640080"/>
          </a:xfrm>
          <a:prstGeom prst="rect">
            <a:avLst/>
          </a:prstGeom>
          <a:noFill/>
          <a:ln/>
        </p:spPr>
        <p:txBody>
          <a:bodyPr wrap="square" rtlCol="0"/>
          <a:lstStyle>
            <a:lvl1pPr marL="0" indent="0">
              <a:buNone/>
              <a:defRPr lang="en-US" sz="1800" dirty="0">
                <a:solidFill>
                  <a:srgbClr val="CFC8E0"/>
                </a:solidFill>
                <a:latin typeface="Arial" pitchFamily="34" charset="0"/>
                <a:ea typeface="Arial" pitchFamily="34" charset="-122"/>
                <a:cs typeface="Arial" pitchFamily="34" charset="-120"/>
              </a:defRPr>
            </a:lvl1pPr>
          </a:lstStyle>
          <a:p>
            <a:pPr marL="0" indent="0">
              <a:buNone/>
            </a:pPr>
            <a:r>
              <a:rPr lang="en-US" sz="1800" dirty="0">
                <a:solidFill>
                  <a:srgbClr val="CFC8E0"/>
                </a:solidFill>
                <a:latin typeface="Arial" pitchFamily="34" charset="0"/>
                <a:ea typeface="Arial" pitchFamily="34" charset="-122"/>
                <a:cs typeface="Arial" pitchFamily="34" charset="-120"/>
              </a:rPr>
              <a:t>Speaker name  |  Title, Company</a:t>
            </a:r>
            <a:endParaRPr lang="en-US" sz="1800" dirty="0"/>
          </a:p>
        </p:txBody>
      </p:sp>
      <p:sp>
        <p:nvSpPr>
          <p:cNvPr id="7" name="Text 0"/>
          <p:cNvSpPr/>
          <p:nvPr/>
        </p:nvSpPr>
        <p:spPr>
          <a:xfrm>
            <a:off x="6156655" y="6172200"/>
            <a:ext cx="5486400" cy="320040"/>
          </a:xfrm>
          <a:prstGeom prst="rect">
            <a:avLst/>
          </a:prstGeom>
          <a:noFill/>
          <a:ln/>
        </p:spPr>
        <p:txBody>
          <a:bodyPr wrap="square" lIns="0" tIns="0" rIns="0" bIns="0" rtlCol="0" anchor="ctr"/>
          <a:lstStyle/>
          <a:p>
            <a:pPr marL="0" indent="0" algn="r">
              <a:buNone/>
            </a:pPr>
            <a:r>
              <a:rPr lang="en-US" sz="1400" dirty="0">
                <a:solidFill>
                  <a:srgbClr val="CFC8E0"/>
                </a:solidFill>
                <a:latin typeface="Arial" pitchFamily="34" charset="0"/>
                <a:ea typeface="Arial" pitchFamily="34" charset="-122"/>
                <a:cs typeface="Arial" pitchFamily="34" charset="-120"/>
              </a:rPr>
              <a:t>Vibe 2.0: An event for Microsoft Partners</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be 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3657600" cy="1371600"/>
          </a:xfrm>
          <a:prstGeom prst="rect">
            <a:avLst/>
          </a:prstGeom>
          <a:noFill/>
          <a:ln/>
        </p:spPr>
        <p:txBody>
          <a:bodyPr wrap="square" rtlCol="0"/>
          <a:lstStyle>
            <a:lvl1pPr marL="0" indent="0">
              <a:buNone/>
              <a:defRPr lang="en-US" sz="8800" b="1" dirty="0">
                <a:solidFill>
                  <a:srgbClr val="FF5C9E"/>
                </a:solidFill>
                <a:latin typeface="Arial" pitchFamily="34" charset="0"/>
                <a:ea typeface="Arial" pitchFamily="34" charset="-122"/>
                <a:cs typeface="Arial" pitchFamily="34" charset="-120"/>
              </a:defRPr>
            </a:lvl1pPr>
          </a:lstStyle>
          <a:p>
            <a:pPr marL="0" indent="0">
              <a:buNone/>
            </a:pPr>
            <a:r>
              <a:rPr lang="en-US" sz="8800" b="1" dirty="0">
                <a:solidFill>
                  <a:srgbClr val="FF5C9E"/>
                </a:solidFill>
                <a:latin typeface="Arial" pitchFamily="34" charset="0"/>
                <a:ea typeface="Arial" pitchFamily="34" charset="-122"/>
                <a:cs typeface="Arial" pitchFamily="34" charset="-120"/>
              </a:rPr>
              <a:t>01</a:t>
            </a:r>
            <a:endParaRPr lang="en-US" sz="8800" dirty="0"/>
          </a:p>
        </p:txBody>
      </p:sp>
      <p:sp>
        <p:nvSpPr>
          <p:cNvPr id="3" name="Text 0"/>
          <p:cNvSpPr>
            <a:spLocks noGrp="1"/>
          </p:cNvSpPr>
          <p:nvPr>
            <p:ph type="title" idx="101" hasCustomPrompt="1"/>
          </p:nvPr>
        </p:nvSpPr>
        <p:spPr>
          <a:xfrm>
            <a:off x="548640" y="2743200"/>
            <a:ext cx="8686800" cy="1554480"/>
          </a:xfrm>
          <a:prstGeom prst="rect">
            <a:avLst/>
          </a:prstGeom>
          <a:noFill/>
          <a:ln/>
        </p:spPr>
        <p:txBody>
          <a:bodyPr wrap="square" rtlCol="0"/>
          <a:lstStyle>
            <a:lvl1pPr marL="0" indent="0" algn="l">
              <a:buNone/>
              <a:defRPr lang="en-US" sz="4800" b="1" dirty="0">
                <a:solidFill>
                  <a:srgbClr val="FFFFFF"/>
                </a:solidFill>
                <a:latin typeface="Arial" pitchFamily="34" charset="0"/>
                <a:ea typeface="Arial" pitchFamily="34" charset="-122"/>
                <a:cs typeface="Arial" pitchFamily="34" charset="-120"/>
              </a:defRPr>
            </a:lvl1pPr>
          </a:lstStyle>
          <a:p>
            <a:pPr marL="0" indent="0" algn="l">
              <a:buNone/>
            </a:pPr>
            <a:r>
              <a:rPr lang="en-US" sz="4800" b="1" dirty="0">
                <a:solidFill>
                  <a:srgbClr val="FFFFFF"/>
                </a:solidFill>
                <a:latin typeface="Arial" pitchFamily="34" charset="0"/>
                <a:ea typeface="Arial" pitchFamily="34" charset="-122"/>
                <a:cs typeface="Arial" pitchFamily="34" charset="-120"/>
              </a:rPr>
              <a:t>Click to add title</a:t>
            </a:r>
            <a:endParaRPr lang="en-US" sz="4800" dirty="0"/>
          </a:p>
        </p:txBody>
      </p:sp>
      <p:sp>
        <p:nvSpPr>
          <p:cNvPr id="4" name="Text 0"/>
          <p:cNvSpPr>
            <a:spLocks noGrp="1"/>
          </p:cNvSpPr>
          <p:nvPr>
            <p:ph type="body" idx="102" hasCustomPrompt="1"/>
          </p:nvPr>
        </p:nvSpPr>
        <p:spPr>
          <a:xfrm>
            <a:off x="548640" y="4389120"/>
            <a:ext cx="8686800" cy="731520"/>
          </a:xfrm>
          <a:prstGeom prst="rect">
            <a:avLst/>
          </a:prstGeom>
          <a:noFill/>
          <a:ln/>
        </p:spPr>
        <p:txBody>
          <a:bodyPr wrap="square" rtlCol="0"/>
          <a:lstStyle>
            <a:lvl1pPr marL="0" indent="0">
              <a:buNone/>
              <a:defRPr lang="en-US" sz="2000" dirty="0">
                <a:solidFill>
                  <a:srgbClr val="CFC8E0"/>
                </a:solidFill>
                <a:latin typeface="Arial" pitchFamily="34" charset="0"/>
                <a:ea typeface="Arial" pitchFamily="34" charset="-122"/>
                <a:cs typeface="Arial" pitchFamily="34" charset="-120"/>
              </a:defRPr>
            </a:lvl1pPr>
          </a:lstStyle>
          <a:p>
            <a:pPr marL="0" indent="0">
              <a:buNone/>
            </a:pPr>
            <a:r>
              <a:rPr lang="en-US" sz="2000" dirty="0">
                <a:solidFill>
                  <a:srgbClr val="CFC8E0"/>
                </a:solidFill>
                <a:latin typeface="Arial" pitchFamily="34" charset="0"/>
                <a:ea typeface="Arial" pitchFamily="34" charset="-122"/>
                <a:cs typeface="Arial" pitchFamily="34" charset="-120"/>
              </a:rPr>
              <a:t>Optional one-line teaser for this section</a:t>
            </a:r>
            <a:endParaRPr lang="en-US" sz="2000" dirty="0"/>
          </a:p>
        </p:txBody>
      </p:sp>
      <p:pic>
        <p:nvPicPr>
          <p:cNvPr id="5" name="Image 0" descr="vibe_logo.png"/>
          <p:cNvPicPr>
            <a:picLocks noChangeAspect="1"/>
          </p:cNvPicPr>
          <p:nvPr/>
        </p:nvPicPr>
        <p:blipFill>
          <a:blip r:embed="rId3"/>
          <a:stretch>
            <a:fillRect/>
          </a:stretch>
        </p:blipFill>
        <p:spPr>
          <a:xfrm>
            <a:off x="10820095" y="5715000"/>
            <a:ext cx="822960" cy="82676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ibe 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91440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r>
              <a:rPr lang="en-US" sz="3600" b="1" dirty="0">
                <a:solidFill>
                  <a:srgbClr val="FFFFFF"/>
                </a:solidFill>
                <a:latin typeface="Arial" pitchFamily="34" charset="0"/>
                <a:ea typeface="Arial" pitchFamily="34" charset="-122"/>
                <a:cs typeface="Arial" pitchFamily="34" charset="-120"/>
              </a:rPr>
              <a:t>Click to add title</a:t>
            </a:r>
            <a:endParaRPr lang="en-US" sz="3600" dirty="0"/>
          </a:p>
        </p:txBody>
      </p:sp>
      <p:sp>
        <p:nvSpPr>
          <p:cNvPr id="3" name="Text 0"/>
          <p:cNvSpPr>
            <a:spLocks noGrp="1"/>
          </p:cNvSpPr>
          <p:nvPr>
            <p:ph type="body" idx="101" hasCustomPrompt="1"/>
          </p:nvPr>
        </p:nvSpPr>
        <p:spPr>
          <a:xfrm>
            <a:off x="548640" y="1554480"/>
            <a:ext cx="11094415" cy="4434840"/>
          </a:xfrm>
          <a:prstGeom prst="rect">
            <a:avLst/>
          </a:prstGeom>
          <a:noFill/>
          <a:ln/>
        </p:spPr>
        <p:txBody>
          <a:bodyPr wrap="square" rtlCol="0"/>
          <a:lstStyle>
            <a:lvl1pPr marL="342900" indent="-342900">
              <a:spcAft>
                <a:spcPts val="1000"/>
              </a:spcAft>
              <a:buSzPct val="100000"/>
              <a:buChar char="•"/>
              <a:defRPr lang="en-US" sz="2000" dirty="0">
                <a:solidFill>
                  <a:srgbClr val="FFFFFF"/>
                </a:solidFill>
                <a:latin typeface="Arial" pitchFamily="34" charset="0"/>
                <a:ea typeface="Arial" pitchFamily="34" charset="-122"/>
                <a:cs typeface="Arial" pitchFamily="34" charset="-120"/>
              </a:defRPr>
            </a:lvl1pPr>
          </a:lstStyle>
          <a:p>
            <a:pPr marL="342900" indent="-342900">
              <a:spcAft>
                <a:spcPts val="1000"/>
              </a:spcAft>
              <a:buSzPct val="100000"/>
              <a:buChar char="•"/>
            </a:pPr>
            <a:r>
              <a:rPr lang="en-US" sz="2000" dirty="0">
                <a:solidFill>
                  <a:srgbClr val="FFFFFF"/>
                </a:solidFill>
                <a:latin typeface="Arial" pitchFamily="34" charset="0"/>
                <a:ea typeface="Arial" pitchFamily="34" charset="-122"/>
                <a:cs typeface="Arial" pitchFamily="34" charset="-120"/>
              </a:rPr>
              <a:t>Click to add text</a:t>
            </a:r>
            <a:endParaRPr lang="en-US" sz="2000" dirty="0"/>
          </a:p>
        </p:txBody>
      </p:sp>
      <p:pic>
        <p:nvPicPr>
          <p:cNvPr id="4" name="Image 0" descr="vibe_logo.png"/>
          <p:cNvPicPr>
            <a:picLocks noChangeAspect="1"/>
          </p:cNvPicPr>
          <p:nvPr/>
        </p:nvPicPr>
        <p:blipFill>
          <a:blip r:embed="rId3"/>
          <a:stretch>
            <a:fillRect/>
          </a:stretch>
        </p:blipFill>
        <p:spPr>
          <a:xfrm>
            <a:off x="11140135" y="6144768"/>
            <a:ext cx="502920" cy="505243"/>
          </a:xfrm>
          <a:prstGeom prst="rect">
            <a:avLst/>
          </a:prstGeom>
        </p:spPr>
      </p:pic>
      <p:sp>
        <p:nvSpPr>
          <p:cNvPr id="5" name="Text 0"/>
          <p:cNvSpPr/>
          <p:nvPr/>
        </p:nvSpPr>
        <p:spPr>
          <a:xfrm>
            <a:off x="548640" y="6254496"/>
            <a:ext cx="6400800" cy="292608"/>
          </a:xfrm>
          <a:prstGeom prst="rect">
            <a:avLst/>
          </a:prstGeom>
          <a:noFill/>
          <a:ln/>
        </p:spPr>
        <p:txBody>
          <a:bodyPr wrap="square" lIns="0" tIns="0" rIns="0" bIns="0" rtlCol="0" anchor="ctr"/>
          <a:lstStyle/>
          <a:p>
            <a:pPr marL="0" indent="0">
              <a:buNone/>
            </a:pPr>
            <a:r>
              <a:rPr lang="en-US" sz="1200" dirty="0">
                <a:solidFill>
                  <a:srgbClr val="CFC8E0"/>
                </a:solidFill>
                <a:latin typeface="Arial" pitchFamily="34" charset="0"/>
                <a:ea typeface="Arial" pitchFamily="34" charset="-122"/>
                <a:cs typeface="Arial" pitchFamily="34" charset="-120"/>
              </a:rPr>
              <a:t>Vibe 2.0  |  Provo, Utah  |  September 21-23,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ibe 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91440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r>
              <a:rPr lang="en-US" sz="3600" b="1" dirty="0">
                <a:solidFill>
                  <a:srgbClr val="FFFFFF"/>
                </a:solidFill>
                <a:latin typeface="Arial" pitchFamily="34" charset="0"/>
                <a:ea typeface="Arial" pitchFamily="34" charset="-122"/>
                <a:cs typeface="Arial" pitchFamily="34" charset="-120"/>
              </a:rPr>
              <a:t>Click to add title</a:t>
            </a:r>
            <a:endParaRPr lang="en-US" sz="3600" dirty="0"/>
          </a:p>
        </p:txBody>
      </p:sp>
      <p:sp>
        <p:nvSpPr>
          <p:cNvPr id="3" name="Text 0"/>
          <p:cNvSpPr>
            <a:spLocks noGrp="1"/>
          </p:cNvSpPr>
          <p:nvPr>
            <p:ph type="body" idx="101" hasCustomPrompt="1"/>
          </p:nvPr>
        </p:nvSpPr>
        <p:spPr>
          <a:xfrm>
            <a:off x="548640" y="1554480"/>
            <a:ext cx="5303520" cy="548640"/>
          </a:xfrm>
          <a:prstGeom prst="rect">
            <a:avLst/>
          </a:prstGeom>
          <a:noFill/>
          <a:ln/>
        </p:spPr>
        <p:txBody>
          <a:bodyPr wrap="square" rtlCol="0"/>
          <a:lstStyle>
            <a:lvl1pPr marL="0" indent="0">
              <a:buNone/>
              <a:defRPr lang="en-US" sz="2400" b="1" dirty="0">
                <a:solidFill>
                  <a:srgbClr val="5B8CF5"/>
                </a:solidFill>
                <a:latin typeface="Arial" pitchFamily="34" charset="0"/>
                <a:ea typeface="Arial" pitchFamily="34" charset="-122"/>
                <a:cs typeface="Arial" pitchFamily="34" charset="-120"/>
              </a:defRPr>
            </a:lvl1pPr>
          </a:lstStyle>
          <a:p>
            <a:pPr marL="0" indent="0">
              <a:buNone/>
            </a:pPr>
            <a:r>
              <a:rPr lang="en-US" sz="2400" b="1" dirty="0">
                <a:solidFill>
                  <a:srgbClr val="5B8CF5"/>
                </a:solidFill>
                <a:latin typeface="Arial" pitchFamily="34" charset="0"/>
                <a:ea typeface="Arial" pitchFamily="34" charset="-122"/>
                <a:cs typeface="Arial" pitchFamily="34" charset="-120"/>
              </a:rPr>
              <a:t>Left heading</a:t>
            </a:r>
            <a:endParaRPr lang="en-US" sz="2400" dirty="0"/>
          </a:p>
        </p:txBody>
      </p:sp>
      <p:sp>
        <p:nvSpPr>
          <p:cNvPr id="4" name="Text 0"/>
          <p:cNvSpPr>
            <a:spLocks noGrp="1"/>
          </p:cNvSpPr>
          <p:nvPr>
            <p:ph type="body" idx="102" hasCustomPrompt="1"/>
          </p:nvPr>
        </p:nvSpPr>
        <p:spPr>
          <a:xfrm>
            <a:off x="548640" y="2194560"/>
            <a:ext cx="5303520" cy="3794760"/>
          </a:xfrm>
          <a:prstGeom prst="rect">
            <a:avLst/>
          </a:prstGeom>
          <a:noFill/>
          <a:ln/>
        </p:spPr>
        <p:txBody>
          <a:bodyPr wrap="square" rtlCol="0"/>
          <a:lstStyle>
            <a:lvl1pPr marL="342900" indent="-342900">
              <a:spcAft>
                <a:spcPts val="800"/>
              </a:spcAft>
              <a:buSzPct val="100000"/>
              <a:buChar char="•"/>
              <a:defRPr lang="en-US" sz="1800" dirty="0">
                <a:solidFill>
                  <a:srgbClr val="FFFFFF"/>
                </a:solidFill>
                <a:latin typeface="Arial" pitchFamily="34" charset="0"/>
                <a:ea typeface="Arial" pitchFamily="34" charset="-122"/>
                <a:cs typeface="Arial" pitchFamily="34" charset="-120"/>
              </a:defRPr>
            </a:lvl1pPr>
          </a:lstStyle>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Click to add text</a:t>
            </a:r>
            <a:endParaRPr lang="en-US" sz="1800" dirty="0"/>
          </a:p>
        </p:txBody>
      </p:sp>
      <p:sp>
        <p:nvSpPr>
          <p:cNvPr id="5" name="Text 0"/>
          <p:cNvSpPr>
            <a:spLocks noGrp="1"/>
          </p:cNvSpPr>
          <p:nvPr>
            <p:ph type="body" idx="103" hasCustomPrompt="1"/>
          </p:nvPr>
        </p:nvSpPr>
        <p:spPr>
          <a:xfrm>
            <a:off x="6336792" y="1554480"/>
            <a:ext cx="5303520" cy="548640"/>
          </a:xfrm>
          <a:prstGeom prst="rect">
            <a:avLst/>
          </a:prstGeom>
          <a:noFill/>
          <a:ln/>
        </p:spPr>
        <p:txBody>
          <a:bodyPr wrap="square" rtlCol="0"/>
          <a:lstStyle>
            <a:lvl1pPr marL="0" indent="0">
              <a:buNone/>
              <a:defRPr lang="en-US" sz="2400" b="1" dirty="0">
                <a:solidFill>
                  <a:srgbClr val="FF5C9E"/>
                </a:solidFill>
                <a:latin typeface="Arial" pitchFamily="34" charset="0"/>
                <a:ea typeface="Arial" pitchFamily="34" charset="-122"/>
                <a:cs typeface="Arial" pitchFamily="34" charset="-120"/>
              </a:defRPr>
            </a:lvl1pPr>
          </a:lstStyle>
          <a:p>
            <a:pPr marL="0" indent="0">
              <a:buNone/>
            </a:pPr>
            <a:r>
              <a:rPr lang="en-US" sz="2400" b="1" dirty="0">
                <a:solidFill>
                  <a:srgbClr val="FF5C9E"/>
                </a:solidFill>
                <a:latin typeface="Arial" pitchFamily="34" charset="0"/>
                <a:ea typeface="Arial" pitchFamily="34" charset="-122"/>
                <a:cs typeface="Arial" pitchFamily="34" charset="-120"/>
              </a:rPr>
              <a:t>Right heading</a:t>
            </a:r>
            <a:endParaRPr lang="en-US" sz="2400" dirty="0"/>
          </a:p>
        </p:txBody>
      </p:sp>
      <p:sp>
        <p:nvSpPr>
          <p:cNvPr id="6" name="Text 0"/>
          <p:cNvSpPr>
            <a:spLocks noGrp="1"/>
          </p:cNvSpPr>
          <p:nvPr>
            <p:ph type="body" idx="104" hasCustomPrompt="1"/>
          </p:nvPr>
        </p:nvSpPr>
        <p:spPr>
          <a:xfrm>
            <a:off x="6336792" y="2194560"/>
            <a:ext cx="5303520" cy="3794760"/>
          </a:xfrm>
          <a:prstGeom prst="rect">
            <a:avLst/>
          </a:prstGeom>
          <a:noFill/>
          <a:ln/>
        </p:spPr>
        <p:txBody>
          <a:bodyPr wrap="square" rtlCol="0"/>
          <a:lstStyle>
            <a:lvl1pPr marL="342900" indent="-342900">
              <a:spcAft>
                <a:spcPts val="800"/>
              </a:spcAft>
              <a:buSzPct val="100000"/>
              <a:buChar char="•"/>
              <a:defRPr lang="en-US" sz="1800" dirty="0">
                <a:solidFill>
                  <a:srgbClr val="FFFFFF"/>
                </a:solidFill>
                <a:latin typeface="Arial" pitchFamily="34" charset="0"/>
                <a:ea typeface="Arial" pitchFamily="34" charset="-122"/>
                <a:cs typeface="Arial" pitchFamily="34" charset="-120"/>
              </a:defRPr>
            </a:lvl1pPr>
          </a:lstStyle>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Click to add text</a:t>
            </a:r>
            <a:endParaRPr lang="en-US" sz="1800" dirty="0"/>
          </a:p>
        </p:txBody>
      </p:sp>
      <p:pic>
        <p:nvPicPr>
          <p:cNvPr id="7" name="Image 0" descr="vibe_logo.png"/>
          <p:cNvPicPr>
            <a:picLocks noChangeAspect="1"/>
          </p:cNvPicPr>
          <p:nvPr/>
        </p:nvPicPr>
        <p:blipFill>
          <a:blip r:embed="rId3"/>
          <a:stretch>
            <a:fillRect/>
          </a:stretch>
        </p:blipFill>
        <p:spPr>
          <a:xfrm>
            <a:off x="11140135" y="6144768"/>
            <a:ext cx="502920" cy="505243"/>
          </a:xfrm>
          <a:prstGeom prst="rect">
            <a:avLst/>
          </a:prstGeom>
        </p:spPr>
      </p:pic>
      <p:sp>
        <p:nvSpPr>
          <p:cNvPr id="8" name="Text 0"/>
          <p:cNvSpPr/>
          <p:nvPr/>
        </p:nvSpPr>
        <p:spPr>
          <a:xfrm>
            <a:off x="548640" y="6254496"/>
            <a:ext cx="6400800" cy="292608"/>
          </a:xfrm>
          <a:prstGeom prst="rect">
            <a:avLst/>
          </a:prstGeom>
          <a:noFill/>
          <a:ln/>
        </p:spPr>
        <p:txBody>
          <a:bodyPr wrap="square" lIns="0" tIns="0" rIns="0" bIns="0" rtlCol="0" anchor="ctr"/>
          <a:lstStyle/>
          <a:p>
            <a:pPr marL="0" indent="0">
              <a:buNone/>
            </a:pPr>
            <a:r>
              <a:rPr lang="en-US" sz="1200" dirty="0">
                <a:solidFill>
                  <a:srgbClr val="CFC8E0"/>
                </a:solidFill>
                <a:latin typeface="Arial" pitchFamily="34" charset="0"/>
                <a:ea typeface="Arial" pitchFamily="34" charset="-122"/>
                <a:cs typeface="Arial" pitchFamily="34" charset="-120"/>
              </a:rPr>
              <a:t>Vibe 2.0  |  Provo, Utah  |  September 21-23,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ibe Diagra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r>
              <a:rPr lang="en-US" sz="3600" b="1" dirty="0">
                <a:solidFill>
                  <a:srgbClr val="FFFFFF"/>
                </a:solidFill>
                <a:latin typeface="Arial" pitchFamily="34" charset="0"/>
                <a:ea typeface="Arial" pitchFamily="34" charset="-122"/>
                <a:cs typeface="Arial" pitchFamily="34" charset="-120"/>
              </a:rPr>
              <a:t>Click to add title</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rtlCol="0"/>
          <a:lstStyle>
            <a:lvl1pPr marL="0" indent="0">
              <a:buNone/>
              <a:defRPr lang="en-US" sz="1800" dirty="0">
                <a:solidFill>
                  <a:srgbClr val="CFC8E0"/>
                </a:solidFill>
                <a:latin typeface="Arial" pitchFamily="34" charset="0"/>
                <a:ea typeface="Arial" pitchFamily="34" charset="-122"/>
                <a:cs typeface="Arial" pitchFamily="34" charset="-120"/>
              </a:defRPr>
            </a:lvl1pPr>
          </a:lstStyle>
          <a:p>
            <a:pPr marL="0" indent="0">
              <a:buNone/>
            </a:pPr>
            <a:r>
              <a:rPr lang="en-US" sz="1800" dirty="0">
                <a:solidFill>
                  <a:srgbClr val="CFC8E0"/>
                </a:solidFill>
                <a:latin typeface="Arial" pitchFamily="34" charset="0"/>
                <a:ea typeface="Arial" pitchFamily="34" charset="-122"/>
                <a:cs typeface="Arial" pitchFamily="34" charset="-120"/>
              </a:rPr>
              <a:t>One line on what this picture shows</a:t>
            </a:r>
            <a:endParaRPr lang="en-US" sz="1800" dirty="0"/>
          </a:p>
        </p:txBody>
      </p:sp>
      <p:pic>
        <p:nvPicPr>
          <p:cNvPr id="4" name="Image 0" descr="vibe_logo.png"/>
          <p:cNvPicPr>
            <a:picLocks noChangeAspect="1"/>
          </p:cNvPicPr>
          <p:nvPr/>
        </p:nvPicPr>
        <p:blipFill>
          <a:blip r:embed="rId3"/>
          <a:stretch>
            <a:fillRect/>
          </a:stretch>
        </p:blipFill>
        <p:spPr>
          <a:xfrm>
            <a:off x="11140135" y="6144768"/>
            <a:ext cx="502920" cy="505243"/>
          </a:xfrm>
          <a:prstGeom prst="rect">
            <a:avLst/>
          </a:prstGeom>
        </p:spPr>
      </p:pic>
      <p:sp>
        <p:nvSpPr>
          <p:cNvPr id="5" name="Text 0"/>
          <p:cNvSpPr/>
          <p:nvPr/>
        </p:nvSpPr>
        <p:spPr>
          <a:xfrm>
            <a:off x="548640" y="6254496"/>
            <a:ext cx="6400800" cy="292608"/>
          </a:xfrm>
          <a:prstGeom prst="rect">
            <a:avLst/>
          </a:prstGeom>
          <a:noFill/>
          <a:ln/>
        </p:spPr>
        <p:txBody>
          <a:bodyPr wrap="square" lIns="0" tIns="0" rIns="0" bIns="0" rtlCol="0" anchor="ctr"/>
          <a:lstStyle/>
          <a:p>
            <a:pPr marL="0" indent="0">
              <a:buNone/>
            </a:pPr>
            <a:r>
              <a:rPr lang="en-US" sz="1200" dirty="0">
                <a:solidFill>
                  <a:srgbClr val="CFC8E0"/>
                </a:solidFill>
                <a:latin typeface="Arial" pitchFamily="34" charset="0"/>
                <a:ea typeface="Arial" pitchFamily="34" charset="-122"/>
                <a:cs typeface="Arial" pitchFamily="34" charset="-120"/>
              </a:rPr>
              <a:t>Vibe 2.0  |  Provo, Utah  |  September 21-23,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be Conten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5577840" cy="91440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r>
              <a:rPr lang="en-US" sz="3600" b="1" dirty="0">
                <a:solidFill>
                  <a:srgbClr val="FFFFFF"/>
                </a:solidFill>
                <a:latin typeface="Arial" pitchFamily="34" charset="0"/>
                <a:ea typeface="Arial" pitchFamily="34" charset="-122"/>
                <a:cs typeface="Arial" pitchFamily="34" charset="-120"/>
              </a:rPr>
              <a:t>Click to add title</a:t>
            </a:r>
            <a:endParaRPr lang="en-US" sz="3600" dirty="0"/>
          </a:p>
        </p:txBody>
      </p:sp>
      <p:sp>
        <p:nvSpPr>
          <p:cNvPr id="3" name="Text 0"/>
          <p:cNvSpPr>
            <a:spLocks noGrp="1"/>
          </p:cNvSpPr>
          <p:nvPr>
            <p:ph type="body" idx="101" hasCustomPrompt="1"/>
          </p:nvPr>
        </p:nvSpPr>
        <p:spPr>
          <a:xfrm>
            <a:off x="548640" y="1554480"/>
            <a:ext cx="5577840" cy="4434840"/>
          </a:xfrm>
          <a:prstGeom prst="rect">
            <a:avLst/>
          </a:prstGeom>
          <a:noFill/>
          <a:ln/>
        </p:spPr>
        <p:txBody>
          <a:bodyPr wrap="square" rtlCol="0"/>
          <a:lstStyle>
            <a:lvl1pPr marL="342900" indent="-342900">
              <a:spcAft>
                <a:spcPts val="1000"/>
              </a:spcAft>
              <a:buSzPct val="100000"/>
              <a:buChar char="•"/>
              <a:defRPr lang="en-US" sz="2000" dirty="0">
                <a:solidFill>
                  <a:srgbClr val="FFFFFF"/>
                </a:solidFill>
                <a:latin typeface="Arial" pitchFamily="34" charset="0"/>
                <a:ea typeface="Arial" pitchFamily="34" charset="-122"/>
                <a:cs typeface="Arial" pitchFamily="34" charset="-120"/>
              </a:defRPr>
            </a:lvl1pPr>
          </a:lstStyle>
          <a:p>
            <a:pPr marL="342900" indent="-342900">
              <a:spcAft>
                <a:spcPts val="1000"/>
              </a:spcAft>
              <a:buSzPct val="100000"/>
              <a:buChar char="•"/>
            </a:pPr>
            <a:r>
              <a:rPr lang="en-US" sz="2000" dirty="0">
                <a:solidFill>
                  <a:srgbClr val="FFFFFF"/>
                </a:solidFill>
                <a:latin typeface="Arial" pitchFamily="34" charset="0"/>
                <a:ea typeface="Arial" pitchFamily="34" charset="-122"/>
                <a:cs typeface="Arial" pitchFamily="34" charset="-120"/>
              </a:rPr>
              <a:t>Click to add text</a:t>
            </a:r>
            <a:endParaRPr lang="en-US" sz="2000" dirty="0"/>
          </a:p>
        </p:txBody>
      </p:sp>
      <p:sp>
        <p:nvSpPr>
          <p:cNvPr id="4" name="Text 0"/>
          <p:cNvSpPr>
            <a:spLocks noGrp="1"/>
          </p:cNvSpPr>
          <p:nvPr>
            <p:ph idx="102" hasCustomPrompt="1"/>
          </p:nvPr>
        </p:nvSpPr>
        <p:spPr>
          <a:xfrm>
            <a:off x="6492240" y="548640"/>
            <a:ext cx="5148072" cy="5394960"/>
          </a:xfrm>
          <a:prstGeom prst="rect">
            <a:avLst/>
          </a:prstGeom>
          <a:noFill/>
          <a:ln/>
        </p:spPr>
        <p:txBody>
          <a:bodyPr wrap="square" rtlCol="0"/>
          <a:lstStyle>
            <a:lvl1pPr marL="0" indent="0">
              <a:buNone/>
              <a:defRPr lang="en-US" dirty="0"/>
            </a:lvl1pPr>
          </a:lstStyle>
          <a:p>
            <a:pPr marL="0" indent="0">
              <a:buNone/>
            </a:pPr>
            <a:endParaRPr lang="en-US" dirty="0"/>
          </a:p>
        </p:txBody>
      </p:sp>
      <p:pic>
        <p:nvPicPr>
          <p:cNvPr id="5" name="Image 0" descr="vibe_logo.png"/>
          <p:cNvPicPr>
            <a:picLocks noChangeAspect="1"/>
          </p:cNvPicPr>
          <p:nvPr/>
        </p:nvPicPr>
        <p:blipFill>
          <a:blip r:embed="rId3"/>
          <a:stretch>
            <a:fillRect/>
          </a:stretch>
        </p:blipFill>
        <p:spPr>
          <a:xfrm>
            <a:off x="11140135" y="6144768"/>
            <a:ext cx="502920" cy="505243"/>
          </a:xfrm>
          <a:prstGeom prst="rect">
            <a:avLst/>
          </a:prstGeom>
        </p:spPr>
      </p:pic>
      <p:sp>
        <p:nvSpPr>
          <p:cNvPr id="6" name="Text 0"/>
          <p:cNvSpPr/>
          <p:nvPr/>
        </p:nvSpPr>
        <p:spPr>
          <a:xfrm>
            <a:off x="548640" y="6254496"/>
            <a:ext cx="6400800" cy="292608"/>
          </a:xfrm>
          <a:prstGeom prst="rect">
            <a:avLst/>
          </a:prstGeom>
          <a:noFill/>
          <a:ln/>
        </p:spPr>
        <p:txBody>
          <a:bodyPr wrap="square" lIns="0" tIns="0" rIns="0" bIns="0" rtlCol="0" anchor="ctr"/>
          <a:lstStyle/>
          <a:p>
            <a:pPr marL="0" indent="0">
              <a:buNone/>
            </a:pPr>
            <a:r>
              <a:rPr lang="en-US" sz="1200" dirty="0">
                <a:solidFill>
                  <a:srgbClr val="CFC8E0"/>
                </a:solidFill>
                <a:latin typeface="Arial" pitchFamily="34" charset="0"/>
                <a:ea typeface="Arial" pitchFamily="34" charset="-122"/>
                <a:cs typeface="Arial" pitchFamily="34" charset="-120"/>
              </a:rPr>
              <a:t>Vibe 2.0  |  Provo, Utah  |  September 21-23,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ib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1828800" cy="1737360"/>
          </a:xfrm>
          <a:prstGeom prst="rect">
            <a:avLst/>
          </a:prstGeom>
          <a:noFill/>
          <a:ln/>
        </p:spPr>
        <p:txBody>
          <a:bodyPr wrap="square" lIns="0" tIns="0" rIns="0" bIns="0" rtlCol="0" anchor="t"/>
          <a:lstStyle/>
          <a:p>
            <a:pPr marL="0" indent="0">
              <a:buNone/>
            </a:pPr>
            <a:r>
              <a:rPr lang="en-US" sz="16000" b="1" dirty="0">
                <a:solidFill>
                  <a:srgbClr val="E8307A"/>
                </a:solidFill>
                <a:latin typeface="Arial" pitchFamily="34" charset="0"/>
                <a:ea typeface="Arial" pitchFamily="34" charset="-122"/>
                <a:cs typeface="Arial" pitchFamily="34" charset="-120"/>
              </a:rPr>
              <a:t>“</a:t>
            </a:r>
            <a:endParaRPr lang="en-US" sz="16000" dirty="0"/>
          </a:p>
        </p:txBody>
      </p:sp>
      <p:sp>
        <p:nvSpPr>
          <p:cNvPr id="3" name="Text 1"/>
          <p:cNvSpPr>
            <a:spLocks noGrp="1"/>
          </p:cNvSpPr>
          <p:nvPr>
            <p:ph type="body" idx="101" hasCustomPrompt="1"/>
          </p:nvPr>
        </p:nvSpPr>
        <p:spPr>
          <a:xfrm>
            <a:off x="1188720" y="1828800"/>
            <a:ext cx="9784080" cy="2560320"/>
          </a:xfrm>
          <a:prstGeom prst="rect">
            <a:avLst/>
          </a:prstGeom>
          <a:noFill/>
          <a:ln/>
        </p:spPr>
        <p:txBody>
          <a:bodyPr wrap="square" rtlCol="0"/>
          <a:lstStyle>
            <a:lvl1pPr marL="0" indent="0">
              <a:buNone/>
              <a:defRPr lang="en-US" sz="4000" b="1" dirty="0">
                <a:solidFill>
                  <a:srgbClr val="FFFFFF"/>
                </a:solidFill>
                <a:latin typeface="Arial" pitchFamily="34" charset="0"/>
                <a:ea typeface="Arial" pitchFamily="34" charset="-122"/>
                <a:cs typeface="Arial" pitchFamily="34" charset="-120"/>
              </a:defRPr>
            </a:lvl1pPr>
          </a:lstStyle>
          <a:p>
            <a:pPr marL="0" indent="0">
              <a:buNone/>
            </a:pPr>
            <a:r>
              <a:rPr lang="en-US" sz="4000" b="1" dirty="0">
                <a:solidFill>
                  <a:srgbClr val="FFFFFF"/>
                </a:solidFill>
                <a:latin typeface="Arial" pitchFamily="34" charset="0"/>
                <a:ea typeface="Arial" pitchFamily="34" charset="-122"/>
                <a:cs typeface="Arial" pitchFamily="34" charset="-120"/>
              </a:rPr>
              <a:t>A big idea, quote, or takeaway in one or two lines</a:t>
            </a:r>
            <a:endParaRPr lang="en-US" sz="4000" dirty="0"/>
          </a:p>
        </p:txBody>
      </p:sp>
      <p:sp>
        <p:nvSpPr>
          <p:cNvPr id="4" name="Text 1"/>
          <p:cNvSpPr>
            <a:spLocks noGrp="1"/>
          </p:cNvSpPr>
          <p:nvPr>
            <p:ph type="body" idx="102" hasCustomPrompt="1"/>
          </p:nvPr>
        </p:nvSpPr>
        <p:spPr>
          <a:xfrm>
            <a:off x="1188720" y="4572000"/>
            <a:ext cx="9784080" cy="548640"/>
          </a:xfrm>
          <a:prstGeom prst="rect">
            <a:avLst/>
          </a:prstGeom>
          <a:noFill/>
          <a:ln/>
        </p:spPr>
        <p:txBody>
          <a:bodyPr wrap="square" rtlCol="0"/>
          <a:lstStyle>
            <a:lvl1pPr marL="0" indent="0">
              <a:buNone/>
              <a:defRPr lang="en-US" sz="2000" dirty="0">
                <a:solidFill>
                  <a:srgbClr val="5B8CF5"/>
                </a:solidFill>
                <a:latin typeface="Arial" pitchFamily="34" charset="0"/>
                <a:ea typeface="Arial" pitchFamily="34" charset="-122"/>
                <a:cs typeface="Arial" pitchFamily="34" charset="-120"/>
              </a:defRPr>
            </a:lvl1pPr>
          </a:lstStyle>
          <a:p>
            <a:pPr marL="0" indent="0">
              <a:buNone/>
            </a:pPr>
            <a:r>
              <a:rPr lang="en-US" sz="2000" dirty="0">
                <a:solidFill>
                  <a:srgbClr val="5B8CF5"/>
                </a:solidFill>
                <a:latin typeface="Arial" pitchFamily="34" charset="0"/>
                <a:ea typeface="Arial" pitchFamily="34" charset="-122"/>
                <a:cs typeface="Arial" pitchFamily="34" charset="-120"/>
              </a:rPr>
              <a:t>Name, Title</a:t>
            </a:r>
            <a:endParaRPr lang="en-US" sz="2000" dirty="0"/>
          </a:p>
        </p:txBody>
      </p:sp>
      <p:pic>
        <p:nvPicPr>
          <p:cNvPr id="5" name="Image 0" descr="vibe_logo.png"/>
          <p:cNvPicPr>
            <a:picLocks noChangeAspect="1"/>
          </p:cNvPicPr>
          <p:nvPr/>
        </p:nvPicPr>
        <p:blipFill>
          <a:blip r:embed="rId3"/>
          <a:stretch>
            <a:fillRect/>
          </a:stretch>
        </p:blipFill>
        <p:spPr>
          <a:xfrm>
            <a:off x="10820095" y="5715000"/>
            <a:ext cx="822960" cy="826761"/>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ibe Dem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1554480"/>
            <a:ext cx="2194560" cy="640080"/>
          </a:xfrm>
          <a:prstGeom prst="roundRect">
            <a:avLst>
              <a:gd name="adj" fmla="val 50000"/>
            </a:avLst>
          </a:prstGeom>
          <a:solidFill>
            <a:srgbClr val="D42A6E"/>
          </a:solidFill>
          <a:ln/>
        </p:spPr>
        <p:txBody>
          <a:bodyPr wrap="square" lIns="0" tIns="0" rIns="0" bIns="0" rtlCol="0" anchor="ctr"/>
          <a:lstStyle/>
          <a:p>
            <a:pPr marL="0" indent="0" algn="ctr">
              <a:buNone/>
            </a:pPr>
            <a:r>
              <a:rPr lang="en-US" sz="2000" b="1" kern="0" spc="200" dirty="0">
                <a:solidFill>
                  <a:srgbClr val="FFFFFF"/>
                </a:solidFill>
                <a:latin typeface="Arial" pitchFamily="34" charset="0"/>
                <a:ea typeface="Arial" pitchFamily="34" charset="-122"/>
                <a:cs typeface="Arial" pitchFamily="34" charset="-120"/>
              </a:rPr>
              <a:t>LIVE DEMO</a:t>
            </a:r>
            <a:endParaRPr lang="en-US" sz="2000" dirty="0"/>
          </a:p>
        </p:txBody>
      </p:sp>
      <p:sp>
        <p:nvSpPr>
          <p:cNvPr id="3" name="Text 1"/>
          <p:cNvSpPr>
            <a:spLocks noGrp="1"/>
          </p:cNvSpPr>
          <p:nvPr>
            <p:ph type="title" idx="101" hasCustomPrompt="1"/>
          </p:nvPr>
        </p:nvSpPr>
        <p:spPr>
          <a:xfrm>
            <a:off x="548640" y="2468880"/>
            <a:ext cx="9144000" cy="1737360"/>
          </a:xfrm>
          <a:prstGeom prst="rect">
            <a:avLst/>
          </a:prstGeom>
          <a:noFill/>
          <a:ln/>
        </p:spPr>
        <p:txBody>
          <a:bodyPr wrap="square" rtlCol="0"/>
          <a:lstStyle>
            <a:lvl1pPr marL="0" indent="0" algn="l">
              <a:buNone/>
              <a:defRPr lang="en-US" sz="4800" b="1" dirty="0">
                <a:solidFill>
                  <a:srgbClr val="FFFFFF"/>
                </a:solidFill>
                <a:latin typeface="Arial" pitchFamily="34" charset="0"/>
                <a:ea typeface="Arial" pitchFamily="34" charset="-122"/>
                <a:cs typeface="Arial" pitchFamily="34" charset="-120"/>
              </a:defRPr>
            </a:lvl1pPr>
          </a:lstStyle>
          <a:p>
            <a:pPr marL="0" indent="0" algn="l">
              <a:buNone/>
            </a:pPr>
            <a:r>
              <a:rPr lang="en-US" sz="4800" b="1" dirty="0">
                <a:solidFill>
                  <a:srgbClr val="FFFFFF"/>
                </a:solidFill>
                <a:latin typeface="Arial" pitchFamily="34" charset="0"/>
                <a:ea typeface="Arial" pitchFamily="34" charset="-122"/>
                <a:cs typeface="Arial" pitchFamily="34" charset="-120"/>
              </a:rPr>
              <a:t>Click to add title</a:t>
            </a:r>
            <a:endParaRPr lang="en-US" sz="4800" dirty="0"/>
          </a:p>
        </p:txBody>
      </p:sp>
      <p:sp>
        <p:nvSpPr>
          <p:cNvPr id="4" name="Text 1"/>
          <p:cNvSpPr>
            <a:spLocks noGrp="1"/>
          </p:cNvSpPr>
          <p:nvPr>
            <p:ph type="body" idx="102" hasCustomPrompt="1"/>
          </p:nvPr>
        </p:nvSpPr>
        <p:spPr>
          <a:xfrm>
            <a:off x="548640" y="4297680"/>
            <a:ext cx="9144000" cy="1097280"/>
          </a:xfrm>
          <a:prstGeom prst="rect">
            <a:avLst/>
          </a:prstGeom>
          <a:noFill/>
          <a:ln/>
        </p:spPr>
        <p:txBody>
          <a:bodyPr wrap="square" rtlCol="0"/>
          <a:lstStyle>
            <a:lvl1pPr marL="0" indent="0">
              <a:buNone/>
              <a:defRPr lang="en-US" sz="2000" dirty="0">
                <a:solidFill>
                  <a:srgbClr val="CFC8E0"/>
                </a:solidFill>
                <a:latin typeface="Arial" pitchFamily="34" charset="0"/>
                <a:ea typeface="Arial" pitchFamily="34" charset="-122"/>
                <a:cs typeface="Arial" pitchFamily="34" charset="-120"/>
              </a:defRPr>
            </a:lvl1pPr>
          </a:lstStyle>
          <a:p>
            <a:pPr marL="0" indent="0">
              <a:buNone/>
            </a:pPr>
            <a:r>
              <a:rPr lang="en-US" sz="2000" dirty="0">
                <a:solidFill>
                  <a:srgbClr val="CFC8E0"/>
                </a:solidFill>
                <a:latin typeface="Arial" pitchFamily="34" charset="0"/>
                <a:ea typeface="Arial" pitchFamily="34" charset="-122"/>
                <a:cs typeface="Arial" pitchFamily="34" charset="-120"/>
              </a:rPr>
              <a:t>What to watch for during this demo</a:t>
            </a:r>
            <a:endParaRPr lang="en-US" sz="2000" dirty="0"/>
          </a:p>
        </p:txBody>
      </p:sp>
      <p:pic>
        <p:nvPicPr>
          <p:cNvPr id="5" name="Image 0" descr="vibe_logo.png"/>
          <p:cNvPicPr>
            <a:picLocks noChangeAspect="1"/>
          </p:cNvPicPr>
          <p:nvPr/>
        </p:nvPicPr>
        <p:blipFill>
          <a:blip r:embed="rId3"/>
          <a:stretch>
            <a:fillRect/>
          </a:stretch>
        </p:blipFill>
        <p:spPr>
          <a:xfrm>
            <a:off x="10820095" y="5715000"/>
            <a:ext cx="822960" cy="826761"/>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Vib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548640" y="548640"/>
            <a:ext cx="4023360" cy="539496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3" name="Text 0"/>
          <p:cNvSpPr>
            <a:spLocks noGrp="1"/>
          </p:cNvSpPr>
          <p:nvPr>
            <p:ph type="title" idx="101" hasCustomPrompt="1"/>
          </p:nvPr>
        </p:nvSpPr>
        <p:spPr>
          <a:xfrm>
            <a:off x="5120640" y="914400"/>
            <a:ext cx="6519672" cy="914400"/>
          </a:xfrm>
          <a:prstGeom prst="rect">
            <a:avLst/>
          </a:prstGeom>
          <a:noFill/>
          <a:ln/>
        </p:spPr>
        <p:txBody>
          <a:bodyPr wrap="square" rtlCol="0"/>
          <a:lstStyle>
            <a:lvl1pPr marL="0" indent="0" algn="l">
              <a:buNone/>
              <a:defRPr lang="en-US" sz="4000" b="1" dirty="0">
                <a:solidFill>
                  <a:srgbClr val="FFFFFF"/>
                </a:solidFill>
                <a:latin typeface="Arial" pitchFamily="34" charset="0"/>
                <a:ea typeface="Arial" pitchFamily="34" charset="-122"/>
                <a:cs typeface="Arial" pitchFamily="34" charset="-120"/>
              </a:defRPr>
            </a:lvl1pPr>
          </a:lstStyle>
          <a:p>
            <a:pPr marL="0" indent="0" algn="l">
              <a:buNone/>
            </a:pPr>
            <a:r>
              <a:rPr lang="en-US" sz="4000" b="1" dirty="0">
                <a:solidFill>
                  <a:srgbClr val="FFFFFF"/>
                </a:solidFill>
                <a:latin typeface="Arial" pitchFamily="34" charset="0"/>
                <a:ea typeface="Arial" pitchFamily="34" charset="-122"/>
                <a:cs typeface="Arial" pitchFamily="34" charset="-120"/>
              </a:rPr>
              <a:t>Click to add title</a:t>
            </a:r>
            <a:endParaRPr lang="en-US" sz="4000" dirty="0"/>
          </a:p>
        </p:txBody>
      </p:sp>
      <p:sp>
        <p:nvSpPr>
          <p:cNvPr id="4" name="Text 0"/>
          <p:cNvSpPr>
            <a:spLocks noGrp="1"/>
          </p:cNvSpPr>
          <p:nvPr>
            <p:ph type="body" idx="102" hasCustomPrompt="1"/>
          </p:nvPr>
        </p:nvSpPr>
        <p:spPr>
          <a:xfrm>
            <a:off x="5120640" y="1874520"/>
            <a:ext cx="6519672" cy="502920"/>
          </a:xfrm>
          <a:prstGeom prst="rect">
            <a:avLst/>
          </a:prstGeom>
          <a:noFill/>
          <a:ln/>
        </p:spPr>
        <p:txBody>
          <a:bodyPr wrap="square" rtlCol="0"/>
          <a:lstStyle>
            <a:lvl1pPr marL="0" indent="0">
              <a:buNone/>
              <a:defRPr lang="en-US" sz="2200" dirty="0">
                <a:solidFill>
                  <a:srgbClr val="FF5C9E"/>
                </a:solidFill>
                <a:latin typeface="Arial" pitchFamily="34" charset="0"/>
                <a:ea typeface="Arial" pitchFamily="34" charset="-122"/>
                <a:cs typeface="Arial" pitchFamily="34" charset="-120"/>
              </a:defRPr>
            </a:lvl1pPr>
          </a:lstStyle>
          <a:p>
            <a:pPr marL="0" indent="0">
              <a:buNone/>
            </a:pPr>
            <a:r>
              <a:rPr lang="en-US" sz="2200" dirty="0">
                <a:solidFill>
                  <a:srgbClr val="FF5C9E"/>
                </a:solidFill>
                <a:latin typeface="Arial" pitchFamily="34" charset="0"/>
                <a:ea typeface="Arial" pitchFamily="34" charset="-122"/>
                <a:cs typeface="Arial" pitchFamily="34" charset="-120"/>
              </a:rPr>
              <a:t>Title, Company</a:t>
            </a:r>
            <a:endParaRPr lang="en-US" sz="2200" dirty="0"/>
          </a:p>
        </p:txBody>
      </p:sp>
      <p:sp>
        <p:nvSpPr>
          <p:cNvPr id="5" name="Text 0"/>
          <p:cNvSpPr>
            <a:spLocks noGrp="1"/>
          </p:cNvSpPr>
          <p:nvPr>
            <p:ph type="body" idx="103" hasCustomPrompt="1"/>
          </p:nvPr>
        </p:nvSpPr>
        <p:spPr>
          <a:xfrm>
            <a:off x="5120640" y="2651760"/>
            <a:ext cx="6519672" cy="3291840"/>
          </a:xfrm>
          <a:prstGeom prst="rect">
            <a:avLst/>
          </a:prstGeom>
          <a:noFill/>
          <a:ln/>
        </p:spPr>
        <p:txBody>
          <a:bodyPr wrap="square" rtlCol="0"/>
          <a:lstStyle>
            <a:lvl1pPr marL="342900" indent="-342900">
              <a:spcAft>
                <a:spcPts val="800"/>
              </a:spcAft>
              <a:buSzPct val="100000"/>
              <a:buChar char="•"/>
              <a:defRPr lang="en-US" sz="1800" dirty="0">
                <a:solidFill>
                  <a:srgbClr val="CFC8E0"/>
                </a:solidFill>
                <a:latin typeface="Arial" pitchFamily="34" charset="0"/>
                <a:ea typeface="Arial" pitchFamily="34" charset="-122"/>
                <a:cs typeface="Arial" pitchFamily="34" charset="-120"/>
              </a:defRPr>
            </a:lvl1pPr>
          </a:lstStyle>
          <a:p>
            <a:pPr marL="342900" indent="-342900">
              <a:spcAft>
                <a:spcPts val="800"/>
              </a:spcAft>
              <a:buSzPct val="100000"/>
              <a:buChar char="•"/>
            </a:pPr>
            <a:r>
              <a:rPr lang="en-US" sz="1800" dirty="0">
                <a:solidFill>
                  <a:srgbClr val="CFC8E0"/>
                </a:solidFill>
                <a:latin typeface="Arial" pitchFamily="34" charset="0"/>
                <a:ea typeface="Arial" pitchFamily="34" charset="-122"/>
                <a:cs typeface="Arial" pitchFamily="34" charset="-120"/>
              </a:rPr>
              <a:t>A few lines about you</a:t>
            </a:r>
            <a:endParaRPr lang="en-US" sz="1800" dirty="0"/>
          </a:p>
        </p:txBody>
      </p:sp>
      <p:pic>
        <p:nvPicPr>
          <p:cNvPr id="6" name="Image 0" descr="vibe_logo.png"/>
          <p:cNvPicPr>
            <a:picLocks noChangeAspect="1"/>
          </p:cNvPicPr>
          <p:nvPr/>
        </p:nvPicPr>
        <p:blipFill>
          <a:blip r:embed="rId3"/>
          <a:stretch>
            <a:fillRect/>
          </a:stretch>
        </p:blipFill>
        <p:spPr>
          <a:xfrm>
            <a:off x="11140135" y="6144768"/>
            <a:ext cx="502920" cy="505243"/>
          </a:xfrm>
          <a:prstGeom prst="rect">
            <a:avLst/>
          </a:prstGeom>
        </p:spPr>
      </p:pic>
      <p:sp>
        <p:nvSpPr>
          <p:cNvPr id="7" name="Text 0"/>
          <p:cNvSpPr/>
          <p:nvPr/>
        </p:nvSpPr>
        <p:spPr>
          <a:xfrm>
            <a:off x="548640" y="6254496"/>
            <a:ext cx="6400800" cy="292608"/>
          </a:xfrm>
          <a:prstGeom prst="rect">
            <a:avLst/>
          </a:prstGeom>
          <a:noFill/>
          <a:ln/>
        </p:spPr>
        <p:txBody>
          <a:bodyPr wrap="square" lIns="0" tIns="0" rIns="0" bIns="0" rtlCol="0" anchor="ctr"/>
          <a:lstStyle/>
          <a:p>
            <a:pPr marL="0" indent="0">
              <a:buNone/>
            </a:pPr>
            <a:r>
              <a:rPr lang="en-US" sz="1200" dirty="0">
                <a:solidFill>
                  <a:srgbClr val="CFC8E0"/>
                </a:solidFill>
                <a:latin typeface="Arial" pitchFamily="34" charset="0"/>
                <a:ea typeface="Arial" pitchFamily="34" charset="-122"/>
                <a:cs typeface="Arial" pitchFamily="34" charset="-120"/>
              </a:rPr>
              <a:t>Vibe 2.0  |  Provo, Utah  |  September 21-23,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ibe 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91440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r>
              <a:rPr lang="en-US" sz="3600" b="1" dirty="0">
                <a:solidFill>
                  <a:srgbClr val="FFFFFF"/>
                </a:solidFill>
                <a:latin typeface="Arial" pitchFamily="34" charset="0"/>
                <a:ea typeface="Arial" pitchFamily="34" charset="-122"/>
                <a:cs typeface="Arial" pitchFamily="34" charset="-120"/>
              </a:rPr>
              <a:t>Click to add title</a:t>
            </a:r>
            <a:endParaRPr lang="en-US" sz="3600" dirty="0"/>
          </a:p>
        </p:txBody>
      </p:sp>
      <p:pic>
        <p:nvPicPr>
          <p:cNvPr id="3" name="Image 0" descr="vibe_logo.png"/>
          <p:cNvPicPr>
            <a:picLocks noChangeAspect="1"/>
          </p:cNvPicPr>
          <p:nvPr/>
        </p:nvPicPr>
        <p:blipFill>
          <a:blip r:embed="rId3"/>
          <a:stretch>
            <a:fillRect/>
          </a:stretch>
        </p:blipFill>
        <p:spPr>
          <a:xfrm>
            <a:off x="11140135" y="6144768"/>
            <a:ext cx="502920" cy="505243"/>
          </a:xfrm>
          <a:prstGeom prst="rect">
            <a:avLst/>
          </a:prstGeom>
        </p:spPr>
      </p:pic>
      <p:sp>
        <p:nvSpPr>
          <p:cNvPr id="4" name="Text 0"/>
          <p:cNvSpPr/>
          <p:nvPr/>
        </p:nvSpPr>
        <p:spPr>
          <a:xfrm>
            <a:off x="548640" y="6254496"/>
            <a:ext cx="6400800" cy="292608"/>
          </a:xfrm>
          <a:prstGeom prst="rect">
            <a:avLst/>
          </a:prstGeom>
          <a:noFill/>
          <a:ln/>
        </p:spPr>
        <p:txBody>
          <a:bodyPr wrap="square" lIns="0" tIns="0" rIns="0" bIns="0" rtlCol="0" anchor="ctr"/>
          <a:lstStyle/>
          <a:p>
            <a:pPr marL="0" indent="0">
              <a:buNone/>
            </a:pPr>
            <a:r>
              <a:rPr lang="en-US" sz="1200" dirty="0">
                <a:solidFill>
                  <a:srgbClr val="CFC8E0"/>
                </a:solidFill>
                <a:latin typeface="Arial" pitchFamily="34" charset="0"/>
                <a:ea typeface="Arial" pitchFamily="34" charset="-122"/>
                <a:cs typeface="Arial" pitchFamily="34" charset="-120"/>
              </a:rPr>
              <a:t>Vibe 2.0  |  Provo, Utah  |  September 21-23,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ibe 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vibe_logo.png"/>
          <p:cNvPicPr>
            <a:picLocks noChangeAspect="1"/>
          </p:cNvPicPr>
          <p:nvPr/>
        </p:nvPicPr>
        <p:blipFill>
          <a:blip r:embed="rId3"/>
          <a:stretch>
            <a:fillRect/>
          </a:stretch>
        </p:blipFill>
        <p:spPr>
          <a:xfrm>
            <a:off x="640080" y="1188720"/>
            <a:ext cx="4004862" cy="4023360"/>
          </a:xfrm>
          <a:prstGeom prst="rect">
            <a:avLst/>
          </a:prstGeom>
        </p:spPr>
      </p:pic>
      <p:pic>
        <p:nvPicPr>
          <p:cNvPr id="3" name="Image 1" descr="partnerin.png"/>
          <p:cNvPicPr>
            <a:picLocks noChangeAspect="1"/>
          </p:cNvPicPr>
          <p:nvPr/>
        </p:nvPicPr>
        <p:blipFill>
          <a:blip r:embed="rId4"/>
          <a:stretch>
            <a:fillRect/>
          </a:stretch>
        </p:blipFill>
        <p:spPr>
          <a:xfrm>
            <a:off x="9905695" y="457200"/>
            <a:ext cx="1737360" cy="328403"/>
          </a:xfrm>
          <a:prstGeom prst="rect">
            <a:avLst/>
          </a:prstGeom>
        </p:spPr>
      </p:pic>
      <p:sp>
        <p:nvSpPr>
          <p:cNvPr id="4" name="Text 0"/>
          <p:cNvSpPr>
            <a:spLocks noGrp="1"/>
          </p:cNvSpPr>
          <p:nvPr>
            <p:ph type="title" idx="102" hasCustomPrompt="1"/>
          </p:nvPr>
        </p:nvSpPr>
        <p:spPr>
          <a:xfrm>
            <a:off x="5120640" y="1463040"/>
            <a:ext cx="6492240" cy="1371600"/>
          </a:xfrm>
          <a:prstGeom prst="rect">
            <a:avLst/>
          </a:prstGeom>
          <a:noFill/>
          <a:ln/>
        </p:spPr>
        <p:txBody>
          <a:bodyPr wrap="square" rtlCol="0"/>
          <a:lstStyle>
            <a:lvl1pPr marL="0" indent="0" algn="l">
              <a:buNone/>
              <a:defRPr lang="en-US" sz="6000" b="1" dirty="0">
                <a:solidFill>
                  <a:srgbClr val="FFFFFF"/>
                </a:solidFill>
                <a:latin typeface="Arial" pitchFamily="34" charset="0"/>
                <a:ea typeface="Arial" pitchFamily="34" charset="-122"/>
                <a:cs typeface="Arial" pitchFamily="34" charset="-120"/>
              </a:defRPr>
            </a:lvl1pPr>
          </a:lstStyle>
          <a:p>
            <a:pPr marL="0" indent="0" algn="l">
              <a:buNone/>
            </a:pPr>
            <a:r>
              <a:rPr lang="en-US" sz="6000" b="1" dirty="0">
                <a:solidFill>
                  <a:srgbClr val="FFFFFF"/>
                </a:solidFill>
                <a:latin typeface="Arial" pitchFamily="34" charset="0"/>
                <a:ea typeface="Arial" pitchFamily="34" charset="-122"/>
                <a:cs typeface="Arial" pitchFamily="34" charset="-120"/>
              </a:rPr>
              <a:t>Click to add title</a:t>
            </a:r>
            <a:endParaRPr lang="en-US" sz="6000" dirty="0"/>
          </a:p>
        </p:txBody>
      </p:sp>
      <p:sp>
        <p:nvSpPr>
          <p:cNvPr id="5" name="Text 0"/>
          <p:cNvSpPr>
            <a:spLocks noGrp="1"/>
          </p:cNvSpPr>
          <p:nvPr>
            <p:ph type="body" idx="103" hasCustomPrompt="1"/>
          </p:nvPr>
        </p:nvSpPr>
        <p:spPr>
          <a:xfrm>
            <a:off x="5120640" y="3063240"/>
            <a:ext cx="6492240" cy="2103120"/>
          </a:xfrm>
          <a:prstGeom prst="rect">
            <a:avLst/>
          </a:prstGeom>
          <a:noFill/>
          <a:ln/>
        </p:spPr>
        <p:txBody>
          <a:bodyPr wrap="square" rtlCol="0"/>
          <a:lstStyle>
            <a:lvl1pPr marL="0" indent="0">
              <a:buNone/>
              <a:defRPr lang="en-US" sz="2200" dirty="0">
                <a:solidFill>
                  <a:srgbClr val="CFC8E0"/>
                </a:solidFill>
                <a:latin typeface="Arial" pitchFamily="34" charset="0"/>
                <a:ea typeface="Arial" pitchFamily="34" charset="-122"/>
                <a:cs typeface="Arial" pitchFamily="34" charset="-120"/>
              </a:defRPr>
            </a:lvl1pPr>
          </a:lstStyle>
          <a:p>
            <a:pPr marL="0" indent="0">
              <a:buNone/>
            </a:pPr>
            <a:r>
              <a:rPr lang="en-US" sz="2200" dirty="0">
                <a:solidFill>
                  <a:srgbClr val="CFC8E0"/>
                </a:solidFill>
                <a:latin typeface="Arial" pitchFamily="34" charset="0"/>
                <a:ea typeface="Arial" pitchFamily="34" charset="-122"/>
                <a:cs typeface="Arial" pitchFamily="34" charset="-120"/>
              </a:rPr>
              <a:t>Your name</a:t>
            </a:r>
            <a:endParaRPr lang="en-US" sz="2200" dirty="0"/>
          </a:p>
          <a:p>
            <a:pPr marL="0" indent="0">
              <a:buNone/>
            </a:pPr>
            <a:r>
              <a:rPr lang="en-US" sz="2200" dirty="0">
                <a:solidFill>
                  <a:srgbClr val="CFC8E0"/>
                </a:solidFill>
                <a:latin typeface="Arial" pitchFamily="34" charset="0"/>
                <a:ea typeface="Arial" pitchFamily="34" charset="-122"/>
                <a:cs typeface="Arial" pitchFamily="34" charset="-120"/>
              </a:rPr>
              <a:t>LinkedIn / website / email</a:t>
            </a:r>
            <a:endParaRPr lang="en-US" sz="2200" dirty="0"/>
          </a:p>
        </p:txBody>
      </p:sp>
      <p:sp>
        <p:nvSpPr>
          <p:cNvPr id="6" name="Text 0"/>
          <p:cNvSpPr/>
          <p:nvPr/>
        </p:nvSpPr>
        <p:spPr>
          <a:xfrm>
            <a:off x="6156655" y="6172200"/>
            <a:ext cx="5486400" cy="320040"/>
          </a:xfrm>
          <a:prstGeom prst="rect">
            <a:avLst/>
          </a:prstGeom>
          <a:noFill/>
          <a:ln/>
        </p:spPr>
        <p:txBody>
          <a:bodyPr wrap="square" lIns="0" tIns="0" rIns="0" bIns="0" rtlCol="0" anchor="ctr"/>
          <a:lstStyle/>
          <a:p>
            <a:pPr marL="0" indent="0" algn="r">
              <a:buNone/>
            </a:pPr>
            <a:r>
              <a:rPr lang="en-US" sz="1400" dirty="0">
                <a:solidFill>
                  <a:srgbClr val="CFC8E0"/>
                </a:solidFill>
                <a:latin typeface="Arial" pitchFamily="34" charset="0"/>
                <a:ea typeface="Arial" pitchFamily="34" charset="-122"/>
                <a:cs typeface="Arial" pitchFamily="34" charset="-120"/>
              </a:rPr>
              <a:t>Vibe 2.0: An event for Microsoft Partners</a:t>
            </a:r>
            <a:endParaRPr lang="en-US" sz="14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Vibe 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vibe_logo.png"/>
          <p:cNvPicPr>
            <a:picLocks noChangeAspect="1"/>
          </p:cNvPicPr>
          <p:nvPr/>
        </p:nvPicPr>
        <p:blipFill>
          <a:blip r:embed="rId3"/>
          <a:stretch>
            <a:fillRect/>
          </a:stretch>
        </p:blipFill>
        <p:spPr>
          <a:xfrm>
            <a:off x="11140135" y="6144768"/>
            <a:ext cx="502920" cy="50524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011D"/>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9.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34.png"/><Relationship Id="rId3" Type="http://schemas.openxmlformats.org/officeDocument/2006/relationships/image" Target="../media/image27.png"/><Relationship Id="rId7" Type="http://schemas.openxmlformats.org/officeDocument/2006/relationships/image" Target="../media/image30.png"/><Relationship Id="rId12"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3.png"/><Relationship Id="rId11" Type="http://schemas.openxmlformats.org/officeDocument/2006/relationships/image" Target="../media/image32.png"/><Relationship Id="rId5" Type="http://schemas.openxmlformats.org/officeDocument/2006/relationships/image" Target="../media/image29.png"/><Relationship Id="rId15" Type="http://schemas.openxmlformats.org/officeDocument/2006/relationships/image" Target="../media/image36.png"/><Relationship Id="rId10" Type="http://schemas.openxmlformats.org/officeDocument/2006/relationships/image" Target="../media/image14.png"/><Relationship Id="rId4" Type="http://schemas.openxmlformats.org/officeDocument/2006/relationships/image" Target="../media/image28.png"/><Relationship Id="rId9" Type="http://schemas.openxmlformats.org/officeDocument/2006/relationships/image" Target="../media/image31.png"/><Relationship Id="rId14"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4.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6.png"/><Relationship Id="rId7"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29.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41.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60.png"/><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1.png"/><Relationship Id="rId7"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8" Type="http://schemas.openxmlformats.org/officeDocument/2006/relationships/hyperlink" Target="https://aka.ms/cowork-plugins" TargetMode="External"/><Relationship Id="rId13" Type="http://schemas.openxmlformats.org/officeDocument/2006/relationships/image" Target="../media/image67.png"/><Relationship Id="rId3" Type="http://schemas.openxmlformats.org/officeDocument/2006/relationships/image" Target="../media/image64.png"/><Relationship Id="rId7" Type="http://schemas.openxmlformats.org/officeDocument/2006/relationships/image" Target="../media/image50.png"/><Relationship Id="rId12" Type="http://schemas.openxmlformats.org/officeDocument/2006/relationships/hyperlink" Target="https://youtube.com/@AprilDunnam"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hyperlink" Target="https://aka.ms/cowork-skills" TargetMode="External"/><Relationship Id="rId11" Type="http://schemas.openxmlformats.org/officeDocument/2006/relationships/image" Target="../media/image66.png"/><Relationship Id="rId5" Type="http://schemas.openxmlformats.org/officeDocument/2006/relationships/image" Target="../media/image24.png"/><Relationship Id="rId10" Type="http://schemas.openxmlformats.org/officeDocument/2006/relationships/hyperlink" Target="https://aka.ms/cowork-collective" TargetMode="External"/><Relationship Id="rId4" Type="http://schemas.openxmlformats.org/officeDocument/2006/relationships/hyperlink" Target="https://learn.microsoft.com/en-us/microsoft-365/copilot/cowork/" TargetMode="External"/><Relationship Id="rId9" Type="http://schemas.openxmlformats.org/officeDocument/2006/relationships/image" Target="../media/image65.png"/><Relationship Id="rId14" Type="http://schemas.openxmlformats.org/officeDocument/2006/relationships/hyperlink" Target="https://aka.ms/agent-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120640" y="1417320"/>
            <a:ext cx="6492240" cy="2011680"/>
          </a:xfrm>
          <a:prstGeom prst="rect">
            <a:avLst/>
          </a:prstGeom>
          <a:noFill/>
          <a:ln/>
        </p:spPr>
        <p:txBody>
          <a:bodyPr wrap="square" lIns="0" tIns="0" rIns="0" bIns="0" rtlCol="0" anchor="b"/>
          <a:lstStyle/>
          <a:p>
            <a:pPr marL="0" indent="0" algn="l">
              <a:buNone/>
            </a:pPr>
            <a:r>
              <a:rPr lang="en-US" sz="4400" b="1" dirty="0">
                <a:solidFill>
                  <a:srgbClr val="FFFFFF"/>
                </a:solidFill>
                <a:latin typeface="Arial" pitchFamily="34" charset="0"/>
                <a:ea typeface="Arial" pitchFamily="34" charset="-122"/>
                <a:cs typeface="Arial" pitchFamily="34" charset="-120"/>
              </a:rPr>
              <a:t>Delegating real work to Copilot Cowork</a:t>
            </a:r>
            <a:endParaRPr lang="en-US" sz="4400" dirty="0"/>
          </a:p>
        </p:txBody>
      </p:sp>
      <p:sp>
        <p:nvSpPr>
          <p:cNvPr id="3" name="Text 0"/>
          <p:cNvSpPr>
            <a:spLocks noGrp="1"/>
          </p:cNvSpPr>
          <p:nvPr>
            <p:ph type="body" idx="103" hasCustomPrompt="1"/>
          </p:nvPr>
        </p:nvSpPr>
        <p:spPr>
          <a:xfrm>
            <a:off x="5120640" y="3566160"/>
            <a:ext cx="6492240" cy="822960"/>
          </a:xfrm>
          <a:prstGeom prst="rect">
            <a:avLst/>
          </a:prstGeom>
          <a:noFill/>
          <a:ln/>
        </p:spPr>
        <p:txBody>
          <a:bodyPr wrap="square" lIns="0" tIns="0" rIns="0" bIns="0" rtlCol="0" anchor="t"/>
          <a:lstStyle/>
          <a:p>
            <a:pPr marL="0" indent="0">
              <a:buNone/>
            </a:pPr>
            <a:r>
              <a:rPr lang="en-US" sz="2200" dirty="0">
                <a:solidFill>
                  <a:srgbClr val="5B8CF5"/>
                </a:solidFill>
                <a:latin typeface="Arial" pitchFamily="34" charset="0"/>
                <a:ea typeface="Arial" pitchFamily="34" charset="-122"/>
                <a:cs typeface="Arial" pitchFamily="34" charset="-120"/>
              </a:rPr>
              <a:t>Stop prompting. Start handing off.</a:t>
            </a:r>
            <a:endParaRPr lang="en-US" sz="2200" dirty="0"/>
          </a:p>
        </p:txBody>
      </p:sp>
      <p:sp>
        <p:nvSpPr>
          <p:cNvPr id="4" name="Text 0"/>
          <p:cNvSpPr>
            <a:spLocks noGrp="1"/>
          </p:cNvSpPr>
          <p:nvPr>
            <p:ph type="body" idx="104" hasCustomPrompt="1"/>
          </p:nvPr>
        </p:nvSpPr>
        <p:spPr>
          <a:xfrm>
            <a:off x="5120640" y="4572000"/>
            <a:ext cx="6492240" cy="6400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April Dunnam  |  Principal Cloud Advocate, Microsoft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1188720" y="1828800"/>
            <a:ext cx="9784080" cy="256032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Chat helps you think. Cowork does the work.</a:t>
            </a:r>
            <a:endParaRPr lang="en-US" sz="4000" dirty="0"/>
          </a:p>
        </p:txBody>
      </p:sp>
      <p:sp>
        <p:nvSpPr>
          <p:cNvPr id="3" name="Text 1"/>
          <p:cNvSpPr>
            <a:spLocks noGrp="1"/>
          </p:cNvSpPr>
          <p:nvPr>
            <p:ph type="body" idx="102" hasCustomPrompt="1"/>
          </p:nvPr>
        </p:nvSpPr>
        <p:spPr>
          <a:xfrm>
            <a:off x="1188720" y="4572000"/>
            <a:ext cx="9784080" cy="548640"/>
          </a:xfrm>
          <a:prstGeom prst="rect">
            <a:avLst/>
          </a:prstGeom>
          <a:noFill/>
          <a:ln/>
        </p:spPr>
        <p:txBody>
          <a:bodyPr wrap="square" lIns="0" tIns="0" rIns="0" bIns="0" rtlCol="0" anchor="t"/>
          <a:lstStyle/>
          <a:p>
            <a:pPr marL="0" indent="0">
              <a:buNone/>
            </a:pPr>
            <a:r>
              <a:rPr lang="en-US" sz="2000" dirty="0">
                <a:solidFill>
                  <a:srgbClr val="5B8CF5"/>
                </a:solidFill>
                <a:latin typeface="Arial" pitchFamily="34" charset="0"/>
                <a:ea typeface="Arial" pitchFamily="34" charset="-122"/>
                <a:cs typeface="Arial" pitchFamily="34" charset="-120"/>
              </a:rPr>
              <a:t>Catchy. Also not true. Copilot Chat does plenty of work. So what's the real difference?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Grp="1" noChangeAspect="1"/>
          </p:cNvPicPr>
          <p:nvPr>
            <p:ph idx="100" hasCustomPrompt="1"/>
          </p:nvPr>
        </p:nvPicPr>
        <p:blipFill>
          <a:blip r:embed="rId3"/>
          <a:srcRect/>
          <a:stretch/>
        </p:blipFill>
        <p:spPr>
          <a:xfrm>
            <a:off x="548640" y="548640"/>
            <a:ext cx="4023360" cy="5394960"/>
          </a:xfrm>
          <a:prstGeom prst="rect">
            <a:avLst/>
          </a:prstGeom>
        </p:spPr>
      </p:pic>
      <p:sp>
        <p:nvSpPr>
          <p:cNvPr id="3" name="Text 0"/>
          <p:cNvSpPr>
            <a:spLocks noGrp="1"/>
          </p:cNvSpPr>
          <p:nvPr>
            <p:ph type="title" idx="101" hasCustomPrompt="1"/>
          </p:nvPr>
        </p:nvSpPr>
        <p:spPr>
          <a:xfrm>
            <a:off x="5120640" y="914400"/>
            <a:ext cx="6519672"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April Dunnam</a:t>
            </a:r>
            <a:endParaRPr lang="en-US" sz="4000" dirty="0"/>
          </a:p>
        </p:txBody>
      </p:sp>
      <p:sp>
        <p:nvSpPr>
          <p:cNvPr id="4" name="Text 0"/>
          <p:cNvSpPr>
            <a:spLocks noGrp="1"/>
          </p:cNvSpPr>
          <p:nvPr>
            <p:ph type="body" idx="102" hasCustomPrompt="1"/>
          </p:nvPr>
        </p:nvSpPr>
        <p:spPr>
          <a:xfrm>
            <a:off x="5120640" y="1874520"/>
            <a:ext cx="6519672" cy="502920"/>
          </a:xfrm>
          <a:prstGeom prst="rect">
            <a:avLst/>
          </a:prstGeom>
          <a:noFill/>
          <a:ln/>
        </p:spPr>
        <p:txBody>
          <a:bodyPr wrap="square" lIns="0" tIns="0" rIns="0" bIns="0" rtlCol="0" anchor="t"/>
          <a:lstStyle/>
          <a:p>
            <a:pPr marL="0" indent="0">
              <a:buNone/>
            </a:pPr>
            <a:r>
              <a:rPr lang="en-US" sz="2200" dirty="0">
                <a:solidFill>
                  <a:srgbClr val="FF5C9E"/>
                </a:solidFill>
                <a:latin typeface="Arial" pitchFamily="34" charset="0"/>
                <a:ea typeface="Arial" pitchFamily="34" charset="-122"/>
                <a:cs typeface="Arial" pitchFamily="34" charset="-120"/>
              </a:rPr>
              <a:t>Principal Cloud Advocate, Microsoft</a:t>
            </a:r>
            <a:endParaRPr lang="en-US" sz="2200" dirty="0"/>
          </a:p>
        </p:txBody>
      </p:sp>
      <p:sp>
        <p:nvSpPr>
          <p:cNvPr id="5" name="Text 0"/>
          <p:cNvSpPr>
            <a:spLocks noGrp="1"/>
          </p:cNvSpPr>
          <p:nvPr>
            <p:ph type="body" idx="103" hasCustomPrompt="1"/>
          </p:nvPr>
        </p:nvSpPr>
        <p:spPr>
          <a:xfrm>
            <a:off x="5120640" y="2651760"/>
            <a:ext cx="6519672" cy="3291840"/>
          </a:xfrm>
          <a:prstGeom prst="rect">
            <a:avLst/>
          </a:prstGeom>
          <a:noFill/>
          <a:ln/>
        </p:spPr>
        <p:txBody>
          <a:bodyPr wrap="square" lIns="0" tIns="0" rIns="0" bIns="0" rtlCol="0" anchor="t"/>
          <a:lstStyle/>
          <a:p>
            <a:r>
              <a:rPr lang="en-US" dirty="0"/>
              <a:t>Former SharePoint dev turned Power Platform nerd turned AI agent enthusiast</a:t>
            </a:r>
          </a:p>
          <a:p>
            <a:r>
              <a:rPr lang="en-US" dirty="0"/>
              <a:t>Author of The Copilot Compass </a:t>
            </a:r>
          </a:p>
          <a:p>
            <a:r>
              <a:rPr lang="en-US" dirty="0"/>
              <a:t>Co-founder of Agent Academy: </a:t>
            </a:r>
            <a:r>
              <a:rPr lang="en-US" dirty="0" err="1"/>
              <a:t>aka.ms</a:t>
            </a:r>
            <a:r>
              <a:rPr lang="en-US" dirty="0"/>
              <a:t>/agent-academy</a:t>
            </a:r>
          </a:p>
          <a:p>
            <a:r>
              <a:rPr lang="en-US" dirty="0"/>
              <a:t>Monthly-</a:t>
            </a:r>
            <a:r>
              <a:rPr lang="en-US" dirty="0" err="1"/>
              <a:t>ish</a:t>
            </a:r>
            <a:r>
              <a:rPr lang="en-US" dirty="0"/>
              <a:t> videos on YouTube: @</a:t>
            </a:r>
            <a:r>
              <a:rPr lang="en-US" dirty="0" err="1"/>
              <a:t>AprilDunnam</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Where we're going</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Five stops, plenty of live demos</a:t>
            </a:r>
            <a:endParaRPr lang="en-US" sz="1800" dirty="0"/>
          </a:p>
        </p:txBody>
      </p:sp>
      <p:sp>
        <p:nvSpPr>
          <p:cNvPr id="4" name="Shape 2"/>
          <p:cNvSpPr/>
          <p:nvPr/>
        </p:nvSpPr>
        <p:spPr>
          <a:xfrm>
            <a:off x="548640" y="1920240"/>
            <a:ext cx="2036003" cy="3566160"/>
          </a:xfrm>
          <a:prstGeom prst="roundRect">
            <a:avLst>
              <a:gd name="adj" fmla="val 8084"/>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822960" y="224028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5840" y="2423160"/>
            <a:ext cx="365760" cy="365760"/>
          </a:xfrm>
          <a:prstGeom prst="rect">
            <a:avLst/>
          </a:prstGeom>
        </p:spPr>
      </p:pic>
      <p:sp>
        <p:nvSpPr>
          <p:cNvPr id="7" name="Text 4"/>
          <p:cNvSpPr txBox="1"/>
          <p:nvPr/>
        </p:nvSpPr>
        <p:spPr>
          <a:xfrm>
            <a:off x="1715963" y="2286000"/>
            <a:ext cx="640080" cy="640080"/>
          </a:xfrm>
          <a:prstGeom prst="rect">
            <a:avLst/>
          </a:prstGeom>
          <a:noFill/>
          <a:ln/>
        </p:spPr>
        <p:txBody>
          <a:bodyPr wrap="square" lIns="0" tIns="0" rIns="0" bIns="0" rtlCol="0" anchor="ctr"/>
          <a:lstStyle/>
          <a:p>
            <a:pPr marL="0" indent="0" algn="r">
              <a:buNone/>
            </a:pPr>
            <a:r>
              <a:rPr lang="en-US" sz="2400" b="1" dirty="0">
                <a:solidFill>
                  <a:srgbClr val="CFC8E0"/>
                </a:solidFill>
                <a:latin typeface="Arial" pitchFamily="34" charset="0"/>
                <a:ea typeface="Arial" pitchFamily="34" charset="-122"/>
                <a:cs typeface="Arial" pitchFamily="34" charset="-120"/>
              </a:rPr>
              <a:t>01</a:t>
            </a:r>
            <a:endParaRPr lang="en-US" sz="2400" dirty="0"/>
          </a:p>
        </p:txBody>
      </p:sp>
      <p:sp>
        <p:nvSpPr>
          <p:cNvPr id="8" name="Text 5"/>
          <p:cNvSpPr txBox="1"/>
          <p:nvPr/>
        </p:nvSpPr>
        <p:spPr>
          <a:xfrm>
            <a:off x="822960" y="3200400"/>
            <a:ext cx="1578803" cy="73152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Which Copilot?</a:t>
            </a:r>
            <a:endParaRPr lang="en-US" sz="1900" dirty="0"/>
          </a:p>
        </p:txBody>
      </p:sp>
      <p:sp>
        <p:nvSpPr>
          <p:cNvPr id="9" name="Text 6"/>
          <p:cNvSpPr txBox="1"/>
          <p:nvPr/>
        </p:nvSpPr>
        <p:spPr>
          <a:xfrm>
            <a:off x="822960" y="4023360"/>
            <a:ext cx="1578803" cy="11887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The elephant in the room</a:t>
            </a:r>
            <a:endParaRPr lang="en-US" sz="1600" dirty="0"/>
          </a:p>
        </p:txBody>
      </p:sp>
      <p:sp>
        <p:nvSpPr>
          <p:cNvPr id="10" name="Shape 7"/>
          <p:cNvSpPr/>
          <p:nvPr/>
        </p:nvSpPr>
        <p:spPr>
          <a:xfrm>
            <a:off x="2813243" y="1920240"/>
            <a:ext cx="2036003" cy="3566160"/>
          </a:xfrm>
          <a:prstGeom prst="roundRect">
            <a:avLst>
              <a:gd name="adj" fmla="val 8084"/>
            </a:avLst>
          </a:prstGeom>
          <a:solidFill>
            <a:srgbClr val="1F0F38"/>
          </a:solidFill>
          <a:ln w="12700">
            <a:solidFill>
              <a:srgbClr val="3A2260"/>
            </a:solidFill>
            <a:prstDash val="solid"/>
          </a:ln>
        </p:spPr>
        <p:txBody>
          <a:bodyPr/>
          <a:lstStyle/>
          <a:p>
            <a:endParaRPr lang="en-US"/>
          </a:p>
        </p:txBody>
      </p:sp>
      <p:sp>
        <p:nvSpPr>
          <p:cNvPr id="11" name="Shape 8"/>
          <p:cNvSpPr/>
          <p:nvPr/>
        </p:nvSpPr>
        <p:spPr>
          <a:xfrm>
            <a:off x="3087563" y="2240280"/>
            <a:ext cx="731520" cy="731520"/>
          </a:xfrm>
          <a:prstGeom prst="ellipse">
            <a:avLst/>
          </a:prstGeom>
          <a:solidFill>
            <a:srgbClr val="5A56E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270443" y="2423160"/>
            <a:ext cx="365760" cy="365760"/>
          </a:xfrm>
          <a:prstGeom prst="rect">
            <a:avLst/>
          </a:prstGeom>
        </p:spPr>
      </p:pic>
      <p:sp>
        <p:nvSpPr>
          <p:cNvPr id="13" name="Text 9"/>
          <p:cNvSpPr txBox="1"/>
          <p:nvPr/>
        </p:nvSpPr>
        <p:spPr>
          <a:xfrm>
            <a:off x="3980566" y="2286000"/>
            <a:ext cx="640080" cy="640080"/>
          </a:xfrm>
          <a:prstGeom prst="rect">
            <a:avLst/>
          </a:prstGeom>
          <a:noFill/>
          <a:ln/>
        </p:spPr>
        <p:txBody>
          <a:bodyPr wrap="square" lIns="0" tIns="0" rIns="0" bIns="0" rtlCol="0" anchor="ctr"/>
          <a:lstStyle/>
          <a:p>
            <a:pPr marL="0" indent="0" algn="r">
              <a:buNone/>
            </a:pPr>
            <a:r>
              <a:rPr lang="en-US" sz="2400" b="1" dirty="0">
                <a:solidFill>
                  <a:srgbClr val="CFC8E0"/>
                </a:solidFill>
                <a:latin typeface="Arial" pitchFamily="34" charset="0"/>
                <a:ea typeface="Arial" pitchFamily="34" charset="-122"/>
                <a:cs typeface="Arial" pitchFamily="34" charset="-120"/>
              </a:rPr>
              <a:t>02</a:t>
            </a:r>
            <a:endParaRPr lang="en-US" sz="2400" dirty="0"/>
          </a:p>
        </p:txBody>
      </p:sp>
      <p:sp>
        <p:nvSpPr>
          <p:cNvPr id="14" name="Text 10"/>
          <p:cNvSpPr txBox="1"/>
          <p:nvPr/>
        </p:nvSpPr>
        <p:spPr>
          <a:xfrm>
            <a:off x="3087563" y="3200400"/>
            <a:ext cx="1578803" cy="73152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How Cowork works</a:t>
            </a:r>
            <a:endParaRPr lang="en-US" sz="1900" dirty="0"/>
          </a:p>
        </p:txBody>
      </p:sp>
      <p:sp>
        <p:nvSpPr>
          <p:cNvPr id="15" name="Text 11"/>
          <p:cNvSpPr txBox="1"/>
          <p:nvPr/>
        </p:nvSpPr>
        <p:spPr>
          <a:xfrm>
            <a:off x="3087563" y="4023360"/>
            <a:ext cx="1578803" cy="11887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Delegation, Work IQ, skills</a:t>
            </a:r>
            <a:endParaRPr lang="en-US" sz="1600" dirty="0"/>
          </a:p>
        </p:txBody>
      </p:sp>
      <p:sp>
        <p:nvSpPr>
          <p:cNvPr id="16" name="Shape 12"/>
          <p:cNvSpPr/>
          <p:nvPr/>
        </p:nvSpPr>
        <p:spPr>
          <a:xfrm>
            <a:off x="5077846" y="1920240"/>
            <a:ext cx="2036003" cy="3566160"/>
          </a:xfrm>
          <a:prstGeom prst="roundRect">
            <a:avLst>
              <a:gd name="adj" fmla="val 8084"/>
            </a:avLst>
          </a:prstGeom>
          <a:solidFill>
            <a:srgbClr val="1F0F38"/>
          </a:solidFill>
          <a:ln w="12700">
            <a:solidFill>
              <a:srgbClr val="3A2260"/>
            </a:solidFill>
            <a:prstDash val="solid"/>
          </a:ln>
        </p:spPr>
        <p:txBody>
          <a:bodyPr/>
          <a:lstStyle/>
          <a:p>
            <a:endParaRPr lang="en-US"/>
          </a:p>
        </p:txBody>
      </p:sp>
      <p:sp>
        <p:nvSpPr>
          <p:cNvPr id="17" name="Shape 13"/>
          <p:cNvSpPr/>
          <p:nvPr/>
        </p:nvSpPr>
        <p:spPr>
          <a:xfrm>
            <a:off x="5352166" y="2240280"/>
            <a:ext cx="731520" cy="731520"/>
          </a:xfrm>
          <a:prstGeom prst="ellipse">
            <a:avLst/>
          </a:prstGeom>
          <a:solidFill>
            <a:srgbClr val="8C38E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535046" y="2423160"/>
            <a:ext cx="365760" cy="365760"/>
          </a:xfrm>
          <a:prstGeom prst="rect">
            <a:avLst/>
          </a:prstGeom>
        </p:spPr>
      </p:pic>
      <p:sp>
        <p:nvSpPr>
          <p:cNvPr id="19" name="Text 14"/>
          <p:cNvSpPr txBox="1"/>
          <p:nvPr/>
        </p:nvSpPr>
        <p:spPr>
          <a:xfrm>
            <a:off x="6245169" y="2286000"/>
            <a:ext cx="640080" cy="640080"/>
          </a:xfrm>
          <a:prstGeom prst="rect">
            <a:avLst/>
          </a:prstGeom>
          <a:noFill/>
          <a:ln/>
        </p:spPr>
        <p:txBody>
          <a:bodyPr wrap="square" lIns="0" tIns="0" rIns="0" bIns="0" rtlCol="0" anchor="ctr"/>
          <a:lstStyle/>
          <a:p>
            <a:pPr marL="0" indent="0" algn="r">
              <a:buNone/>
            </a:pPr>
            <a:r>
              <a:rPr lang="en-US" sz="2400" b="1" dirty="0">
                <a:solidFill>
                  <a:srgbClr val="CFC8E0"/>
                </a:solidFill>
                <a:latin typeface="Arial" pitchFamily="34" charset="0"/>
                <a:ea typeface="Arial" pitchFamily="34" charset="-122"/>
                <a:cs typeface="Arial" pitchFamily="34" charset="-120"/>
              </a:rPr>
              <a:t>03</a:t>
            </a:r>
            <a:endParaRPr lang="en-US" sz="2400" dirty="0"/>
          </a:p>
        </p:txBody>
      </p:sp>
      <p:sp>
        <p:nvSpPr>
          <p:cNvPr id="20" name="Text 15"/>
          <p:cNvSpPr txBox="1"/>
          <p:nvPr/>
        </p:nvSpPr>
        <p:spPr>
          <a:xfrm>
            <a:off x="5352166" y="3200400"/>
            <a:ext cx="1578803" cy="73152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What just landed</a:t>
            </a:r>
            <a:endParaRPr lang="en-US" sz="1900" dirty="0"/>
          </a:p>
        </p:txBody>
      </p:sp>
      <p:sp>
        <p:nvSpPr>
          <p:cNvPr id="21" name="Text 16"/>
          <p:cNvSpPr txBox="1"/>
          <p:nvPr/>
        </p:nvSpPr>
        <p:spPr>
          <a:xfrm>
            <a:off x="5352166" y="4023360"/>
            <a:ext cx="1578803" cy="11887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Apps, automations, new controls</a:t>
            </a:r>
            <a:endParaRPr lang="en-US" sz="1600" dirty="0"/>
          </a:p>
        </p:txBody>
      </p:sp>
      <p:sp>
        <p:nvSpPr>
          <p:cNvPr id="22" name="Shape 17"/>
          <p:cNvSpPr/>
          <p:nvPr/>
        </p:nvSpPr>
        <p:spPr>
          <a:xfrm>
            <a:off x="7342449" y="1920240"/>
            <a:ext cx="2036003" cy="3566160"/>
          </a:xfrm>
          <a:prstGeom prst="roundRect">
            <a:avLst>
              <a:gd name="adj" fmla="val 8084"/>
            </a:avLst>
          </a:prstGeom>
          <a:solidFill>
            <a:srgbClr val="1F0F38"/>
          </a:solidFill>
          <a:ln w="12700">
            <a:solidFill>
              <a:srgbClr val="3A2260"/>
            </a:solidFill>
            <a:prstDash val="solid"/>
          </a:ln>
        </p:spPr>
        <p:txBody>
          <a:bodyPr/>
          <a:lstStyle/>
          <a:p>
            <a:endParaRPr lang="en-US"/>
          </a:p>
        </p:txBody>
      </p:sp>
      <p:sp>
        <p:nvSpPr>
          <p:cNvPr id="23" name="Shape 18"/>
          <p:cNvSpPr/>
          <p:nvPr/>
        </p:nvSpPr>
        <p:spPr>
          <a:xfrm>
            <a:off x="7616769" y="2240280"/>
            <a:ext cx="731520" cy="731520"/>
          </a:xfrm>
          <a:prstGeom prst="ellipse">
            <a:avLst/>
          </a:prstGeom>
          <a:solidFill>
            <a:srgbClr val="B0339E"/>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7799649" y="2423160"/>
            <a:ext cx="365760" cy="365760"/>
          </a:xfrm>
          <a:prstGeom prst="rect">
            <a:avLst/>
          </a:prstGeom>
        </p:spPr>
      </p:pic>
      <p:sp>
        <p:nvSpPr>
          <p:cNvPr id="25" name="Text 19"/>
          <p:cNvSpPr txBox="1"/>
          <p:nvPr/>
        </p:nvSpPr>
        <p:spPr>
          <a:xfrm>
            <a:off x="8509772" y="2286000"/>
            <a:ext cx="640080" cy="640080"/>
          </a:xfrm>
          <a:prstGeom prst="rect">
            <a:avLst/>
          </a:prstGeom>
          <a:noFill/>
          <a:ln/>
        </p:spPr>
        <p:txBody>
          <a:bodyPr wrap="square" lIns="0" tIns="0" rIns="0" bIns="0" rtlCol="0" anchor="ctr"/>
          <a:lstStyle/>
          <a:p>
            <a:pPr marL="0" indent="0" algn="r">
              <a:buNone/>
            </a:pPr>
            <a:r>
              <a:rPr lang="en-US" sz="2400" b="1" dirty="0">
                <a:solidFill>
                  <a:srgbClr val="CFC8E0"/>
                </a:solidFill>
                <a:latin typeface="Arial" pitchFamily="34" charset="0"/>
                <a:ea typeface="Arial" pitchFamily="34" charset="-122"/>
                <a:cs typeface="Arial" pitchFamily="34" charset="-120"/>
              </a:rPr>
              <a:t>04</a:t>
            </a:r>
            <a:endParaRPr lang="en-US" sz="2400" dirty="0"/>
          </a:p>
        </p:txBody>
      </p:sp>
      <p:sp>
        <p:nvSpPr>
          <p:cNvPr id="26" name="Text 20"/>
          <p:cNvSpPr txBox="1"/>
          <p:nvPr/>
        </p:nvSpPr>
        <p:spPr>
          <a:xfrm>
            <a:off x="7616769" y="3200400"/>
            <a:ext cx="1578803" cy="73152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Make it yours</a:t>
            </a:r>
            <a:endParaRPr lang="en-US" sz="1900" dirty="0"/>
          </a:p>
        </p:txBody>
      </p:sp>
      <p:sp>
        <p:nvSpPr>
          <p:cNvPr id="27" name="Text 21"/>
          <p:cNvSpPr txBox="1"/>
          <p:nvPr/>
        </p:nvSpPr>
        <p:spPr>
          <a:xfrm>
            <a:off x="7616769" y="4023360"/>
            <a:ext cx="1578803" cy="11887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Skills, plugins, MCP</a:t>
            </a:r>
            <a:endParaRPr lang="en-US" sz="1600" dirty="0"/>
          </a:p>
        </p:txBody>
      </p:sp>
      <p:sp>
        <p:nvSpPr>
          <p:cNvPr id="28" name="Shape 22"/>
          <p:cNvSpPr/>
          <p:nvPr/>
        </p:nvSpPr>
        <p:spPr>
          <a:xfrm>
            <a:off x="9607052" y="1920240"/>
            <a:ext cx="2036003" cy="3566160"/>
          </a:xfrm>
          <a:prstGeom prst="roundRect">
            <a:avLst>
              <a:gd name="adj" fmla="val 8084"/>
            </a:avLst>
          </a:prstGeom>
          <a:solidFill>
            <a:srgbClr val="1F0F38"/>
          </a:solidFill>
          <a:ln w="12700">
            <a:solidFill>
              <a:srgbClr val="3A2260"/>
            </a:solidFill>
            <a:prstDash val="solid"/>
          </a:ln>
        </p:spPr>
        <p:txBody>
          <a:bodyPr/>
          <a:lstStyle/>
          <a:p>
            <a:endParaRPr lang="en-US"/>
          </a:p>
        </p:txBody>
      </p:sp>
      <p:sp>
        <p:nvSpPr>
          <p:cNvPr id="29" name="Shape 23"/>
          <p:cNvSpPr/>
          <p:nvPr/>
        </p:nvSpPr>
        <p:spPr>
          <a:xfrm>
            <a:off x="9881372" y="2240280"/>
            <a:ext cx="731520" cy="731520"/>
          </a:xfrm>
          <a:prstGeom prst="ellipse">
            <a:avLst/>
          </a:prstGeom>
          <a:solidFill>
            <a:srgbClr val="D42A6E"/>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10064252" y="2423160"/>
            <a:ext cx="365760" cy="365760"/>
          </a:xfrm>
          <a:prstGeom prst="rect">
            <a:avLst/>
          </a:prstGeom>
        </p:spPr>
      </p:pic>
      <p:sp>
        <p:nvSpPr>
          <p:cNvPr id="31" name="Text 24"/>
          <p:cNvSpPr txBox="1"/>
          <p:nvPr/>
        </p:nvSpPr>
        <p:spPr>
          <a:xfrm>
            <a:off x="10774375" y="2286000"/>
            <a:ext cx="640080" cy="640080"/>
          </a:xfrm>
          <a:prstGeom prst="rect">
            <a:avLst/>
          </a:prstGeom>
          <a:noFill/>
          <a:ln/>
        </p:spPr>
        <p:txBody>
          <a:bodyPr wrap="square" lIns="0" tIns="0" rIns="0" bIns="0" rtlCol="0" anchor="ctr"/>
          <a:lstStyle/>
          <a:p>
            <a:pPr marL="0" indent="0" algn="r">
              <a:buNone/>
            </a:pPr>
            <a:r>
              <a:rPr lang="en-US" sz="2400" b="1" dirty="0">
                <a:solidFill>
                  <a:srgbClr val="CFC8E0"/>
                </a:solidFill>
                <a:latin typeface="Arial" pitchFamily="34" charset="0"/>
                <a:ea typeface="Arial" pitchFamily="34" charset="-122"/>
                <a:cs typeface="Arial" pitchFamily="34" charset="-120"/>
              </a:rPr>
              <a:t>05</a:t>
            </a:r>
            <a:endParaRPr lang="en-US" sz="2400" dirty="0"/>
          </a:p>
        </p:txBody>
      </p:sp>
      <p:sp>
        <p:nvSpPr>
          <p:cNvPr id="32" name="Text 25"/>
          <p:cNvSpPr txBox="1"/>
          <p:nvPr/>
        </p:nvSpPr>
        <p:spPr>
          <a:xfrm>
            <a:off x="9881372" y="3200400"/>
            <a:ext cx="1578803" cy="73152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Run it like a pro</a:t>
            </a:r>
            <a:endParaRPr lang="en-US" sz="1900" dirty="0"/>
          </a:p>
        </p:txBody>
      </p:sp>
      <p:sp>
        <p:nvSpPr>
          <p:cNvPr id="33" name="Text 26"/>
          <p:cNvSpPr txBox="1"/>
          <p:nvPr/>
        </p:nvSpPr>
        <p:spPr>
          <a:xfrm>
            <a:off x="9881372" y="4023360"/>
            <a:ext cx="1578803" cy="11887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Prompts, cost, governance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Today's demo company: April's Analog</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A retro record shop with a listening bar, a tiny stage, and way too much email</a:t>
            </a:r>
            <a:endParaRPr lang="en-US" sz="1800" dirty="0"/>
          </a:p>
        </p:txBody>
      </p:sp>
      <p:sp>
        <p:nvSpPr>
          <p:cNvPr id="4" name="Shape 2"/>
          <p:cNvSpPr/>
          <p:nvPr/>
        </p:nvSpPr>
        <p:spPr>
          <a:xfrm>
            <a:off x="731520" y="1874520"/>
            <a:ext cx="3749040" cy="3749040"/>
          </a:xfrm>
          <a:prstGeom prst="ellipse">
            <a:avLst/>
          </a:prstGeom>
          <a:solidFill>
            <a:srgbClr val="0A0A0F"/>
          </a:solidFill>
          <a:ln w="12700">
            <a:solidFill>
              <a:srgbClr val="2A2A35"/>
            </a:solidFill>
            <a:prstDash val="solid"/>
          </a:ln>
        </p:spPr>
        <p:txBody>
          <a:bodyPr/>
          <a:lstStyle/>
          <a:p>
            <a:endParaRPr lang="en-US"/>
          </a:p>
        </p:txBody>
      </p:sp>
      <p:sp>
        <p:nvSpPr>
          <p:cNvPr id="5" name="Shape 3"/>
          <p:cNvSpPr/>
          <p:nvPr/>
        </p:nvSpPr>
        <p:spPr>
          <a:xfrm>
            <a:off x="914400" y="2057400"/>
            <a:ext cx="3383280" cy="3383280"/>
          </a:xfrm>
          <a:prstGeom prst="ellipse">
            <a:avLst/>
          </a:prstGeom>
          <a:solidFill>
            <a:srgbClr val="0A0A0F">
              <a:alpha val="0"/>
            </a:srgbClr>
          </a:solidFill>
          <a:ln w="12700">
            <a:solidFill>
              <a:srgbClr val="2E2E3A"/>
            </a:solidFill>
            <a:prstDash val="solid"/>
          </a:ln>
        </p:spPr>
        <p:txBody>
          <a:bodyPr/>
          <a:lstStyle/>
          <a:p>
            <a:endParaRPr lang="en-US"/>
          </a:p>
        </p:txBody>
      </p:sp>
      <p:sp>
        <p:nvSpPr>
          <p:cNvPr id="6" name="Shape 4"/>
          <p:cNvSpPr/>
          <p:nvPr/>
        </p:nvSpPr>
        <p:spPr>
          <a:xfrm>
            <a:off x="1097280" y="2240280"/>
            <a:ext cx="3017520" cy="3017520"/>
          </a:xfrm>
          <a:prstGeom prst="ellipse">
            <a:avLst/>
          </a:prstGeom>
          <a:solidFill>
            <a:srgbClr val="0A0A0F">
              <a:alpha val="0"/>
            </a:srgbClr>
          </a:solidFill>
          <a:ln w="12700">
            <a:solidFill>
              <a:srgbClr val="2E2E3A"/>
            </a:solidFill>
            <a:prstDash val="solid"/>
          </a:ln>
        </p:spPr>
        <p:txBody>
          <a:bodyPr/>
          <a:lstStyle/>
          <a:p>
            <a:endParaRPr lang="en-US"/>
          </a:p>
        </p:txBody>
      </p:sp>
      <p:sp>
        <p:nvSpPr>
          <p:cNvPr id="7" name="Shape 5"/>
          <p:cNvSpPr/>
          <p:nvPr/>
        </p:nvSpPr>
        <p:spPr>
          <a:xfrm>
            <a:off x="1280160" y="2423160"/>
            <a:ext cx="2651760" cy="2651760"/>
          </a:xfrm>
          <a:prstGeom prst="ellipse">
            <a:avLst/>
          </a:prstGeom>
          <a:solidFill>
            <a:srgbClr val="0A0A0F">
              <a:alpha val="0"/>
            </a:srgbClr>
          </a:solidFill>
          <a:ln w="12700">
            <a:solidFill>
              <a:srgbClr val="2E2E3A"/>
            </a:solidFill>
            <a:prstDash val="solid"/>
          </a:ln>
        </p:spPr>
        <p:txBody>
          <a:bodyPr/>
          <a:lstStyle/>
          <a:p>
            <a:endParaRPr lang="en-US"/>
          </a:p>
        </p:txBody>
      </p:sp>
      <p:sp>
        <p:nvSpPr>
          <p:cNvPr id="8" name="Shape 6"/>
          <p:cNvSpPr/>
          <p:nvPr/>
        </p:nvSpPr>
        <p:spPr>
          <a:xfrm>
            <a:off x="1463040" y="2606040"/>
            <a:ext cx="2286000" cy="2286000"/>
          </a:xfrm>
          <a:prstGeom prst="ellipse">
            <a:avLst/>
          </a:prstGeom>
          <a:solidFill>
            <a:srgbClr val="0A0A0F">
              <a:alpha val="0"/>
            </a:srgbClr>
          </a:solidFill>
          <a:ln w="12700">
            <a:solidFill>
              <a:srgbClr val="2E2E3A"/>
            </a:solidFill>
            <a:prstDash val="solid"/>
          </a:ln>
        </p:spPr>
        <p:txBody>
          <a:bodyPr/>
          <a:lstStyle/>
          <a:p>
            <a:endParaRPr lang="en-US"/>
          </a:p>
        </p:txBody>
      </p:sp>
      <p:sp>
        <p:nvSpPr>
          <p:cNvPr id="9" name="Shape 7"/>
          <p:cNvSpPr/>
          <p:nvPr/>
        </p:nvSpPr>
        <p:spPr>
          <a:xfrm>
            <a:off x="1783080" y="2926080"/>
            <a:ext cx="1645920" cy="1645920"/>
          </a:xfrm>
          <a:prstGeom prst="ellipse">
            <a:avLst/>
          </a:prstGeom>
          <a:solidFill>
            <a:srgbClr val="D42A6E"/>
          </a:solidFill>
          <a:ln/>
        </p:spPr>
        <p:txBody>
          <a:bodyPr/>
          <a:lstStyle/>
          <a:p>
            <a:endParaRPr lang="en-US"/>
          </a:p>
        </p:txBody>
      </p:sp>
      <p:sp>
        <p:nvSpPr>
          <p:cNvPr id="10" name="Text 8"/>
          <p:cNvSpPr txBox="1"/>
          <p:nvPr/>
        </p:nvSpPr>
        <p:spPr>
          <a:xfrm>
            <a:off x="1783080" y="3200400"/>
            <a:ext cx="164592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APRIL'S</a:t>
            </a:r>
            <a:endParaRPr lang="en-US" sz="1600" dirty="0"/>
          </a:p>
          <a:p>
            <a:pPr marL="0" indent="0" algn="ctr">
              <a:buNone/>
            </a:pPr>
            <a:r>
              <a:rPr lang="en-US" sz="1600" b="1" dirty="0">
                <a:solidFill>
                  <a:srgbClr val="FFFFFF"/>
                </a:solidFill>
                <a:latin typeface="Arial" pitchFamily="34" charset="0"/>
                <a:ea typeface="Arial" pitchFamily="34" charset="-122"/>
                <a:cs typeface="Arial" pitchFamily="34" charset="-120"/>
              </a:rPr>
              <a:t>ANALOG</a:t>
            </a:r>
            <a:endParaRPr lang="en-US" sz="1600" dirty="0"/>
          </a:p>
        </p:txBody>
      </p:sp>
      <p:sp>
        <p:nvSpPr>
          <p:cNvPr id="11" name="Shape 9"/>
          <p:cNvSpPr/>
          <p:nvPr/>
        </p:nvSpPr>
        <p:spPr>
          <a:xfrm>
            <a:off x="2542032" y="4133088"/>
            <a:ext cx="128016" cy="128016"/>
          </a:xfrm>
          <a:prstGeom prst="ellipse">
            <a:avLst/>
          </a:prstGeom>
          <a:solidFill>
            <a:srgbClr val="0A0A0F"/>
          </a:solidFill>
          <a:ln/>
        </p:spPr>
        <p:txBody>
          <a:bodyPr/>
          <a:lstStyle/>
          <a:p>
            <a:endParaRPr lang="en-US"/>
          </a:p>
        </p:txBody>
      </p:sp>
      <p:sp>
        <p:nvSpPr>
          <p:cNvPr id="12" name="Shape 10"/>
          <p:cNvSpPr/>
          <p:nvPr/>
        </p:nvSpPr>
        <p:spPr>
          <a:xfrm>
            <a:off x="4937760" y="1828800"/>
            <a:ext cx="6702552" cy="1143000"/>
          </a:xfrm>
          <a:prstGeom prst="roundRect">
            <a:avLst>
              <a:gd name="adj" fmla="val 14400"/>
            </a:avLst>
          </a:prstGeom>
          <a:solidFill>
            <a:srgbClr val="1F0F38"/>
          </a:solidFill>
          <a:ln w="12700">
            <a:solidFill>
              <a:srgbClr val="3A2260"/>
            </a:solidFill>
            <a:prstDash val="solid"/>
          </a:ln>
        </p:spPr>
        <p:txBody>
          <a:bodyPr/>
          <a:lstStyle/>
          <a:p>
            <a:endParaRPr lang="en-US"/>
          </a:p>
        </p:txBody>
      </p:sp>
      <p:sp>
        <p:nvSpPr>
          <p:cNvPr id="13" name="Shape 11"/>
          <p:cNvSpPr/>
          <p:nvPr/>
        </p:nvSpPr>
        <p:spPr>
          <a:xfrm>
            <a:off x="5166360" y="2057400"/>
            <a:ext cx="685800" cy="685800"/>
          </a:xfrm>
          <a:prstGeom prst="ellipse">
            <a:avLst/>
          </a:prstGeom>
          <a:solidFill>
            <a:srgbClr val="3B74F0"/>
          </a:solidFill>
          <a:ln/>
        </p:spPr>
        <p:txBody>
          <a:bodyPr/>
          <a:lstStyle/>
          <a:p>
            <a:endParaRPr lang="en-US"/>
          </a:p>
        </p:txBody>
      </p:sp>
      <p:pic>
        <p:nvPicPr>
          <p:cNvPr id="14" name="Image 0" descr="preencoded.png"/>
          <p:cNvPicPr>
            <a:picLocks noChangeAspect="1"/>
          </p:cNvPicPr>
          <p:nvPr/>
        </p:nvPicPr>
        <p:blipFill>
          <a:blip r:embed="rId3"/>
          <a:stretch>
            <a:fillRect/>
          </a:stretch>
        </p:blipFill>
        <p:spPr>
          <a:xfrm>
            <a:off x="5337810" y="2228850"/>
            <a:ext cx="342900" cy="342900"/>
          </a:xfrm>
          <a:prstGeom prst="rect">
            <a:avLst/>
          </a:prstGeom>
        </p:spPr>
      </p:pic>
      <p:sp>
        <p:nvSpPr>
          <p:cNvPr id="15" name="Text 12"/>
          <p:cNvSpPr txBox="1"/>
          <p:nvPr/>
        </p:nvSpPr>
        <p:spPr>
          <a:xfrm>
            <a:off x="6080760" y="1965960"/>
            <a:ext cx="539496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An inbox full of labels and bands</a:t>
            </a:r>
            <a:endParaRPr lang="en-US" sz="2000" dirty="0"/>
          </a:p>
        </p:txBody>
      </p:sp>
      <p:sp>
        <p:nvSpPr>
          <p:cNvPr id="16" name="Text 13"/>
          <p:cNvSpPr txBox="1"/>
          <p:nvPr/>
        </p:nvSpPr>
        <p:spPr>
          <a:xfrm>
            <a:off x="6080760" y="2377440"/>
            <a:ext cx="5394960" cy="5029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Pop-up requests, set times, vendor contracts</a:t>
            </a:r>
            <a:endParaRPr lang="en-US" sz="1600" dirty="0"/>
          </a:p>
        </p:txBody>
      </p:sp>
      <p:sp>
        <p:nvSpPr>
          <p:cNvPr id="17" name="Shape 14"/>
          <p:cNvSpPr/>
          <p:nvPr/>
        </p:nvSpPr>
        <p:spPr>
          <a:xfrm>
            <a:off x="4937760" y="3154680"/>
            <a:ext cx="6702552" cy="1143000"/>
          </a:xfrm>
          <a:prstGeom prst="roundRect">
            <a:avLst>
              <a:gd name="adj" fmla="val 14400"/>
            </a:avLst>
          </a:prstGeom>
          <a:solidFill>
            <a:srgbClr val="1F0F38"/>
          </a:solidFill>
          <a:ln w="12700">
            <a:solidFill>
              <a:srgbClr val="3A2260"/>
            </a:solidFill>
            <a:prstDash val="solid"/>
          </a:ln>
        </p:spPr>
        <p:txBody>
          <a:bodyPr/>
          <a:lstStyle/>
          <a:p>
            <a:endParaRPr lang="en-US"/>
          </a:p>
        </p:txBody>
      </p:sp>
      <p:sp>
        <p:nvSpPr>
          <p:cNvPr id="18" name="Shape 15"/>
          <p:cNvSpPr/>
          <p:nvPr/>
        </p:nvSpPr>
        <p:spPr>
          <a:xfrm>
            <a:off x="5166360" y="3383280"/>
            <a:ext cx="685800" cy="685800"/>
          </a:xfrm>
          <a:prstGeom prst="ellipse">
            <a:avLst/>
          </a:prstGeom>
          <a:solidFill>
            <a:srgbClr val="8C38E0"/>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337810" y="3554730"/>
            <a:ext cx="342900" cy="342900"/>
          </a:xfrm>
          <a:prstGeom prst="rect">
            <a:avLst/>
          </a:prstGeom>
        </p:spPr>
      </p:pic>
      <p:sp>
        <p:nvSpPr>
          <p:cNvPr id="20" name="Text 16"/>
          <p:cNvSpPr txBox="1"/>
          <p:nvPr/>
        </p:nvSpPr>
        <p:spPr>
          <a:xfrm>
            <a:off x="6080760" y="3291840"/>
            <a:ext cx="539496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Analog Fest, Oct 16-18</a:t>
            </a:r>
            <a:endParaRPr lang="en-US" sz="2000" dirty="0"/>
          </a:p>
        </p:txBody>
      </p:sp>
      <p:sp>
        <p:nvSpPr>
          <p:cNvPr id="21" name="Text 17"/>
          <p:cNvSpPr txBox="1"/>
          <p:nvPr/>
        </p:nvSpPr>
        <p:spPr>
          <a:xfrm>
            <a:off x="6080760" y="3703320"/>
            <a:ext cx="5394960" cy="5029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Three nights, 12 bands, 40 volunteers, one very tired owner</a:t>
            </a:r>
            <a:endParaRPr lang="en-US" sz="1600" dirty="0"/>
          </a:p>
        </p:txBody>
      </p:sp>
      <p:sp>
        <p:nvSpPr>
          <p:cNvPr id="22" name="Shape 18"/>
          <p:cNvSpPr/>
          <p:nvPr/>
        </p:nvSpPr>
        <p:spPr>
          <a:xfrm>
            <a:off x="4937760" y="4480560"/>
            <a:ext cx="6702552" cy="1143000"/>
          </a:xfrm>
          <a:prstGeom prst="roundRect">
            <a:avLst>
              <a:gd name="adj" fmla="val 14400"/>
            </a:avLst>
          </a:prstGeom>
          <a:solidFill>
            <a:srgbClr val="1F0F38"/>
          </a:solidFill>
          <a:ln w="12700">
            <a:solidFill>
              <a:srgbClr val="3A2260"/>
            </a:solidFill>
            <a:prstDash val="solid"/>
          </a:ln>
        </p:spPr>
        <p:txBody>
          <a:bodyPr/>
          <a:lstStyle/>
          <a:p>
            <a:endParaRPr lang="en-US"/>
          </a:p>
        </p:txBody>
      </p:sp>
      <p:sp>
        <p:nvSpPr>
          <p:cNvPr id="23" name="Shape 19"/>
          <p:cNvSpPr/>
          <p:nvPr/>
        </p:nvSpPr>
        <p:spPr>
          <a:xfrm>
            <a:off x="5166360" y="4709160"/>
            <a:ext cx="685800" cy="685800"/>
          </a:xfrm>
          <a:prstGeom prst="ellipse">
            <a:avLst/>
          </a:prstGeom>
          <a:solidFill>
            <a:srgbClr val="D42A6E"/>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5337810" y="4880610"/>
            <a:ext cx="342900" cy="342900"/>
          </a:xfrm>
          <a:prstGeom prst="rect">
            <a:avLst/>
          </a:prstGeom>
        </p:spPr>
      </p:pic>
      <p:sp>
        <p:nvSpPr>
          <p:cNvPr id="25" name="Text 20"/>
          <p:cNvSpPr txBox="1"/>
          <p:nvPr/>
        </p:nvSpPr>
        <p:spPr>
          <a:xfrm>
            <a:off x="6080760" y="4617720"/>
            <a:ext cx="539496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The goal</a:t>
            </a:r>
            <a:endParaRPr lang="en-US" sz="2000" dirty="0"/>
          </a:p>
        </p:txBody>
      </p:sp>
      <p:sp>
        <p:nvSpPr>
          <p:cNvPr id="26" name="Text 21"/>
          <p:cNvSpPr txBox="1"/>
          <p:nvPr/>
        </p:nvSpPr>
        <p:spPr>
          <a:xfrm>
            <a:off x="6080760" y="5029200"/>
            <a:ext cx="5394960" cy="502920"/>
          </a:xfrm>
          <a:prstGeom prst="rect">
            <a:avLst/>
          </a:prstGeom>
          <a:noFill/>
          <a:ln/>
        </p:spPr>
        <p:txBody>
          <a:bodyPr wrap="square" lIns="0" tIns="0" rIns="0" bIns="0" rtlCol="0" anchor="t"/>
          <a:lstStyle/>
          <a:p>
            <a:pPr marL="0" indent="0">
              <a:buNone/>
            </a:pPr>
            <a:r>
              <a:rPr lang="en-US" sz="1600" dirty="0">
                <a:solidFill>
                  <a:srgbClr val="CFC8E0"/>
                </a:solidFill>
                <a:latin typeface="Arial" pitchFamily="34" charset="0"/>
                <a:ea typeface="Arial" pitchFamily="34" charset="-122"/>
                <a:cs typeface="Arial" pitchFamily="34" charset="-120"/>
              </a:rPr>
              <a:t>Hand the busywork to Cowork so April can run the shop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3657600" cy="1371600"/>
          </a:xfrm>
          <a:prstGeom prst="rect">
            <a:avLst/>
          </a:prstGeom>
          <a:noFill/>
          <a:ln/>
        </p:spPr>
        <p:txBody>
          <a:bodyPr wrap="square" lIns="0" tIns="0" rIns="0" bIns="0" rtlCol="0" anchor="b"/>
          <a:lstStyle/>
          <a:p>
            <a:pPr marL="0" indent="0">
              <a:buNone/>
            </a:pPr>
            <a:r>
              <a:rPr lang="en-US" sz="8800" b="1" dirty="0">
                <a:solidFill>
                  <a:srgbClr val="FF5C9E"/>
                </a:solidFill>
                <a:latin typeface="Arial" pitchFamily="34" charset="0"/>
                <a:ea typeface="Arial" pitchFamily="34" charset="-122"/>
                <a:cs typeface="Arial" pitchFamily="34" charset="-120"/>
              </a:rPr>
              <a:t>01</a:t>
            </a:r>
            <a:endParaRPr lang="en-US" sz="8800" dirty="0"/>
          </a:p>
        </p:txBody>
      </p:sp>
      <p:sp>
        <p:nvSpPr>
          <p:cNvPr id="3" name="Text 0"/>
          <p:cNvSpPr>
            <a:spLocks noGrp="1"/>
          </p:cNvSpPr>
          <p:nvPr>
            <p:ph type="title" idx="101" hasCustomPrompt="1"/>
          </p:nvPr>
        </p:nvSpPr>
        <p:spPr>
          <a:xfrm>
            <a:off x="548640" y="2743200"/>
            <a:ext cx="8686800" cy="155448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Which Copilot?</a:t>
            </a:r>
            <a:endParaRPr lang="en-US" sz="4800" dirty="0"/>
          </a:p>
        </p:txBody>
      </p:sp>
      <p:sp>
        <p:nvSpPr>
          <p:cNvPr id="4" name="Text 0"/>
          <p:cNvSpPr>
            <a:spLocks noGrp="1"/>
          </p:cNvSpPr>
          <p:nvPr>
            <p:ph type="body" idx="102" hasCustomPrompt="1"/>
          </p:nvPr>
        </p:nvSpPr>
        <p:spPr>
          <a:xfrm>
            <a:off x="548640" y="4389120"/>
            <a:ext cx="8686800" cy="73152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Let's address the elephant in the room</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The Copilot family, in plain English</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Same brand, different jobs</a:t>
            </a:r>
            <a:endParaRPr lang="en-US" sz="1800" dirty="0"/>
          </a:p>
        </p:txBody>
      </p:sp>
      <p:sp>
        <p:nvSpPr>
          <p:cNvPr id="4" name="Shape 2"/>
          <p:cNvSpPr/>
          <p:nvPr/>
        </p:nvSpPr>
        <p:spPr>
          <a:xfrm>
            <a:off x="548640"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777240" y="2011680"/>
            <a:ext cx="594360" cy="59436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25830" y="2160270"/>
            <a:ext cx="297180" cy="297180"/>
          </a:xfrm>
          <a:prstGeom prst="rect">
            <a:avLst/>
          </a:prstGeom>
        </p:spPr>
      </p:pic>
      <p:sp>
        <p:nvSpPr>
          <p:cNvPr id="7" name="Text 4"/>
          <p:cNvSpPr txBox="1"/>
          <p:nvPr/>
        </p:nvSpPr>
        <p:spPr>
          <a:xfrm>
            <a:off x="1508760" y="201168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M365 Copilot Chat + apps</a:t>
            </a:r>
            <a:endParaRPr lang="en-US" sz="1800" dirty="0"/>
          </a:p>
        </p:txBody>
      </p:sp>
      <p:sp>
        <p:nvSpPr>
          <p:cNvPr id="8" name="Text 5"/>
          <p:cNvSpPr txBox="1"/>
          <p:nvPr/>
        </p:nvSpPr>
        <p:spPr>
          <a:xfrm>
            <a:off x="777240"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Help in the flow of work: draft, summarize, analyze inside Word, Excel, Outlook, Teams</a:t>
            </a:r>
            <a:endParaRPr lang="en-US" sz="1500" dirty="0"/>
          </a:p>
        </p:txBody>
      </p:sp>
      <p:sp>
        <p:nvSpPr>
          <p:cNvPr id="9" name="Shape 6"/>
          <p:cNvSpPr/>
          <p:nvPr/>
        </p:nvSpPr>
        <p:spPr>
          <a:xfrm>
            <a:off x="4338218"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10" name="Shape 7"/>
          <p:cNvSpPr/>
          <p:nvPr/>
        </p:nvSpPr>
        <p:spPr>
          <a:xfrm>
            <a:off x="4566818" y="2011680"/>
            <a:ext cx="594360" cy="594360"/>
          </a:xfrm>
          <a:prstGeom prst="ellipse">
            <a:avLst/>
          </a:prstGeom>
          <a:solidFill>
            <a:srgbClr val="D42A6E"/>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715408" y="2160270"/>
            <a:ext cx="297180" cy="297180"/>
          </a:xfrm>
          <a:prstGeom prst="rect">
            <a:avLst/>
          </a:prstGeom>
        </p:spPr>
      </p:pic>
      <p:sp>
        <p:nvSpPr>
          <p:cNvPr id="12" name="Text 8"/>
          <p:cNvSpPr txBox="1"/>
          <p:nvPr/>
        </p:nvSpPr>
        <p:spPr>
          <a:xfrm>
            <a:off x="5298338" y="201168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Copilot Cowork</a:t>
            </a:r>
            <a:endParaRPr lang="en-US" sz="1800" dirty="0"/>
          </a:p>
        </p:txBody>
      </p:sp>
      <p:sp>
        <p:nvSpPr>
          <p:cNvPr id="13" name="Text 9"/>
          <p:cNvSpPr txBox="1"/>
          <p:nvPr/>
        </p:nvSpPr>
        <p:spPr>
          <a:xfrm>
            <a:off x="4566818"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Your AI coworker: multi-step, cross-app jobs and automations it finishes for you</a:t>
            </a:r>
            <a:endParaRPr lang="en-US" sz="1500" dirty="0"/>
          </a:p>
        </p:txBody>
      </p:sp>
      <p:sp>
        <p:nvSpPr>
          <p:cNvPr id="14" name="Shape 10"/>
          <p:cNvSpPr/>
          <p:nvPr/>
        </p:nvSpPr>
        <p:spPr>
          <a:xfrm>
            <a:off x="8127797"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15" name="Shape 11"/>
          <p:cNvSpPr/>
          <p:nvPr/>
        </p:nvSpPr>
        <p:spPr>
          <a:xfrm>
            <a:off x="8356397" y="2011680"/>
            <a:ext cx="594360" cy="594360"/>
          </a:xfrm>
          <a:prstGeom prst="ellipse">
            <a:avLst/>
          </a:prstGeom>
          <a:solidFill>
            <a:srgbClr val="8C38E0"/>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504987" y="2160270"/>
            <a:ext cx="297180" cy="297180"/>
          </a:xfrm>
          <a:prstGeom prst="rect">
            <a:avLst/>
          </a:prstGeom>
        </p:spPr>
      </p:pic>
      <p:sp>
        <p:nvSpPr>
          <p:cNvPr id="17" name="Text 12"/>
          <p:cNvSpPr txBox="1"/>
          <p:nvPr/>
        </p:nvSpPr>
        <p:spPr>
          <a:xfrm>
            <a:off x="9087917" y="201168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Microsoft Scout</a:t>
            </a:r>
            <a:endParaRPr lang="en-US" sz="1800" dirty="0"/>
          </a:p>
        </p:txBody>
      </p:sp>
      <p:sp>
        <p:nvSpPr>
          <p:cNvPr id="18" name="Text 13"/>
          <p:cNvSpPr txBox="1"/>
          <p:nvPr/>
        </p:nvSpPr>
        <p:spPr>
          <a:xfrm>
            <a:off x="8356397"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A personal autopilot that takes work off your plate over time (Frontier preview)</a:t>
            </a:r>
            <a:endParaRPr lang="en-US" sz="1500" dirty="0"/>
          </a:p>
        </p:txBody>
      </p:sp>
      <p:sp>
        <p:nvSpPr>
          <p:cNvPr id="19" name="Shape 14"/>
          <p:cNvSpPr/>
          <p:nvPr/>
        </p:nvSpPr>
        <p:spPr>
          <a:xfrm>
            <a:off x="548640"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20" name="Shape 15"/>
          <p:cNvSpPr/>
          <p:nvPr/>
        </p:nvSpPr>
        <p:spPr>
          <a:xfrm>
            <a:off x="777240" y="4023360"/>
            <a:ext cx="594360" cy="594360"/>
          </a:xfrm>
          <a:prstGeom prst="ellipse">
            <a:avLst/>
          </a:prstGeom>
          <a:solidFill>
            <a:srgbClr val="5A56E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25830" y="4171950"/>
            <a:ext cx="297180" cy="297180"/>
          </a:xfrm>
          <a:prstGeom prst="rect">
            <a:avLst/>
          </a:prstGeom>
        </p:spPr>
      </p:pic>
      <p:sp>
        <p:nvSpPr>
          <p:cNvPr id="22" name="Text 16"/>
          <p:cNvSpPr txBox="1"/>
          <p:nvPr/>
        </p:nvSpPr>
        <p:spPr>
          <a:xfrm>
            <a:off x="1508760" y="402336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Agent Builder + Copilot Studio</a:t>
            </a:r>
            <a:endParaRPr lang="en-US" sz="1800" dirty="0"/>
          </a:p>
        </p:txBody>
      </p:sp>
      <p:sp>
        <p:nvSpPr>
          <p:cNvPr id="23" name="Text 17"/>
          <p:cNvSpPr txBox="1"/>
          <p:nvPr/>
        </p:nvSpPr>
        <p:spPr>
          <a:xfrm>
            <a:off x="777240"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Build agents for many people, wired to your systems</a:t>
            </a:r>
            <a:endParaRPr lang="en-US" sz="1500" dirty="0"/>
          </a:p>
        </p:txBody>
      </p:sp>
      <p:sp>
        <p:nvSpPr>
          <p:cNvPr id="24" name="Shape 18"/>
          <p:cNvSpPr/>
          <p:nvPr/>
        </p:nvSpPr>
        <p:spPr>
          <a:xfrm>
            <a:off x="4338218"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25" name="Shape 19"/>
          <p:cNvSpPr/>
          <p:nvPr/>
        </p:nvSpPr>
        <p:spPr>
          <a:xfrm>
            <a:off x="4566818" y="4023360"/>
            <a:ext cx="594360" cy="594360"/>
          </a:xfrm>
          <a:prstGeom prst="ellipse">
            <a:avLst/>
          </a:prstGeom>
          <a:solidFill>
            <a:srgbClr val="B0339E"/>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715408" y="4171950"/>
            <a:ext cx="297180" cy="297180"/>
          </a:xfrm>
          <a:prstGeom prst="rect">
            <a:avLst/>
          </a:prstGeom>
        </p:spPr>
      </p:pic>
      <p:sp>
        <p:nvSpPr>
          <p:cNvPr id="27" name="Text 20"/>
          <p:cNvSpPr txBox="1"/>
          <p:nvPr/>
        </p:nvSpPr>
        <p:spPr>
          <a:xfrm>
            <a:off x="5298338" y="402336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Power Automate</a:t>
            </a:r>
            <a:endParaRPr lang="en-US" sz="1800" dirty="0"/>
          </a:p>
        </p:txBody>
      </p:sp>
      <p:sp>
        <p:nvSpPr>
          <p:cNvPr id="28" name="Text 21"/>
          <p:cNvSpPr txBox="1"/>
          <p:nvPr/>
        </p:nvSpPr>
        <p:spPr>
          <a:xfrm>
            <a:off x="4566818"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Fixed, rule-based flows when no judgment is needed</a:t>
            </a:r>
            <a:endParaRPr lang="en-US" sz="1500" dirty="0"/>
          </a:p>
        </p:txBody>
      </p:sp>
      <p:sp>
        <p:nvSpPr>
          <p:cNvPr id="29" name="Shape 22"/>
          <p:cNvSpPr/>
          <p:nvPr/>
        </p:nvSpPr>
        <p:spPr>
          <a:xfrm>
            <a:off x="8127797"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30" name="Shape 23"/>
          <p:cNvSpPr/>
          <p:nvPr/>
        </p:nvSpPr>
        <p:spPr>
          <a:xfrm>
            <a:off x="8356397" y="4023360"/>
            <a:ext cx="594360" cy="594360"/>
          </a:xfrm>
          <a:prstGeom prst="ellipse">
            <a:avLst/>
          </a:prstGeom>
          <a:solidFill>
            <a:srgbClr val="3B74F0"/>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504987" y="4171950"/>
            <a:ext cx="297180" cy="297180"/>
          </a:xfrm>
          <a:prstGeom prst="rect">
            <a:avLst/>
          </a:prstGeom>
        </p:spPr>
      </p:pic>
      <p:sp>
        <p:nvSpPr>
          <p:cNvPr id="32" name="Text 24"/>
          <p:cNvSpPr txBox="1"/>
          <p:nvPr/>
        </p:nvSpPr>
        <p:spPr>
          <a:xfrm>
            <a:off x="9087917" y="402336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Copilot (consumer)</a:t>
            </a:r>
            <a:endParaRPr lang="en-US" sz="1800" dirty="0"/>
          </a:p>
        </p:txBody>
      </p:sp>
      <p:sp>
        <p:nvSpPr>
          <p:cNvPr id="33" name="Text 25"/>
          <p:cNvSpPr txBox="1"/>
          <p:nvPr/>
        </p:nvSpPr>
        <p:spPr>
          <a:xfrm>
            <a:off x="8356397"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The personal app. Great at home, not grounded in your work data.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The real difference isn't think vs. do</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Both do work. The shape of the work is what changes.</a:t>
            </a:r>
            <a:endParaRPr lang="en-US" sz="1800" dirty="0"/>
          </a:p>
        </p:txBody>
      </p:sp>
      <p:sp>
        <p:nvSpPr>
          <p:cNvPr id="4" name="Shape 2"/>
          <p:cNvSpPr/>
          <p:nvPr/>
        </p:nvSpPr>
        <p:spPr>
          <a:xfrm>
            <a:off x="548640" y="1783080"/>
            <a:ext cx="5410048" cy="2971800"/>
          </a:xfrm>
          <a:prstGeom prst="roundRect">
            <a:avLst>
              <a:gd name="adj" fmla="val 5538"/>
            </a:avLst>
          </a:prstGeom>
          <a:solidFill>
            <a:srgbClr val="1F0F38"/>
          </a:solidFill>
          <a:ln w="25400">
            <a:solidFill>
              <a:srgbClr val="3B74F0"/>
            </a:solidFill>
            <a:prstDash val="solid"/>
          </a:ln>
        </p:spPr>
        <p:txBody>
          <a:bodyPr/>
          <a:lstStyle/>
          <a:p>
            <a:endParaRPr lang="en-US"/>
          </a:p>
        </p:txBody>
      </p:sp>
      <p:sp>
        <p:nvSpPr>
          <p:cNvPr id="5" name="Shape 3"/>
          <p:cNvSpPr/>
          <p:nvPr/>
        </p:nvSpPr>
        <p:spPr>
          <a:xfrm>
            <a:off x="822960" y="205740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5840" y="2240280"/>
            <a:ext cx="365760" cy="365760"/>
          </a:xfrm>
          <a:prstGeom prst="rect">
            <a:avLst/>
          </a:prstGeom>
        </p:spPr>
      </p:pic>
      <p:sp>
        <p:nvSpPr>
          <p:cNvPr id="7" name="Text 4"/>
          <p:cNvSpPr txBox="1"/>
          <p:nvPr/>
        </p:nvSpPr>
        <p:spPr>
          <a:xfrm>
            <a:off x="1737360" y="2057400"/>
            <a:ext cx="4038448" cy="73152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Copilot Chat + apps do real work</a:t>
            </a:r>
            <a:endParaRPr lang="en-US" sz="2100" dirty="0"/>
          </a:p>
        </p:txBody>
      </p:sp>
      <p:sp>
        <p:nvSpPr>
          <p:cNvPr id="8" name="Text 5"/>
          <p:cNvSpPr txBox="1"/>
          <p:nvPr/>
        </p:nvSpPr>
        <p:spPr>
          <a:xfrm>
            <a:off x="868680" y="2971800"/>
            <a:ext cx="4861408"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Agent Mode builds the doc, the deck, the workbook</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Researcher and Analyst dig in for minutes</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Drafts the email, recaps the meeting</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You steer turn by turn</a:t>
            </a:r>
            <a:endParaRPr lang="en-US" sz="1600" dirty="0"/>
          </a:p>
        </p:txBody>
      </p:sp>
      <p:sp>
        <p:nvSpPr>
          <p:cNvPr id="9" name="Shape 6"/>
          <p:cNvSpPr/>
          <p:nvPr/>
        </p:nvSpPr>
        <p:spPr>
          <a:xfrm>
            <a:off x="6233008" y="1783080"/>
            <a:ext cx="5410048" cy="2971800"/>
          </a:xfrm>
          <a:prstGeom prst="roundRect">
            <a:avLst>
              <a:gd name="adj" fmla="val 5538"/>
            </a:avLst>
          </a:prstGeom>
          <a:solidFill>
            <a:srgbClr val="1F0F38"/>
          </a:solidFill>
          <a:ln w="25400">
            <a:solidFill>
              <a:srgbClr val="D42A6E"/>
            </a:solidFill>
            <a:prstDash val="solid"/>
          </a:ln>
        </p:spPr>
        <p:txBody>
          <a:bodyPr/>
          <a:lstStyle/>
          <a:p>
            <a:endParaRPr lang="en-US"/>
          </a:p>
        </p:txBody>
      </p:sp>
      <p:sp>
        <p:nvSpPr>
          <p:cNvPr id="10" name="Shape 7"/>
          <p:cNvSpPr/>
          <p:nvPr/>
        </p:nvSpPr>
        <p:spPr>
          <a:xfrm>
            <a:off x="6507328" y="2057400"/>
            <a:ext cx="731520" cy="731520"/>
          </a:xfrm>
          <a:prstGeom prst="ellipse">
            <a:avLst/>
          </a:prstGeom>
          <a:solidFill>
            <a:srgbClr val="D42A6E"/>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690208" y="2240280"/>
            <a:ext cx="365760" cy="365760"/>
          </a:xfrm>
          <a:prstGeom prst="rect">
            <a:avLst/>
          </a:prstGeom>
        </p:spPr>
      </p:pic>
      <p:sp>
        <p:nvSpPr>
          <p:cNvPr id="12" name="Text 8"/>
          <p:cNvSpPr txBox="1"/>
          <p:nvPr/>
        </p:nvSpPr>
        <p:spPr>
          <a:xfrm>
            <a:off x="7421728" y="2057400"/>
            <a:ext cx="4038448" cy="73152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Cowork is built for the long haul</a:t>
            </a:r>
            <a:endParaRPr lang="en-US" sz="2100" dirty="0"/>
          </a:p>
        </p:txBody>
      </p:sp>
      <p:sp>
        <p:nvSpPr>
          <p:cNvPr id="13" name="Text 9"/>
          <p:cNvSpPr txBox="1"/>
          <p:nvPr/>
        </p:nvSpPr>
        <p:spPr>
          <a:xfrm>
            <a:off x="6553048" y="2971800"/>
            <a:ext cx="4861408"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Many steps across many apps in one job</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Keeps going in the cloud when you walk away</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Runs on a schedule or when something happens</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Checks in only at the moments that matter</a:t>
            </a:r>
            <a:endParaRPr lang="en-US" sz="1600" dirty="0"/>
          </a:p>
        </p:txBody>
      </p:sp>
      <p:sp>
        <p:nvSpPr>
          <p:cNvPr id="14" name="Shape 10"/>
          <p:cNvSpPr/>
          <p:nvPr/>
        </p:nvSpPr>
        <p:spPr>
          <a:xfrm>
            <a:off x="548640" y="4937760"/>
            <a:ext cx="11094415" cy="594360"/>
          </a:xfrm>
          <a:prstGeom prst="roundRect">
            <a:avLst>
              <a:gd name="adj" fmla="val 27692"/>
            </a:avLst>
          </a:prstGeom>
          <a:solidFill>
            <a:srgbClr val="1F0F38"/>
          </a:solidFill>
          <a:ln w="12700">
            <a:solidFill>
              <a:srgbClr val="3A2260"/>
            </a:solidFill>
            <a:prstDash val="solid"/>
          </a:ln>
        </p:spPr>
        <p:txBody>
          <a:bodyPr/>
          <a:lstStyle/>
          <a:p>
            <a:endParaRPr lang="en-US"/>
          </a:p>
        </p:txBody>
      </p:sp>
      <p:sp>
        <p:nvSpPr>
          <p:cNvPr id="15" name="Text 11"/>
          <p:cNvSpPr txBox="1"/>
          <p:nvPr/>
        </p:nvSpPr>
        <p:spPr>
          <a:xfrm>
            <a:off x="822960" y="4937760"/>
            <a:ext cx="10545775" cy="594360"/>
          </a:xfrm>
          <a:prstGeom prst="rect">
            <a:avLst/>
          </a:prstGeom>
          <a:noFill/>
          <a:ln/>
        </p:spPr>
        <p:txBody>
          <a:bodyPr wrap="square" lIns="0" tIns="0" rIns="0" bIns="0" rtlCol="0" anchor="ctr"/>
          <a:lstStyle/>
          <a:p>
            <a:pPr marL="0" indent="0">
              <a:buNone/>
            </a:pPr>
            <a:r>
              <a:rPr lang="en-US" sz="1600" b="1" dirty="0">
                <a:solidFill>
                  <a:srgbClr val="FF5C9E"/>
                </a:solidFill>
                <a:latin typeface="Arial" pitchFamily="34" charset="0"/>
                <a:ea typeface="Arial" pitchFamily="34" charset="-122"/>
                <a:cs typeface="Arial" pitchFamily="34" charset="-120"/>
              </a:rPr>
              <a:t>The real line: </a:t>
            </a:r>
            <a:r>
              <a:rPr lang="en-US" sz="1600" dirty="0">
                <a:solidFill>
                  <a:srgbClr val="FFFFFF"/>
                </a:solidFill>
                <a:latin typeface="Arial" pitchFamily="34" charset="0"/>
                <a:ea typeface="Arial" pitchFamily="34" charset="-122"/>
                <a:cs typeface="Arial" pitchFamily="34" charset="-120"/>
              </a:rPr>
              <a:t>one turn vs. a whole job. If you'd hand it to a teammate and walk away, that's Cowork.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Not every task needs an autopilot</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Match the tool to how much you want to hand off</a:t>
            </a:r>
            <a:endParaRPr lang="en-US" sz="1800" dirty="0"/>
          </a:p>
        </p:txBody>
      </p:sp>
      <p:sp>
        <p:nvSpPr>
          <p:cNvPr id="4" name="Shape 2"/>
          <p:cNvSpPr/>
          <p:nvPr/>
        </p:nvSpPr>
        <p:spPr>
          <a:xfrm>
            <a:off x="822960" y="2148840"/>
            <a:ext cx="10545775" cy="0"/>
          </a:xfrm>
          <a:prstGeom prst="line">
            <a:avLst/>
          </a:prstGeom>
          <a:noFill/>
          <a:ln w="25400">
            <a:solidFill>
              <a:srgbClr val="CFC8E0"/>
            </a:solidFill>
            <a:prstDash val="solid"/>
            <a:tailEnd type="triangle"/>
          </a:ln>
        </p:spPr>
        <p:txBody>
          <a:bodyPr/>
          <a:lstStyle/>
          <a:p>
            <a:endParaRPr lang="en-US"/>
          </a:p>
        </p:txBody>
      </p:sp>
      <p:sp>
        <p:nvSpPr>
          <p:cNvPr id="5" name="Text 3"/>
          <p:cNvSpPr txBox="1"/>
          <p:nvPr/>
        </p:nvSpPr>
        <p:spPr>
          <a:xfrm>
            <a:off x="548640" y="1737360"/>
            <a:ext cx="2743200" cy="320040"/>
          </a:xfrm>
          <a:prstGeom prst="rect">
            <a:avLst/>
          </a:prstGeom>
          <a:noFill/>
          <a:ln/>
        </p:spPr>
        <p:txBody>
          <a:bodyPr wrap="square" lIns="0" tIns="0" rIns="0" bIns="0" rtlCol="0" anchor="ctr"/>
          <a:lstStyle/>
          <a:p>
            <a:pPr marL="0" indent="0">
              <a:buNone/>
            </a:pPr>
            <a:r>
              <a:rPr lang="en-US" sz="1400" dirty="0">
                <a:solidFill>
                  <a:srgbClr val="CFC8E0"/>
                </a:solidFill>
                <a:latin typeface="Arial" pitchFamily="34" charset="0"/>
                <a:ea typeface="Arial" pitchFamily="34" charset="-122"/>
                <a:cs typeface="Arial" pitchFamily="34" charset="-120"/>
              </a:rPr>
              <a:t>You drive</a:t>
            </a:r>
            <a:endParaRPr lang="en-US" sz="1400" dirty="0"/>
          </a:p>
        </p:txBody>
      </p:sp>
      <p:sp>
        <p:nvSpPr>
          <p:cNvPr id="6" name="Text 4"/>
          <p:cNvSpPr txBox="1"/>
          <p:nvPr/>
        </p:nvSpPr>
        <p:spPr>
          <a:xfrm>
            <a:off x="8899855" y="1737360"/>
            <a:ext cx="2743200" cy="320040"/>
          </a:xfrm>
          <a:prstGeom prst="rect">
            <a:avLst/>
          </a:prstGeom>
          <a:noFill/>
          <a:ln/>
        </p:spPr>
        <p:txBody>
          <a:bodyPr wrap="square" lIns="0" tIns="0" rIns="0" bIns="0" rtlCol="0" anchor="ctr"/>
          <a:lstStyle/>
          <a:p>
            <a:pPr marL="0" indent="0" algn="r">
              <a:buNone/>
            </a:pPr>
            <a:r>
              <a:rPr lang="en-US" sz="1400" dirty="0">
                <a:solidFill>
                  <a:srgbClr val="CFC8E0"/>
                </a:solidFill>
                <a:latin typeface="Arial" pitchFamily="34" charset="0"/>
                <a:ea typeface="Arial" pitchFamily="34" charset="-122"/>
                <a:cs typeface="Arial" pitchFamily="34" charset="-120"/>
              </a:rPr>
              <a:t>It drives</a:t>
            </a:r>
            <a:endParaRPr lang="en-US" sz="1400" dirty="0"/>
          </a:p>
        </p:txBody>
      </p:sp>
      <p:sp>
        <p:nvSpPr>
          <p:cNvPr id="7" name="Shape 5"/>
          <p:cNvSpPr/>
          <p:nvPr/>
        </p:nvSpPr>
        <p:spPr>
          <a:xfrm>
            <a:off x="548640" y="2514600"/>
            <a:ext cx="3515258" cy="2834640"/>
          </a:xfrm>
          <a:prstGeom prst="roundRect">
            <a:avLst>
              <a:gd name="adj" fmla="val 5806"/>
            </a:avLst>
          </a:prstGeom>
          <a:solidFill>
            <a:srgbClr val="1F0F38"/>
          </a:solidFill>
          <a:ln w="19050">
            <a:solidFill>
              <a:srgbClr val="3B74F0"/>
            </a:solidFill>
            <a:prstDash val="solid"/>
          </a:ln>
        </p:spPr>
        <p:txBody>
          <a:bodyPr/>
          <a:lstStyle/>
          <a:p>
            <a:endParaRPr lang="en-US"/>
          </a:p>
        </p:txBody>
      </p:sp>
      <p:sp>
        <p:nvSpPr>
          <p:cNvPr id="8" name="Shape 6"/>
          <p:cNvSpPr/>
          <p:nvPr/>
        </p:nvSpPr>
        <p:spPr>
          <a:xfrm>
            <a:off x="822960" y="2788920"/>
            <a:ext cx="731520" cy="731520"/>
          </a:xfrm>
          <a:prstGeom prst="ellipse">
            <a:avLst/>
          </a:prstGeom>
          <a:solidFill>
            <a:srgbClr val="3B74F0"/>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005840" y="2971800"/>
            <a:ext cx="365760" cy="365760"/>
          </a:xfrm>
          <a:prstGeom prst="rect">
            <a:avLst/>
          </a:prstGeom>
        </p:spPr>
      </p:pic>
      <p:sp>
        <p:nvSpPr>
          <p:cNvPr id="10" name="Text 7"/>
          <p:cNvSpPr txBox="1"/>
          <p:nvPr/>
        </p:nvSpPr>
        <p:spPr>
          <a:xfrm>
            <a:off x="1691640" y="2788920"/>
            <a:ext cx="2235098" cy="73152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M365 Copilot</a:t>
            </a:r>
            <a:endParaRPr lang="en-US" sz="2100" dirty="0"/>
          </a:p>
        </p:txBody>
      </p:sp>
      <p:sp>
        <p:nvSpPr>
          <p:cNvPr id="11" name="Text 8"/>
          <p:cNvSpPr txBox="1"/>
          <p:nvPr/>
        </p:nvSpPr>
        <p:spPr>
          <a:xfrm>
            <a:off x="822960" y="3703320"/>
            <a:ext cx="2966618" cy="731520"/>
          </a:xfrm>
          <a:prstGeom prst="rect">
            <a:avLst/>
          </a:prstGeom>
          <a:noFill/>
          <a:ln/>
        </p:spPr>
        <p:txBody>
          <a:bodyPr wrap="square" lIns="0" tIns="0" rIns="0" bIns="0" rtlCol="0" anchor="t"/>
          <a:lstStyle/>
          <a:p>
            <a:pPr marL="0" indent="0">
              <a:buNone/>
            </a:pPr>
            <a:r>
              <a:rPr lang="en-US" sz="1800" i="1" dirty="0">
                <a:solidFill>
                  <a:srgbClr val="FFFFFF"/>
                </a:solidFill>
                <a:latin typeface="Arial" pitchFamily="34" charset="0"/>
                <a:ea typeface="Arial" pitchFamily="34" charset="-122"/>
                <a:cs typeface="Arial" pitchFamily="34" charset="-120"/>
              </a:rPr>
              <a:t>"Do this single task for me"</a:t>
            </a:r>
            <a:endParaRPr lang="en-US" sz="1800" dirty="0"/>
          </a:p>
        </p:txBody>
      </p:sp>
      <p:sp>
        <p:nvSpPr>
          <p:cNvPr id="12" name="Text 9"/>
          <p:cNvSpPr txBox="1"/>
          <p:nvPr/>
        </p:nvSpPr>
        <p:spPr>
          <a:xfrm>
            <a:off x="822960" y="4480560"/>
            <a:ext cx="2966618" cy="73152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Seconds. You steer every turn.</a:t>
            </a:r>
            <a:endParaRPr lang="en-US" sz="1500" dirty="0"/>
          </a:p>
        </p:txBody>
      </p:sp>
      <p:sp>
        <p:nvSpPr>
          <p:cNvPr id="13" name="Shape 10"/>
          <p:cNvSpPr/>
          <p:nvPr/>
        </p:nvSpPr>
        <p:spPr>
          <a:xfrm>
            <a:off x="4338218" y="2514600"/>
            <a:ext cx="3515258" cy="2834640"/>
          </a:xfrm>
          <a:prstGeom prst="roundRect">
            <a:avLst>
              <a:gd name="adj" fmla="val 5806"/>
            </a:avLst>
          </a:prstGeom>
          <a:solidFill>
            <a:srgbClr val="1F0F38"/>
          </a:solidFill>
          <a:ln w="38100">
            <a:solidFill>
              <a:srgbClr val="D42A6E"/>
            </a:solidFill>
            <a:prstDash val="solid"/>
          </a:ln>
        </p:spPr>
        <p:txBody>
          <a:bodyPr/>
          <a:lstStyle/>
          <a:p>
            <a:endParaRPr lang="en-US"/>
          </a:p>
        </p:txBody>
      </p:sp>
      <p:sp>
        <p:nvSpPr>
          <p:cNvPr id="14" name="Shape 11"/>
          <p:cNvSpPr/>
          <p:nvPr/>
        </p:nvSpPr>
        <p:spPr>
          <a:xfrm>
            <a:off x="4612538" y="2788920"/>
            <a:ext cx="731520" cy="731520"/>
          </a:xfrm>
          <a:prstGeom prst="ellipse">
            <a:avLst/>
          </a:prstGeom>
          <a:solidFill>
            <a:srgbClr val="D42A6E"/>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795418" y="2971800"/>
            <a:ext cx="365760" cy="365760"/>
          </a:xfrm>
          <a:prstGeom prst="rect">
            <a:avLst/>
          </a:prstGeom>
        </p:spPr>
      </p:pic>
      <p:sp>
        <p:nvSpPr>
          <p:cNvPr id="16" name="Text 12"/>
          <p:cNvSpPr txBox="1"/>
          <p:nvPr/>
        </p:nvSpPr>
        <p:spPr>
          <a:xfrm>
            <a:off x="5481218" y="2788920"/>
            <a:ext cx="2235098" cy="73152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Copilot Cowork</a:t>
            </a:r>
            <a:endParaRPr lang="en-US" sz="2100" dirty="0"/>
          </a:p>
        </p:txBody>
      </p:sp>
      <p:sp>
        <p:nvSpPr>
          <p:cNvPr id="17" name="Text 13"/>
          <p:cNvSpPr txBox="1"/>
          <p:nvPr/>
        </p:nvSpPr>
        <p:spPr>
          <a:xfrm>
            <a:off x="4612538" y="3703320"/>
            <a:ext cx="2966618" cy="731520"/>
          </a:xfrm>
          <a:prstGeom prst="rect">
            <a:avLst/>
          </a:prstGeom>
          <a:noFill/>
          <a:ln/>
        </p:spPr>
        <p:txBody>
          <a:bodyPr wrap="square" lIns="0" tIns="0" rIns="0" bIns="0" rtlCol="0" anchor="t"/>
          <a:lstStyle/>
          <a:p>
            <a:pPr marL="0" indent="0">
              <a:buNone/>
            </a:pPr>
            <a:r>
              <a:rPr lang="en-US" sz="1800" i="1" dirty="0">
                <a:solidFill>
                  <a:srgbClr val="FFFFFF"/>
                </a:solidFill>
                <a:latin typeface="Arial" pitchFamily="34" charset="0"/>
                <a:ea typeface="Arial" pitchFamily="34" charset="-122"/>
                <a:cs typeface="Arial" pitchFamily="34" charset="-120"/>
              </a:rPr>
              <a:t>"Do this multi-step workflow for me"</a:t>
            </a:r>
            <a:endParaRPr lang="en-US" sz="1800" dirty="0"/>
          </a:p>
        </p:txBody>
      </p:sp>
      <p:sp>
        <p:nvSpPr>
          <p:cNvPr id="18" name="Text 14"/>
          <p:cNvSpPr txBox="1"/>
          <p:nvPr/>
        </p:nvSpPr>
        <p:spPr>
          <a:xfrm>
            <a:off x="4612538" y="4480560"/>
            <a:ext cx="2966618" cy="73152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Minutes to hours. It plans, acts, and checks in.</a:t>
            </a:r>
            <a:endParaRPr lang="en-US" sz="1500" dirty="0"/>
          </a:p>
        </p:txBody>
      </p:sp>
      <p:sp>
        <p:nvSpPr>
          <p:cNvPr id="19" name="Shape 15"/>
          <p:cNvSpPr/>
          <p:nvPr/>
        </p:nvSpPr>
        <p:spPr>
          <a:xfrm>
            <a:off x="8127797" y="2514600"/>
            <a:ext cx="3515258" cy="2834640"/>
          </a:xfrm>
          <a:prstGeom prst="roundRect">
            <a:avLst>
              <a:gd name="adj" fmla="val 5806"/>
            </a:avLst>
          </a:prstGeom>
          <a:solidFill>
            <a:srgbClr val="1F0F38"/>
          </a:solidFill>
          <a:ln w="19050">
            <a:solidFill>
              <a:srgbClr val="8C38E0"/>
            </a:solidFill>
            <a:prstDash val="solid"/>
          </a:ln>
        </p:spPr>
        <p:txBody>
          <a:bodyPr/>
          <a:lstStyle/>
          <a:p>
            <a:endParaRPr lang="en-US"/>
          </a:p>
        </p:txBody>
      </p:sp>
      <p:sp>
        <p:nvSpPr>
          <p:cNvPr id="20" name="Shape 16"/>
          <p:cNvSpPr/>
          <p:nvPr/>
        </p:nvSpPr>
        <p:spPr>
          <a:xfrm>
            <a:off x="8402117" y="2788920"/>
            <a:ext cx="731520" cy="731520"/>
          </a:xfrm>
          <a:prstGeom prst="ellipse">
            <a:avLst/>
          </a:prstGeom>
          <a:solidFill>
            <a:srgbClr val="8C38E0"/>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584997" y="2971800"/>
            <a:ext cx="365760" cy="365760"/>
          </a:xfrm>
          <a:prstGeom prst="rect">
            <a:avLst/>
          </a:prstGeom>
        </p:spPr>
      </p:pic>
      <p:sp>
        <p:nvSpPr>
          <p:cNvPr id="22" name="Text 17"/>
          <p:cNvSpPr txBox="1"/>
          <p:nvPr/>
        </p:nvSpPr>
        <p:spPr>
          <a:xfrm>
            <a:off x="9270797" y="2788920"/>
            <a:ext cx="2235098" cy="73152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Scout</a:t>
            </a:r>
            <a:endParaRPr lang="en-US" sz="2100" dirty="0"/>
          </a:p>
        </p:txBody>
      </p:sp>
      <p:sp>
        <p:nvSpPr>
          <p:cNvPr id="23" name="Text 18"/>
          <p:cNvSpPr txBox="1"/>
          <p:nvPr/>
        </p:nvSpPr>
        <p:spPr>
          <a:xfrm>
            <a:off x="8402117" y="3703320"/>
            <a:ext cx="2966618" cy="731520"/>
          </a:xfrm>
          <a:prstGeom prst="rect">
            <a:avLst/>
          </a:prstGeom>
          <a:noFill/>
          <a:ln/>
        </p:spPr>
        <p:txBody>
          <a:bodyPr wrap="square" lIns="0" tIns="0" rIns="0" bIns="0" rtlCol="0" anchor="t"/>
          <a:lstStyle/>
          <a:p>
            <a:pPr marL="0" indent="0">
              <a:buNone/>
            </a:pPr>
            <a:r>
              <a:rPr lang="en-US" sz="1800" i="1" dirty="0">
                <a:solidFill>
                  <a:srgbClr val="FFFFFF"/>
                </a:solidFill>
                <a:latin typeface="Arial" pitchFamily="34" charset="0"/>
                <a:ea typeface="Arial" pitchFamily="34" charset="-122"/>
                <a:cs typeface="Arial" pitchFamily="34" charset="-120"/>
              </a:rPr>
              <a:t>"Take this work off my plate"</a:t>
            </a:r>
            <a:endParaRPr lang="en-US" sz="1800" dirty="0"/>
          </a:p>
        </p:txBody>
      </p:sp>
      <p:sp>
        <p:nvSpPr>
          <p:cNvPr id="24" name="Text 19"/>
          <p:cNvSpPr txBox="1"/>
          <p:nvPr/>
        </p:nvSpPr>
        <p:spPr>
          <a:xfrm>
            <a:off x="8402117" y="4480560"/>
            <a:ext cx="2966618" cy="73152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Ongoing. Runs when it needs to.</a:t>
            </a:r>
            <a:endParaRPr lang="en-US" sz="1500" dirty="0"/>
          </a:p>
        </p:txBody>
      </p:sp>
      <p:sp>
        <p:nvSpPr>
          <p:cNvPr id="25" name="Text 20"/>
          <p:cNvSpPr txBox="1"/>
          <p:nvPr/>
        </p:nvSpPr>
        <p:spPr>
          <a:xfrm>
            <a:off x="548640" y="5486400"/>
            <a:ext cx="10058400" cy="365760"/>
          </a:xfrm>
          <a:prstGeom prst="rect">
            <a:avLst/>
          </a:prstGeom>
          <a:noFill/>
          <a:ln/>
        </p:spPr>
        <p:txBody>
          <a:bodyPr wrap="square" lIns="0" tIns="0" rIns="0" bIns="0" rtlCol="0" anchor="ctr"/>
          <a:lstStyle/>
          <a:p>
            <a:pPr marL="0" indent="0">
              <a:buNone/>
            </a:pPr>
            <a:r>
              <a:rPr lang="en-US" sz="1500" i="1" dirty="0">
                <a:solidFill>
                  <a:srgbClr val="CFC8E0"/>
                </a:solidFill>
                <a:latin typeface="Arial" pitchFamily="34" charset="0"/>
                <a:ea typeface="Arial" pitchFamily="34" charset="-122"/>
                <a:cs typeface="Arial" pitchFamily="34" charset="-120"/>
              </a:rPr>
              <a:t>All three run on Work IQ: your mail, files, meetings, chats, and people.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Copilot Cowork vs. Claude Cowork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Similar idea. Very different fit for work.</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2935224"/>
        </p:xfrm>
        <a:graphic>
          <a:graphicData uri="http://schemas.openxmlformats.org/drawingml/2006/table">
            <a:tbl>
              <a:tblPr/>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0">
                <a:tc>
                  <a:txBody>
                    <a:bodyPr/>
                    <a:lstStyle/>
                    <a:p>
                      <a:pPr marL="0" indent="0">
                        <a:buNone/>
                      </a:pP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Copilot Cowork</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Claude Cowork</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extLst>
                  <a:ext uri="{0D108BD9-81ED-4DB2-BD59-A6C34878D82A}">
                    <a16:rowId xmlns:a16="http://schemas.microsoft.com/office/drawing/2014/main" val="10000"/>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Work context</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Work IQ: your whole M365 world plus Power BI, Dynamics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Only what you give it</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1"/>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Actions in M365</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Sends, schedules, posts, and creates files natively</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You often finish the last step yourself</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2"/>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Where it runs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Cloud. Keeps going with your laptop closed or on mobile</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Your desktop needs to stay on and awake</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3"/>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Governance</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Inside M365 permissions, labels, and admin controls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On your device, outside M365 governance</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4"/>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Models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Claude and GPT models, admin-controlled</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Claude models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5532120"/>
            <a:ext cx="7315200" cy="320040"/>
          </a:xfrm>
          <a:prstGeom prst="rect">
            <a:avLst/>
          </a:prstGeom>
          <a:noFill/>
          <a:ln/>
        </p:spPr>
        <p:txBody>
          <a:bodyPr wrap="square" lIns="0" tIns="0" rIns="0" bIns="0" rtlCol="0" anchor="ctr"/>
          <a:lstStyle/>
          <a:p>
            <a:pPr marL="0" indent="0">
              <a:buNone/>
            </a:pPr>
            <a:r>
              <a:rPr lang="en-US" sz="1200" i="1" dirty="0">
                <a:solidFill>
                  <a:srgbClr val="CFC8E0"/>
                </a:solidFill>
                <a:latin typeface="Arial" pitchFamily="34" charset="0"/>
                <a:ea typeface="Arial" pitchFamily="34" charset="-122"/>
                <a:cs typeface="Arial" pitchFamily="34" charset="-120"/>
              </a:rPr>
              <a:t>Source: Microsoft comparison, last reviewed June 2026</a:t>
            </a:r>
            <a:endParaRPr lang="en-US" sz="1200" dirty="0"/>
          </a:p>
        </p:txBody>
      </p:sp>
      <p:sp>
        <p:nvSpPr>
          <p:cNvPr id="25" name="Slide Number Placeholder 0"/>
          <p:cNvSpPr>
            <a:spLocks noGrp="1"/>
          </p:cNvSpPr>
          <p:nvPr>
            <p:ph type="sldNum" sz="quarter" idx="4294967295"/>
          </p:nvPr>
        </p:nvSpPr>
        <p:spPr>
          <a:xfrm>
            <a:off x="10317175" y="6254496"/>
            <a:ext cx="640080" cy="292608"/>
          </a:xfrm>
          <a:prstGeom prst="rect">
            <a:avLst/>
          </a:prstGeom>
          <a:extLst>
            <a:ext uri="{C572A759-6A51-4108-AA02-DFA0A04FC94B}">
              <ma14:wrappingTextBoxFlag xmlns="" xmlns:ma14="http://schemas.microsoft.com/office/mac/drawingml/2011/main" val="0"/>
            </a:ext>
          </a:extLst>
        </p:spPr>
        <p:txBody>
          <a:bodyPr anchor="ctr"/>
          <a:lstStyle>
            <a:lvl1pPr>
              <a:defRPr sz="1200">
                <a:solidFill>
                  <a:srgbClr val="CFC8E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3657600" cy="1371600"/>
          </a:xfrm>
          <a:prstGeom prst="rect">
            <a:avLst/>
          </a:prstGeom>
          <a:noFill/>
          <a:ln/>
        </p:spPr>
        <p:txBody>
          <a:bodyPr wrap="square" lIns="0" tIns="0" rIns="0" bIns="0" rtlCol="0" anchor="b"/>
          <a:lstStyle/>
          <a:p>
            <a:pPr marL="0" indent="0">
              <a:buNone/>
            </a:pPr>
            <a:r>
              <a:rPr lang="en-US" sz="8800" b="1" dirty="0">
                <a:solidFill>
                  <a:srgbClr val="FF5C9E"/>
                </a:solidFill>
                <a:latin typeface="Arial" pitchFamily="34" charset="0"/>
                <a:ea typeface="Arial" pitchFamily="34" charset="-122"/>
                <a:cs typeface="Arial" pitchFamily="34" charset="-120"/>
              </a:rPr>
              <a:t>02</a:t>
            </a:r>
            <a:endParaRPr lang="en-US" sz="8800" dirty="0"/>
          </a:p>
        </p:txBody>
      </p:sp>
      <p:sp>
        <p:nvSpPr>
          <p:cNvPr id="3" name="Text 0"/>
          <p:cNvSpPr>
            <a:spLocks noGrp="1"/>
          </p:cNvSpPr>
          <p:nvPr>
            <p:ph type="title" idx="101" hasCustomPrompt="1"/>
          </p:nvPr>
        </p:nvSpPr>
        <p:spPr>
          <a:xfrm>
            <a:off x="548640" y="2743200"/>
            <a:ext cx="8686800" cy="155448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How Cowork works</a:t>
            </a:r>
            <a:endParaRPr lang="en-US" sz="4800" dirty="0"/>
          </a:p>
        </p:txBody>
      </p:sp>
      <p:sp>
        <p:nvSpPr>
          <p:cNvPr id="4" name="Text 0"/>
          <p:cNvSpPr>
            <a:spLocks noGrp="1"/>
          </p:cNvSpPr>
          <p:nvPr>
            <p:ph type="body" idx="102" hasCustomPrompt="1"/>
          </p:nvPr>
        </p:nvSpPr>
        <p:spPr>
          <a:xfrm>
            <a:off x="548640" y="4389120"/>
            <a:ext cx="8686800" cy="73152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From prompting to delegating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What happens when you hand Cowork a task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It takes ownership of the outcome, not just the next reply</a:t>
            </a:r>
            <a:endParaRPr lang="en-US" sz="1800" dirty="0"/>
          </a:p>
        </p:txBody>
      </p:sp>
      <p:sp>
        <p:nvSpPr>
          <p:cNvPr id="4" name="Shape 2"/>
          <p:cNvSpPr/>
          <p:nvPr/>
        </p:nvSpPr>
        <p:spPr>
          <a:xfrm>
            <a:off x="548640" y="1828800"/>
            <a:ext cx="1889699" cy="3291840"/>
          </a:xfrm>
          <a:prstGeom prst="roundRect">
            <a:avLst>
              <a:gd name="adj" fmla="val 8710"/>
            </a:avLst>
          </a:prstGeom>
          <a:solidFill>
            <a:srgbClr val="1F0F38"/>
          </a:solidFill>
          <a:ln w="19050">
            <a:solidFill>
              <a:srgbClr val="3B74F0"/>
            </a:solidFill>
            <a:prstDash val="solid"/>
          </a:ln>
        </p:spPr>
        <p:txBody>
          <a:bodyPr/>
          <a:lstStyle/>
          <a:p>
            <a:endParaRPr lang="en-US"/>
          </a:p>
        </p:txBody>
      </p:sp>
      <p:sp>
        <p:nvSpPr>
          <p:cNvPr id="5" name="Shape 3"/>
          <p:cNvSpPr/>
          <p:nvPr/>
        </p:nvSpPr>
        <p:spPr>
          <a:xfrm>
            <a:off x="1127730" y="210312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310610" y="2286000"/>
            <a:ext cx="365760" cy="365760"/>
          </a:xfrm>
          <a:prstGeom prst="rect">
            <a:avLst/>
          </a:prstGeom>
        </p:spPr>
      </p:pic>
      <p:sp>
        <p:nvSpPr>
          <p:cNvPr id="7" name="Text 4"/>
          <p:cNvSpPr txBox="1"/>
          <p:nvPr/>
        </p:nvSpPr>
        <p:spPr>
          <a:xfrm>
            <a:off x="685800" y="297180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You describe the outcome</a:t>
            </a:r>
            <a:endParaRPr lang="en-US" sz="1700" dirty="0"/>
          </a:p>
        </p:txBody>
      </p:sp>
      <p:sp>
        <p:nvSpPr>
          <p:cNvPr id="8" name="Text 5"/>
          <p:cNvSpPr txBox="1"/>
          <p:nvPr/>
        </p:nvSpPr>
        <p:spPr>
          <a:xfrm>
            <a:off x="685800" y="3657600"/>
            <a:ext cx="1615379" cy="137160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Goal, sources, format, boundaries</a:t>
            </a:r>
            <a:endParaRPr lang="en-US" sz="1400" dirty="0"/>
          </a:p>
        </p:txBody>
      </p:sp>
      <p:sp>
        <p:nvSpPr>
          <p:cNvPr id="9" name="Shape 6"/>
          <p:cNvSpPr/>
          <p:nvPr/>
        </p:nvSpPr>
        <p:spPr>
          <a:xfrm>
            <a:off x="2484059" y="2468880"/>
            <a:ext cx="320040" cy="0"/>
          </a:xfrm>
          <a:prstGeom prst="line">
            <a:avLst/>
          </a:prstGeom>
          <a:noFill/>
          <a:ln w="25400">
            <a:solidFill>
              <a:srgbClr val="CFC8E0"/>
            </a:solidFill>
            <a:prstDash val="solid"/>
            <a:tailEnd type="triangle"/>
          </a:ln>
        </p:spPr>
        <p:txBody>
          <a:bodyPr/>
          <a:lstStyle/>
          <a:p>
            <a:endParaRPr lang="en-US"/>
          </a:p>
        </p:txBody>
      </p:sp>
      <p:sp>
        <p:nvSpPr>
          <p:cNvPr id="10" name="Shape 7"/>
          <p:cNvSpPr/>
          <p:nvPr/>
        </p:nvSpPr>
        <p:spPr>
          <a:xfrm>
            <a:off x="2849819" y="1828800"/>
            <a:ext cx="1889699" cy="3291840"/>
          </a:xfrm>
          <a:prstGeom prst="roundRect">
            <a:avLst>
              <a:gd name="adj" fmla="val 8710"/>
            </a:avLst>
          </a:prstGeom>
          <a:solidFill>
            <a:srgbClr val="1F0F38"/>
          </a:solidFill>
          <a:ln w="19050">
            <a:solidFill>
              <a:srgbClr val="5A56E8"/>
            </a:solidFill>
            <a:prstDash val="solid"/>
          </a:ln>
        </p:spPr>
        <p:txBody>
          <a:bodyPr/>
          <a:lstStyle/>
          <a:p>
            <a:endParaRPr lang="en-US"/>
          </a:p>
        </p:txBody>
      </p:sp>
      <p:sp>
        <p:nvSpPr>
          <p:cNvPr id="11" name="Shape 8"/>
          <p:cNvSpPr/>
          <p:nvPr/>
        </p:nvSpPr>
        <p:spPr>
          <a:xfrm>
            <a:off x="3428909" y="2103120"/>
            <a:ext cx="731520" cy="731520"/>
          </a:xfrm>
          <a:prstGeom prst="ellipse">
            <a:avLst/>
          </a:prstGeom>
          <a:solidFill>
            <a:srgbClr val="5A56E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611789" y="2286000"/>
            <a:ext cx="365760" cy="365760"/>
          </a:xfrm>
          <a:prstGeom prst="rect">
            <a:avLst/>
          </a:prstGeom>
        </p:spPr>
      </p:pic>
      <p:sp>
        <p:nvSpPr>
          <p:cNvPr id="13" name="Text 9"/>
          <p:cNvSpPr txBox="1"/>
          <p:nvPr/>
        </p:nvSpPr>
        <p:spPr>
          <a:xfrm>
            <a:off x="2986979" y="297180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It builds a plan</a:t>
            </a:r>
            <a:endParaRPr lang="en-US" sz="1700" dirty="0"/>
          </a:p>
        </p:txBody>
      </p:sp>
      <p:sp>
        <p:nvSpPr>
          <p:cNvPr id="14" name="Text 10"/>
          <p:cNvSpPr txBox="1"/>
          <p:nvPr/>
        </p:nvSpPr>
        <p:spPr>
          <a:xfrm>
            <a:off x="2986979" y="3657600"/>
            <a:ext cx="1615379" cy="137160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Steps you can see and edit</a:t>
            </a:r>
            <a:endParaRPr lang="en-US" sz="1400" dirty="0"/>
          </a:p>
        </p:txBody>
      </p:sp>
      <p:sp>
        <p:nvSpPr>
          <p:cNvPr id="15" name="Shape 11"/>
          <p:cNvSpPr/>
          <p:nvPr/>
        </p:nvSpPr>
        <p:spPr>
          <a:xfrm>
            <a:off x="4785238" y="2468880"/>
            <a:ext cx="320040" cy="0"/>
          </a:xfrm>
          <a:prstGeom prst="line">
            <a:avLst/>
          </a:prstGeom>
          <a:noFill/>
          <a:ln w="25400">
            <a:solidFill>
              <a:srgbClr val="CFC8E0"/>
            </a:solidFill>
            <a:prstDash val="solid"/>
            <a:tailEnd type="triangle"/>
          </a:ln>
        </p:spPr>
        <p:txBody>
          <a:bodyPr/>
          <a:lstStyle/>
          <a:p>
            <a:endParaRPr lang="en-US"/>
          </a:p>
        </p:txBody>
      </p:sp>
      <p:sp>
        <p:nvSpPr>
          <p:cNvPr id="16" name="Shape 12"/>
          <p:cNvSpPr/>
          <p:nvPr/>
        </p:nvSpPr>
        <p:spPr>
          <a:xfrm>
            <a:off x="5150998" y="1828800"/>
            <a:ext cx="1889699" cy="3291840"/>
          </a:xfrm>
          <a:prstGeom prst="roundRect">
            <a:avLst>
              <a:gd name="adj" fmla="val 8710"/>
            </a:avLst>
          </a:prstGeom>
          <a:solidFill>
            <a:srgbClr val="1F0F38"/>
          </a:solidFill>
          <a:ln w="19050">
            <a:solidFill>
              <a:srgbClr val="8C38E0"/>
            </a:solidFill>
            <a:prstDash val="solid"/>
          </a:ln>
        </p:spPr>
        <p:txBody>
          <a:bodyPr/>
          <a:lstStyle/>
          <a:p>
            <a:endParaRPr lang="en-US"/>
          </a:p>
        </p:txBody>
      </p:sp>
      <p:sp>
        <p:nvSpPr>
          <p:cNvPr id="17" name="Shape 13"/>
          <p:cNvSpPr/>
          <p:nvPr/>
        </p:nvSpPr>
        <p:spPr>
          <a:xfrm>
            <a:off x="5730088" y="2103120"/>
            <a:ext cx="731520" cy="731520"/>
          </a:xfrm>
          <a:prstGeom prst="ellipse">
            <a:avLst/>
          </a:prstGeom>
          <a:solidFill>
            <a:srgbClr val="8C38E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912968" y="2286000"/>
            <a:ext cx="365760" cy="365760"/>
          </a:xfrm>
          <a:prstGeom prst="rect">
            <a:avLst/>
          </a:prstGeom>
        </p:spPr>
      </p:pic>
      <p:sp>
        <p:nvSpPr>
          <p:cNvPr id="19" name="Text 14"/>
          <p:cNvSpPr txBox="1"/>
          <p:nvPr/>
        </p:nvSpPr>
        <p:spPr>
          <a:xfrm>
            <a:off x="5288158" y="297180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It works across apps</a:t>
            </a:r>
            <a:endParaRPr lang="en-US" sz="1700" dirty="0"/>
          </a:p>
        </p:txBody>
      </p:sp>
      <p:sp>
        <p:nvSpPr>
          <p:cNvPr id="20" name="Text 15"/>
          <p:cNvSpPr txBox="1"/>
          <p:nvPr/>
        </p:nvSpPr>
        <p:spPr>
          <a:xfrm>
            <a:off x="5288158" y="3657600"/>
            <a:ext cx="1615379" cy="137160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Mail, calendar, Teams, files, web</a:t>
            </a:r>
            <a:endParaRPr lang="en-US" sz="1400" dirty="0"/>
          </a:p>
        </p:txBody>
      </p:sp>
      <p:sp>
        <p:nvSpPr>
          <p:cNvPr id="21" name="Shape 16"/>
          <p:cNvSpPr/>
          <p:nvPr/>
        </p:nvSpPr>
        <p:spPr>
          <a:xfrm>
            <a:off x="7086417" y="2468880"/>
            <a:ext cx="320040" cy="0"/>
          </a:xfrm>
          <a:prstGeom prst="line">
            <a:avLst/>
          </a:prstGeom>
          <a:noFill/>
          <a:ln w="25400">
            <a:solidFill>
              <a:srgbClr val="CFC8E0"/>
            </a:solidFill>
            <a:prstDash val="solid"/>
            <a:tailEnd type="triangle"/>
          </a:ln>
        </p:spPr>
        <p:txBody>
          <a:bodyPr/>
          <a:lstStyle/>
          <a:p>
            <a:endParaRPr lang="en-US"/>
          </a:p>
        </p:txBody>
      </p:sp>
      <p:sp>
        <p:nvSpPr>
          <p:cNvPr id="22" name="Shape 17"/>
          <p:cNvSpPr/>
          <p:nvPr/>
        </p:nvSpPr>
        <p:spPr>
          <a:xfrm>
            <a:off x="7452177" y="1828800"/>
            <a:ext cx="1889699" cy="3291840"/>
          </a:xfrm>
          <a:prstGeom prst="roundRect">
            <a:avLst>
              <a:gd name="adj" fmla="val 8710"/>
            </a:avLst>
          </a:prstGeom>
          <a:solidFill>
            <a:srgbClr val="1F0F38"/>
          </a:solidFill>
          <a:ln w="19050">
            <a:solidFill>
              <a:srgbClr val="B0339E"/>
            </a:solidFill>
            <a:prstDash val="solid"/>
          </a:ln>
        </p:spPr>
        <p:txBody>
          <a:bodyPr/>
          <a:lstStyle/>
          <a:p>
            <a:endParaRPr lang="en-US"/>
          </a:p>
        </p:txBody>
      </p:sp>
      <p:sp>
        <p:nvSpPr>
          <p:cNvPr id="23" name="Shape 18"/>
          <p:cNvSpPr/>
          <p:nvPr/>
        </p:nvSpPr>
        <p:spPr>
          <a:xfrm>
            <a:off x="8031267" y="2103120"/>
            <a:ext cx="731520" cy="731520"/>
          </a:xfrm>
          <a:prstGeom prst="ellipse">
            <a:avLst/>
          </a:prstGeom>
          <a:solidFill>
            <a:srgbClr val="B0339E"/>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8214147" y="2286000"/>
            <a:ext cx="365760" cy="365760"/>
          </a:xfrm>
          <a:prstGeom prst="rect">
            <a:avLst/>
          </a:prstGeom>
        </p:spPr>
      </p:pic>
      <p:sp>
        <p:nvSpPr>
          <p:cNvPr id="25" name="Text 19"/>
          <p:cNvSpPr txBox="1"/>
          <p:nvPr/>
        </p:nvSpPr>
        <p:spPr>
          <a:xfrm>
            <a:off x="7589337" y="297180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It checks in</a:t>
            </a:r>
            <a:endParaRPr lang="en-US" sz="1700" dirty="0"/>
          </a:p>
        </p:txBody>
      </p:sp>
      <p:sp>
        <p:nvSpPr>
          <p:cNvPr id="26" name="Text 20"/>
          <p:cNvSpPr txBox="1"/>
          <p:nvPr/>
        </p:nvSpPr>
        <p:spPr>
          <a:xfrm>
            <a:off x="7589337" y="3657600"/>
            <a:ext cx="1615379" cy="137160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Approves before it sends, posts, or books</a:t>
            </a:r>
            <a:endParaRPr lang="en-US" sz="1400" dirty="0"/>
          </a:p>
        </p:txBody>
      </p:sp>
      <p:sp>
        <p:nvSpPr>
          <p:cNvPr id="27" name="Shape 21"/>
          <p:cNvSpPr/>
          <p:nvPr/>
        </p:nvSpPr>
        <p:spPr>
          <a:xfrm>
            <a:off x="9387596" y="2468880"/>
            <a:ext cx="320040" cy="0"/>
          </a:xfrm>
          <a:prstGeom prst="line">
            <a:avLst/>
          </a:prstGeom>
          <a:noFill/>
          <a:ln w="25400">
            <a:solidFill>
              <a:srgbClr val="CFC8E0"/>
            </a:solidFill>
            <a:prstDash val="solid"/>
            <a:tailEnd type="triangle"/>
          </a:ln>
        </p:spPr>
        <p:txBody>
          <a:bodyPr/>
          <a:lstStyle/>
          <a:p>
            <a:endParaRPr lang="en-US"/>
          </a:p>
        </p:txBody>
      </p:sp>
      <p:sp>
        <p:nvSpPr>
          <p:cNvPr id="28" name="Shape 22"/>
          <p:cNvSpPr/>
          <p:nvPr/>
        </p:nvSpPr>
        <p:spPr>
          <a:xfrm>
            <a:off x="9753356" y="1828800"/>
            <a:ext cx="1889699" cy="3291840"/>
          </a:xfrm>
          <a:prstGeom prst="roundRect">
            <a:avLst>
              <a:gd name="adj" fmla="val 8710"/>
            </a:avLst>
          </a:prstGeom>
          <a:solidFill>
            <a:srgbClr val="1F0F38"/>
          </a:solidFill>
          <a:ln w="19050">
            <a:solidFill>
              <a:srgbClr val="D42A6E"/>
            </a:solidFill>
            <a:prstDash val="solid"/>
          </a:ln>
        </p:spPr>
        <p:txBody>
          <a:bodyPr/>
          <a:lstStyle/>
          <a:p>
            <a:endParaRPr lang="en-US"/>
          </a:p>
        </p:txBody>
      </p:sp>
      <p:sp>
        <p:nvSpPr>
          <p:cNvPr id="29" name="Shape 23"/>
          <p:cNvSpPr/>
          <p:nvPr/>
        </p:nvSpPr>
        <p:spPr>
          <a:xfrm>
            <a:off x="10332446" y="2103120"/>
            <a:ext cx="731520" cy="731520"/>
          </a:xfrm>
          <a:prstGeom prst="ellipse">
            <a:avLst/>
          </a:prstGeom>
          <a:solidFill>
            <a:srgbClr val="D42A6E"/>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10515326" y="2286000"/>
            <a:ext cx="365760" cy="365760"/>
          </a:xfrm>
          <a:prstGeom prst="rect">
            <a:avLst/>
          </a:prstGeom>
        </p:spPr>
      </p:pic>
      <p:sp>
        <p:nvSpPr>
          <p:cNvPr id="31" name="Text 24"/>
          <p:cNvSpPr txBox="1"/>
          <p:nvPr/>
        </p:nvSpPr>
        <p:spPr>
          <a:xfrm>
            <a:off x="9890516" y="297180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You get finished work</a:t>
            </a:r>
            <a:endParaRPr lang="en-US" sz="1700" dirty="0"/>
          </a:p>
        </p:txBody>
      </p:sp>
      <p:sp>
        <p:nvSpPr>
          <p:cNvPr id="32" name="Text 25"/>
          <p:cNvSpPr txBox="1"/>
          <p:nvPr/>
        </p:nvSpPr>
        <p:spPr>
          <a:xfrm>
            <a:off x="9890516" y="3657600"/>
            <a:ext cx="1615379" cy="137160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Saved to OneDrive, ready to share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468880"/>
            <a:ext cx="9144000" cy="173736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Cowork 101: clear my fest inbox</a:t>
            </a:r>
            <a:endParaRPr lang="en-US" sz="4800" dirty="0"/>
          </a:p>
        </p:txBody>
      </p:sp>
      <p:sp>
        <p:nvSpPr>
          <p:cNvPr id="3" name="Text 1"/>
          <p:cNvSpPr>
            <a:spLocks noGrp="1"/>
          </p:cNvSpPr>
          <p:nvPr>
            <p:ph type="body" idx="102" hasCustomPrompt="1"/>
          </p:nvPr>
        </p:nvSpPr>
        <p:spPr>
          <a:xfrm>
            <a:off x="548640" y="4297680"/>
            <a:ext cx="9144000" cy="109728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It replies, books, posts and sets a rule, and asks before anything leaves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91440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The mindset shift: delegate, don't prompt</a:t>
            </a:r>
            <a:endParaRPr lang="en-US" sz="3600" dirty="0"/>
          </a:p>
        </p:txBody>
      </p:sp>
      <p:sp>
        <p:nvSpPr>
          <p:cNvPr id="3" name="Text 0"/>
          <p:cNvSpPr>
            <a:spLocks noGrp="1"/>
          </p:cNvSpPr>
          <p:nvPr>
            <p:ph type="body" idx="101" hasCustomPrompt="1"/>
          </p:nvPr>
        </p:nvSpPr>
        <p:spPr>
          <a:xfrm>
            <a:off x="548640" y="1554480"/>
            <a:ext cx="5303520" cy="548640"/>
          </a:xfrm>
          <a:prstGeom prst="rect">
            <a:avLst/>
          </a:prstGeom>
          <a:noFill/>
          <a:ln/>
        </p:spPr>
        <p:txBody>
          <a:bodyPr wrap="square" lIns="0" tIns="0" rIns="0" bIns="0" rtlCol="0" anchor="ctr"/>
          <a:lstStyle/>
          <a:p>
            <a:pPr marL="0" indent="0">
              <a:buNone/>
            </a:pPr>
            <a:r>
              <a:rPr lang="en-US" sz="2400" b="1" dirty="0">
                <a:solidFill>
                  <a:srgbClr val="5B8CF5"/>
                </a:solidFill>
                <a:latin typeface="Arial" pitchFamily="34" charset="0"/>
                <a:ea typeface="Arial" pitchFamily="34" charset="-122"/>
                <a:cs typeface="Arial" pitchFamily="34" charset="-120"/>
              </a:rPr>
              <a:t>Prompting (the old habit)</a:t>
            </a:r>
            <a:endParaRPr lang="en-US" sz="2400" dirty="0"/>
          </a:p>
        </p:txBody>
      </p:sp>
      <p:sp>
        <p:nvSpPr>
          <p:cNvPr id="4" name="Text 0"/>
          <p:cNvSpPr>
            <a:spLocks noGrp="1"/>
          </p:cNvSpPr>
          <p:nvPr>
            <p:ph type="body" idx="102" hasCustomPrompt="1"/>
          </p:nvPr>
        </p:nvSpPr>
        <p:spPr>
          <a:xfrm>
            <a:off x="548640" y="2194560"/>
            <a:ext cx="5303520" cy="3794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Craft the perfect wording</a:t>
            </a:r>
            <a:endParaRPr lang="en-US" sz="1800" dirty="0"/>
          </a:p>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Plan every step yourself</a:t>
            </a:r>
            <a:endParaRPr lang="en-US" sz="1800" dirty="0"/>
          </a:p>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One app at a time</a:t>
            </a:r>
            <a:endParaRPr lang="en-US" sz="1800" dirty="0"/>
          </a:p>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Start over when it's not right</a:t>
            </a:r>
            <a:endParaRPr lang="en-US" sz="1800" dirty="0"/>
          </a:p>
        </p:txBody>
      </p:sp>
      <p:sp>
        <p:nvSpPr>
          <p:cNvPr id="5" name="Text 0"/>
          <p:cNvSpPr>
            <a:spLocks noGrp="1"/>
          </p:cNvSpPr>
          <p:nvPr>
            <p:ph type="body" idx="103" hasCustomPrompt="1"/>
          </p:nvPr>
        </p:nvSpPr>
        <p:spPr>
          <a:xfrm>
            <a:off x="6336792" y="1554480"/>
            <a:ext cx="5303520" cy="548640"/>
          </a:xfrm>
          <a:prstGeom prst="rect">
            <a:avLst/>
          </a:prstGeom>
          <a:noFill/>
          <a:ln/>
        </p:spPr>
        <p:txBody>
          <a:bodyPr wrap="square" lIns="0" tIns="0" rIns="0" bIns="0" rtlCol="0" anchor="ctr"/>
          <a:lstStyle/>
          <a:p>
            <a:pPr marL="0" indent="0">
              <a:buNone/>
            </a:pPr>
            <a:r>
              <a:rPr lang="en-US" sz="2400" b="1" dirty="0">
                <a:solidFill>
                  <a:srgbClr val="FF5C9E"/>
                </a:solidFill>
                <a:latin typeface="Arial" pitchFamily="34" charset="0"/>
                <a:ea typeface="Arial" pitchFamily="34" charset="-122"/>
                <a:cs typeface="Arial" pitchFamily="34" charset="-120"/>
              </a:rPr>
              <a:t>Delegating (the Cowork way)</a:t>
            </a:r>
            <a:endParaRPr lang="en-US" sz="2400" dirty="0"/>
          </a:p>
        </p:txBody>
      </p:sp>
      <p:sp>
        <p:nvSpPr>
          <p:cNvPr id="6" name="Text 0"/>
          <p:cNvSpPr>
            <a:spLocks noGrp="1"/>
          </p:cNvSpPr>
          <p:nvPr>
            <p:ph type="body" idx="104" hasCustomPrompt="1"/>
          </p:nvPr>
        </p:nvSpPr>
        <p:spPr>
          <a:xfrm>
            <a:off x="6336792" y="2194560"/>
            <a:ext cx="5303520" cy="3794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Describe the outcome and audience</a:t>
            </a:r>
            <a:endParaRPr lang="en-US" sz="1800" dirty="0"/>
          </a:p>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Name the sources and the format</a:t>
            </a:r>
            <a:endParaRPr lang="en-US" sz="1800" dirty="0"/>
          </a:p>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Set boundaries: when to ask vs. act</a:t>
            </a:r>
            <a:endParaRPr lang="en-US" sz="1800" dirty="0"/>
          </a:p>
          <a:p>
            <a:pPr marL="342900" indent="-3429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Refine in the same thread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Work IQ: why Cowork knows your work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The intelligence layer under every Copilot, including Cowork</a:t>
            </a:r>
            <a:endParaRPr lang="en-US" sz="1800" dirty="0"/>
          </a:p>
        </p:txBody>
      </p:sp>
      <p:sp>
        <p:nvSpPr>
          <p:cNvPr id="4" name="Shape 2"/>
          <p:cNvSpPr/>
          <p:nvPr/>
        </p:nvSpPr>
        <p:spPr>
          <a:xfrm>
            <a:off x="548640" y="1783080"/>
            <a:ext cx="6766560" cy="1005840"/>
          </a:xfrm>
          <a:prstGeom prst="roundRect">
            <a:avLst>
              <a:gd name="adj" fmla="val 13636"/>
            </a:avLst>
          </a:prstGeom>
          <a:solidFill>
            <a:srgbClr val="D42A6E"/>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22960" y="2057400"/>
            <a:ext cx="457200" cy="457200"/>
          </a:xfrm>
          <a:prstGeom prst="rect">
            <a:avLst/>
          </a:prstGeom>
        </p:spPr>
      </p:pic>
      <p:sp>
        <p:nvSpPr>
          <p:cNvPr id="6" name="Text 3"/>
          <p:cNvSpPr txBox="1"/>
          <p:nvPr/>
        </p:nvSpPr>
        <p:spPr>
          <a:xfrm>
            <a:off x="1463040" y="1783080"/>
            <a:ext cx="5029200" cy="10058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Skills + tools</a:t>
            </a:r>
            <a:endParaRPr lang="en-US" sz="2200" dirty="0"/>
          </a:p>
        </p:txBody>
      </p:sp>
      <p:sp>
        <p:nvSpPr>
          <p:cNvPr id="7" name="Shape 4"/>
          <p:cNvSpPr/>
          <p:nvPr/>
        </p:nvSpPr>
        <p:spPr>
          <a:xfrm>
            <a:off x="1005840" y="2971800"/>
            <a:ext cx="5852160" cy="1005840"/>
          </a:xfrm>
          <a:prstGeom prst="roundRect">
            <a:avLst>
              <a:gd name="adj" fmla="val 13636"/>
            </a:avLst>
          </a:prstGeom>
          <a:solidFill>
            <a:srgbClr val="8C38E0"/>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280160" y="3246120"/>
            <a:ext cx="457200" cy="457200"/>
          </a:xfrm>
          <a:prstGeom prst="rect">
            <a:avLst/>
          </a:prstGeom>
        </p:spPr>
      </p:pic>
      <p:sp>
        <p:nvSpPr>
          <p:cNvPr id="9" name="Text 5"/>
          <p:cNvSpPr txBox="1"/>
          <p:nvPr/>
        </p:nvSpPr>
        <p:spPr>
          <a:xfrm>
            <a:off x="1920240" y="2971800"/>
            <a:ext cx="4114800" cy="10058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Context</a:t>
            </a:r>
            <a:endParaRPr lang="en-US" sz="2200" dirty="0"/>
          </a:p>
        </p:txBody>
      </p:sp>
      <p:sp>
        <p:nvSpPr>
          <p:cNvPr id="10" name="Shape 6"/>
          <p:cNvSpPr/>
          <p:nvPr/>
        </p:nvSpPr>
        <p:spPr>
          <a:xfrm>
            <a:off x="1463040" y="4160520"/>
            <a:ext cx="4937760" cy="1005840"/>
          </a:xfrm>
          <a:prstGeom prst="roundRect">
            <a:avLst>
              <a:gd name="adj" fmla="val 13636"/>
            </a:avLst>
          </a:prstGeom>
          <a:solidFill>
            <a:srgbClr val="3B74F0"/>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1737360" y="4434840"/>
            <a:ext cx="457200" cy="457200"/>
          </a:xfrm>
          <a:prstGeom prst="rect">
            <a:avLst/>
          </a:prstGeom>
        </p:spPr>
      </p:pic>
      <p:sp>
        <p:nvSpPr>
          <p:cNvPr id="12" name="Text 7"/>
          <p:cNvSpPr txBox="1"/>
          <p:nvPr/>
        </p:nvSpPr>
        <p:spPr>
          <a:xfrm>
            <a:off x="2377440" y="4160520"/>
            <a:ext cx="3200400" cy="10058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Data</a:t>
            </a:r>
            <a:endParaRPr lang="en-US" sz="2200" dirty="0"/>
          </a:p>
        </p:txBody>
      </p:sp>
      <p:sp>
        <p:nvSpPr>
          <p:cNvPr id="13" name="Text 8"/>
          <p:cNvSpPr txBox="1"/>
          <p:nvPr/>
        </p:nvSpPr>
        <p:spPr>
          <a:xfrm>
            <a:off x="7680960" y="1783080"/>
            <a:ext cx="3959352" cy="1005840"/>
          </a:xfrm>
          <a:prstGeom prst="rect">
            <a:avLst/>
          </a:prstGeom>
          <a:noFill/>
          <a:ln/>
        </p:spPr>
        <p:txBody>
          <a:bodyPr wrap="square" lIns="0" tIns="0" rIns="0" bIns="0" rtlCol="0" anchor="ctr"/>
          <a:lstStyle/>
          <a:p>
            <a:pPr marL="0" indent="0">
              <a:buNone/>
            </a:pPr>
            <a:r>
              <a:rPr lang="en-US" sz="1400" b="1" dirty="0">
                <a:solidFill>
                  <a:srgbClr val="5B8CF5"/>
                </a:solidFill>
                <a:latin typeface="Arial" pitchFamily="34" charset="0"/>
                <a:ea typeface="Arial" pitchFamily="34" charset="-122"/>
                <a:cs typeface="Arial" pitchFamily="34" charset="-120"/>
              </a:rPr>
              <a:t>Skills + tools: </a:t>
            </a:r>
            <a:r>
              <a:rPr lang="en-US" sz="1400" dirty="0">
                <a:solidFill>
                  <a:srgbClr val="CFC8E0"/>
                </a:solidFill>
                <a:latin typeface="Arial" pitchFamily="34" charset="0"/>
                <a:ea typeface="Arial" pitchFamily="34" charset="-122"/>
                <a:cs typeface="Arial" pitchFamily="34" charset="-120"/>
              </a:rPr>
              <a:t>Specialized instructions and actions for specific jobs</a:t>
            </a:r>
            <a:endParaRPr lang="en-US" sz="1400" dirty="0"/>
          </a:p>
        </p:txBody>
      </p:sp>
      <p:sp>
        <p:nvSpPr>
          <p:cNvPr id="14" name="Text 9"/>
          <p:cNvSpPr txBox="1"/>
          <p:nvPr/>
        </p:nvSpPr>
        <p:spPr>
          <a:xfrm>
            <a:off x="7680960" y="2971800"/>
            <a:ext cx="3959352" cy="1005840"/>
          </a:xfrm>
          <a:prstGeom prst="rect">
            <a:avLst/>
          </a:prstGeom>
          <a:noFill/>
          <a:ln/>
        </p:spPr>
        <p:txBody>
          <a:bodyPr wrap="square" lIns="0" tIns="0" rIns="0" bIns="0" rtlCol="0" anchor="ctr"/>
          <a:lstStyle/>
          <a:p>
            <a:pPr marL="0" indent="0">
              <a:buNone/>
            </a:pPr>
            <a:r>
              <a:rPr lang="en-US" sz="1400" b="1" dirty="0">
                <a:solidFill>
                  <a:srgbClr val="B06CF5"/>
                </a:solidFill>
                <a:latin typeface="Arial" pitchFamily="34" charset="0"/>
                <a:ea typeface="Arial" pitchFamily="34" charset="-122"/>
                <a:cs typeface="Arial" pitchFamily="34" charset="-120"/>
              </a:rPr>
              <a:t>Context: </a:t>
            </a:r>
            <a:r>
              <a:rPr lang="en-US" sz="1400" dirty="0">
                <a:solidFill>
                  <a:srgbClr val="CFC8E0"/>
                </a:solidFill>
                <a:latin typeface="Arial" pitchFamily="34" charset="0"/>
                <a:ea typeface="Arial" pitchFamily="34" charset="-122"/>
                <a:cs typeface="Arial" pitchFamily="34" charset="-120"/>
              </a:rPr>
              <a:t>Memory of how you work: who you work with, what matters, how you write</a:t>
            </a:r>
            <a:endParaRPr lang="en-US" sz="1400" dirty="0"/>
          </a:p>
        </p:txBody>
      </p:sp>
      <p:sp>
        <p:nvSpPr>
          <p:cNvPr id="15" name="Text 10"/>
          <p:cNvSpPr txBox="1"/>
          <p:nvPr/>
        </p:nvSpPr>
        <p:spPr>
          <a:xfrm>
            <a:off x="7680960" y="4160520"/>
            <a:ext cx="3959352" cy="1005840"/>
          </a:xfrm>
          <a:prstGeom prst="rect">
            <a:avLst/>
          </a:prstGeom>
          <a:noFill/>
          <a:ln/>
        </p:spPr>
        <p:txBody>
          <a:bodyPr wrap="square" lIns="0" tIns="0" rIns="0" bIns="0" rtlCol="0" anchor="ctr"/>
          <a:lstStyle/>
          <a:p>
            <a:pPr marL="0" indent="0">
              <a:buNone/>
            </a:pPr>
            <a:r>
              <a:rPr lang="en-US" sz="1400" b="1" dirty="0">
                <a:solidFill>
                  <a:srgbClr val="FF5C9E"/>
                </a:solidFill>
                <a:latin typeface="Arial" pitchFamily="34" charset="0"/>
                <a:ea typeface="Arial" pitchFamily="34" charset="-122"/>
                <a:cs typeface="Arial" pitchFamily="34" charset="-120"/>
              </a:rPr>
              <a:t>Data: </a:t>
            </a:r>
            <a:r>
              <a:rPr lang="en-US" sz="1400" dirty="0">
                <a:solidFill>
                  <a:srgbClr val="CFC8E0"/>
                </a:solidFill>
                <a:latin typeface="Arial" pitchFamily="34" charset="0"/>
                <a:ea typeface="Arial" pitchFamily="34" charset="-122"/>
                <a:cs typeface="Arial" pitchFamily="34" charset="-120"/>
              </a:rPr>
              <a:t>Mail, calendar, chats, meetings, files, people, plus Dynamics 365, Power BI, Fabric, and connected systems</a:t>
            </a:r>
            <a:endParaRPr lang="en-US" sz="1400" dirty="0"/>
          </a:p>
        </p:txBody>
      </p:sp>
      <p:sp>
        <p:nvSpPr>
          <p:cNvPr id="16" name="Text 11"/>
          <p:cNvSpPr txBox="1"/>
          <p:nvPr/>
        </p:nvSpPr>
        <p:spPr>
          <a:xfrm>
            <a:off x="548640" y="5486400"/>
            <a:ext cx="9144000" cy="365760"/>
          </a:xfrm>
          <a:prstGeom prst="rect">
            <a:avLst/>
          </a:prstGeom>
          <a:noFill/>
          <a:ln/>
        </p:spPr>
        <p:txBody>
          <a:bodyPr wrap="square" lIns="0" tIns="0" rIns="0" bIns="0" rtlCol="0" anchor="ctr"/>
          <a:lstStyle/>
          <a:p>
            <a:pPr marL="0" indent="0">
              <a:buNone/>
            </a:pPr>
            <a:r>
              <a:rPr lang="en-US" sz="1500" i="1" dirty="0">
                <a:solidFill>
                  <a:srgbClr val="CFC8E0"/>
                </a:solidFill>
                <a:latin typeface="Arial" pitchFamily="34" charset="0"/>
                <a:ea typeface="Arial" pitchFamily="34" charset="-122"/>
                <a:cs typeface="Arial" pitchFamily="34" charset="-120"/>
              </a:rPr>
              <a:t>Skills sit on top of context, and context sits on top of data.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13 skills built in, no setup required</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Cowork picks the right ones automatically and shows each as a chip</a:t>
            </a:r>
            <a:endParaRPr lang="en-US" sz="1800" dirty="0"/>
          </a:p>
        </p:txBody>
      </p:sp>
      <p:sp>
        <p:nvSpPr>
          <p:cNvPr id="4" name="Shape 2"/>
          <p:cNvSpPr/>
          <p:nvPr/>
        </p:nvSpPr>
        <p:spPr>
          <a:xfrm>
            <a:off x="548640" y="182880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685800" y="1965960"/>
            <a:ext cx="502920" cy="5029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11530" y="2091690"/>
            <a:ext cx="251460" cy="251460"/>
          </a:xfrm>
          <a:prstGeom prst="rect">
            <a:avLst/>
          </a:prstGeom>
        </p:spPr>
      </p:pic>
      <p:sp>
        <p:nvSpPr>
          <p:cNvPr id="7" name="Text 4"/>
          <p:cNvSpPr txBox="1"/>
          <p:nvPr/>
        </p:nvSpPr>
        <p:spPr>
          <a:xfrm>
            <a:off x="1325880" y="182880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Word</a:t>
            </a:r>
            <a:endParaRPr lang="en-US" sz="1600" dirty="0"/>
          </a:p>
        </p:txBody>
      </p:sp>
      <p:sp>
        <p:nvSpPr>
          <p:cNvPr id="8" name="Shape 5"/>
          <p:cNvSpPr/>
          <p:nvPr/>
        </p:nvSpPr>
        <p:spPr>
          <a:xfrm>
            <a:off x="2804099" y="182880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9" name="Shape 6"/>
          <p:cNvSpPr/>
          <p:nvPr/>
        </p:nvSpPr>
        <p:spPr>
          <a:xfrm>
            <a:off x="2941259" y="1965960"/>
            <a:ext cx="502920" cy="502920"/>
          </a:xfrm>
          <a:prstGeom prst="ellipse">
            <a:avLst/>
          </a:prstGeom>
          <a:solidFill>
            <a:srgbClr val="5A56E8"/>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3066989" y="2091690"/>
            <a:ext cx="251460" cy="251460"/>
          </a:xfrm>
          <a:prstGeom prst="rect">
            <a:avLst/>
          </a:prstGeom>
        </p:spPr>
      </p:pic>
      <p:sp>
        <p:nvSpPr>
          <p:cNvPr id="11" name="Text 7"/>
          <p:cNvSpPr txBox="1"/>
          <p:nvPr/>
        </p:nvSpPr>
        <p:spPr>
          <a:xfrm>
            <a:off x="3581339" y="182880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Excel</a:t>
            </a:r>
            <a:endParaRPr lang="en-US" sz="1600" dirty="0"/>
          </a:p>
        </p:txBody>
      </p:sp>
      <p:sp>
        <p:nvSpPr>
          <p:cNvPr id="12" name="Shape 8"/>
          <p:cNvSpPr/>
          <p:nvPr/>
        </p:nvSpPr>
        <p:spPr>
          <a:xfrm>
            <a:off x="5059558" y="182880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13" name="Shape 9"/>
          <p:cNvSpPr/>
          <p:nvPr/>
        </p:nvSpPr>
        <p:spPr>
          <a:xfrm>
            <a:off x="5196718" y="1965960"/>
            <a:ext cx="502920" cy="502920"/>
          </a:xfrm>
          <a:prstGeom prst="ellipse">
            <a:avLst/>
          </a:prstGeom>
          <a:solidFill>
            <a:srgbClr val="8C38E0"/>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5322448" y="2091690"/>
            <a:ext cx="251460" cy="251460"/>
          </a:xfrm>
          <a:prstGeom prst="rect">
            <a:avLst/>
          </a:prstGeom>
        </p:spPr>
      </p:pic>
      <p:sp>
        <p:nvSpPr>
          <p:cNvPr id="15" name="Text 10"/>
          <p:cNvSpPr txBox="1"/>
          <p:nvPr/>
        </p:nvSpPr>
        <p:spPr>
          <a:xfrm>
            <a:off x="5836798" y="182880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PowerPoint</a:t>
            </a:r>
            <a:endParaRPr lang="en-US" sz="1600" dirty="0"/>
          </a:p>
        </p:txBody>
      </p:sp>
      <p:sp>
        <p:nvSpPr>
          <p:cNvPr id="16" name="Shape 11"/>
          <p:cNvSpPr/>
          <p:nvPr/>
        </p:nvSpPr>
        <p:spPr>
          <a:xfrm>
            <a:off x="7315017" y="182880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17" name="Shape 12"/>
          <p:cNvSpPr/>
          <p:nvPr/>
        </p:nvSpPr>
        <p:spPr>
          <a:xfrm>
            <a:off x="7452177" y="1965960"/>
            <a:ext cx="502920" cy="502920"/>
          </a:xfrm>
          <a:prstGeom prst="ellipse">
            <a:avLst/>
          </a:prstGeom>
          <a:solidFill>
            <a:srgbClr val="B0339E"/>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7577907" y="2091690"/>
            <a:ext cx="251460" cy="251460"/>
          </a:xfrm>
          <a:prstGeom prst="rect">
            <a:avLst/>
          </a:prstGeom>
        </p:spPr>
      </p:pic>
      <p:sp>
        <p:nvSpPr>
          <p:cNvPr id="19" name="Text 13"/>
          <p:cNvSpPr txBox="1"/>
          <p:nvPr/>
        </p:nvSpPr>
        <p:spPr>
          <a:xfrm>
            <a:off x="8092257" y="182880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PDF</a:t>
            </a:r>
            <a:endParaRPr lang="en-US" sz="1600" dirty="0"/>
          </a:p>
        </p:txBody>
      </p:sp>
      <p:sp>
        <p:nvSpPr>
          <p:cNvPr id="20" name="Shape 14"/>
          <p:cNvSpPr/>
          <p:nvPr/>
        </p:nvSpPr>
        <p:spPr>
          <a:xfrm>
            <a:off x="9570476" y="182880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21" name="Shape 15"/>
          <p:cNvSpPr/>
          <p:nvPr/>
        </p:nvSpPr>
        <p:spPr>
          <a:xfrm>
            <a:off x="9707636" y="1965960"/>
            <a:ext cx="502920" cy="502920"/>
          </a:xfrm>
          <a:prstGeom prst="ellipse">
            <a:avLst/>
          </a:prstGeom>
          <a:solidFill>
            <a:srgbClr val="D42A6E"/>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9833366" y="2091690"/>
            <a:ext cx="251460" cy="251460"/>
          </a:xfrm>
          <a:prstGeom prst="rect">
            <a:avLst/>
          </a:prstGeom>
        </p:spPr>
      </p:pic>
      <p:sp>
        <p:nvSpPr>
          <p:cNvPr id="23" name="Text 16"/>
          <p:cNvSpPr txBox="1"/>
          <p:nvPr/>
        </p:nvSpPr>
        <p:spPr>
          <a:xfrm>
            <a:off x="10347716" y="182880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Email</a:t>
            </a:r>
            <a:endParaRPr lang="en-US" sz="1600" dirty="0"/>
          </a:p>
        </p:txBody>
      </p:sp>
      <p:sp>
        <p:nvSpPr>
          <p:cNvPr id="24" name="Shape 17"/>
          <p:cNvSpPr/>
          <p:nvPr/>
        </p:nvSpPr>
        <p:spPr>
          <a:xfrm>
            <a:off x="548640" y="278892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25" name="Shape 18"/>
          <p:cNvSpPr/>
          <p:nvPr/>
        </p:nvSpPr>
        <p:spPr>
          <a:xfrm>
            <a:off x="685800" y="2926080"/>
            <a:ext cx="502920" cy="502920"/>
          </a:xfrm>
          <a:prstGeom prst="ellipse">
            <a:avLst/>
          </a:prstGeom>
          <a:solidFill>
            <a:srgbClr val="3B74F0"/>
          </a:solidFill>
          <a:ln/>
        </p:spPr>
        <p:txBody>
          <a:bodyPr/>
          <a:lstStyle/>
          <a:p>
            <a:endParaRPr lang="en-US"/>
          </a:p>
        </p:txBody>
      </p:sp>
      <p:pic>
        <p:nvPicPr>
          <p:cNvPr id="26" name="Image 5" descr="preencoded.png"/>
          <p:cNvPicPr>
            <a:picLocks noChangeAspect="1"/>
          </p:cNvPicPr>
          <p:nvPr/>
        </p:nvPicPr>
        <p:blipFill>
          <a:blip r:embed="rId8"/>
          <a:stretch>
            <a:fillRect/>
          </a:stretch>
        </p:blipFill>
        <p:spPr>
          <a:xfrm>
            <a:off x="811530" y="3051810"/>
            <a:ext cx="251460" cy="251460"/>
          </a:xfrm>
          <a:prstGeom prst="rect">
            <a:avLst/>
          </a:prstGeom>
        </p:spPr>
      </p:pic>
      <p:sp>
        <p:nvSpPr>
          <p:cNvPr id="27" name="Text 19"/>
          <p:cNvSpPr txBox="1"/>
          <p:nvPr/>
        </p:nvSpPr>
        <p:spPr>
          <a:xfrm>
            <a:off x="1325880" y="2788920"/>
            <a:ext cx="1203899" cy="77724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Communications</a:t>
            </a:r>
            <a:endParaRPr lang="en-US" sz="1250" dirty="0"/>
          </a:p>
        </p:txBody>
      </p:sp>
      <p:sp>
        <p:nvSpPr>
          <p:cNvPr id="28" name="Shape 20"/>
          <p:cNvSpPr/>
          <p:nvPr/>
        </p:nvSpPr>
        <p:spPr>
          <a:xfrm>
            <a:off x="2804099" y="278892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29" name="Shape 21"/>
          <p:cNvSpPr/>
          <p:nvPr/>
        </p:nvSpPr>
        <p:spPr>
          <a:xfrm>
            <a:off x="2941259" y="2926080"/>
            <a:ext cx="502920" cy="502920"/>
          </a:xfrm>
          <a:prstGeom prst="ellipse">
            <a:avLst/>
          </a:prstGeom>
          <a:solidFill>
            <a:srgbClr val="5A56E8"/>
          </a:solidFill>
          <a:ln/>
        </p:spPr>
        <p:txBody>
          <a:bodyPr/>
          <a:lstStyle/>
          <a:p>
            <a:endParaRPr lang="en-US"/>
          </a:p>
        </p:txBody>
      </p:sp>
      <p:pic>
        <p:nvPicPr>
          <p:cNvPr id="30" name="Image 6" descr="preencoded.png"/>
          <p:cNvPicPr>
            <a:picLocks noChangeAspect="1"/>
          </p:cNvPicPr>
          <p:nvPr/>
        </p:nvPicPr>
        <p:blipFill>
          <a:blip r:embed="rId9"/>
          <a:stretch>
            <a:fillRect/>
          </a:stretch>
        </p:blipFill>
        <p:spPr>
          <a:xfrm>
            <a:off x="3066989" y="3051810"/>
            <a:ext cx="251460" cy="251460"/>
          </a:xfrm>
          <a:prstGeom prst="rect">
            <a:avLst/>
          </a:prstGeom>
        </p:spPr>
      </p:pic>
      <p:sp>
        <p:nvSpPr>
          <p:cNvPr id="31" name="Text 22"/>
          <p:cNvSpPr txBox="1"/>
          <p:nvPr/>
        </p:nvSpPr>
        <p:spPr>
          <a:xfrm>
            <a:off x="3581339" y="278892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Meetings</a:t>
            </a:r>
            <a:endParaRPr lang="en-US" sz="1600" dirty="0"/>
          </a:p>
        </p:txBody>
      </p:sp>
      <p:sp>
        <p:nvSpPr>
          <p:cNvPr id="32" name="Shape 23"/>
          <p:cNvSpPr/>
          <p:nvPr/>
        </p:nvSpPr>
        <p:spPr>
          <a:xfrm>
            <a:off x="5059558" y="278892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33" name="Shape 24"/>
          <p:cNvSpPr/>
          <p:nvPr/>
        </p:nvSpPr>
        <p:spPr>
          <a:xfrm>
            <a:off x="5196718" y="2926080"/>
            <a:ext cx="502920" cy="502920"/>
          </a:xfrm>
          <a:prstGeom prst="ellipse">
            <a:avLst/>
          </a:prstGeom>
          <a:solidFill>
            <a:srgbClr val="8C38E0"/>
          </a:solidFill>
          <a:ln/>
        </p:spPr>
        <p:txBody>
          <a:bodyPr/>
          <a:lstStyle/>
          <a:p>
            <a:endParaRPr lang="en-US"/>
          </a:p>
        </p:txBody>
      </p:sp>
      <p:pic>
        <p:nvPicPr>
          <p:cNvPr id="34" name="Image 7" descr="preencoded.png"/>
          <p:cNvPicPr>
            <a:picLocks noChangeAspect="1"/>
          </p:cNvPicPr>
          <p:nvPr/>
        </p:nvPicPr>
        <p:blipFill>
          <a:blip r:embed="rId10"/>
          <a:stretch>
            <a:fillRect/>
          </a:stretch>
        </p:blipFill>
        <p:spPr>
          <a:xfrm>
            <a:off x="5322448" y="3051810"/>
            <a:ext cx="251460" cy="251460"/>
          </a:xfrm>
          <a:prstGeom prst="rect">
            <a:avLst/>
          </a:prstGeom>
        </p:spPr>
      </p:pic>
      <p:sp>
        <p:nvSpPr>
          <p:cNvPr id="35" name="Text 25"/>
          <p:cNvSpPr txBox="1"/>
          <p:nvPr/>
        </p:nvSpPr>
        <p:spPr>
          <a:xfrm>
            <a:off x="5836798" y="278892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Scheduling</a:t>
            </a:r>
            <a:endParaRPr lang="en-US" sz="1600" dirty="0"/>
          </a:p>
        </p:txBody>
      </p:sp>
      <p:sp>
        <p:nvSpPr>
          <p:cNvPr id="36" name="Shape 26"/>
          <p:cNvSpPr/>
          <p:nvPr/>
        </p:nvSpPr>
        <p:spPr>
          <a:xfrm>
            <a:off x="7315017" y="278892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37" name="Shape 27"/>
          <p:cNvSpPr/>
          <p:nvPr/>
        </p:nvSpPr>
        <p:spPr>
          <a:xfrm>
            <a:off x="7452177" y="2926080"/>
            <a:ext cx="502920" cy="502920"/>
          </a:xfrm>
          <a:prstGeom prst="ellipse">
            <a:avLst/>
          </a:prstGeom>
          <a:solidFill>
            <a:srgbClr val="B0339E"/>
          </a:solidFill>
          <a:ln/>
        </p:spPr>
        <p:txBody>
          <a:bodyPr/>
          <a:lstStyle/>
          <a:p>
            <a:endParaRPr lang="en-US"/>
          </a:p>
        </p:txBody>
      </p:sp>
      <p:pic>
        <p:nvPicPr>
          <p:cNvPr id="38" name="Image 8" descr="preencoded.png"/>
          <p:cNvPicPr>
            <a:picLocks noChangeAspect="1"/>
          </p:cNvPicPr>
          <p:nvPr/>
        </p:nvPicPr>
        <p:blipFill>
          <a:blip r:embed="rId11"/>
          <a:stretch>
            <a:fillRect/>
          </a:stretch>
        </p:blipFill>
        <p:spPr>
          <a:xfrm>
            <a:off x="7577907" y="3051810"/>
            <a:ext cx="251460" cy="251460"/>
          </a:xfrm>
          <a:prstGeom prst="rect">
            <a:avLst/>
          </a:prstGeom>
        </p:spPr>
      </p:pic>
      <p:sp>
        <p:nvSpPr>
          <p:cNvPr id="39" name="Text 28"/>
          <p:cNvSpPr txBox="1"/>
          <p:nvPr/>
        </p:nvSpPr>
        <p:spPr>
          <a:xfrm>
            <a:off x="8092257" y="2788920"/>
            <a:ext cx="1203899"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Calendar</a:t>
            </a:r>
            <a:endParaRPr lang="en-US" sz="1600" dirty="0"/>
          </a:p>
        </p:txBody>
      </p:sp>
      <p:sp>
        <p:nvSpPr>
          <p:cNvPr id="40" name="Shape 29"/>
          <p:cNvSpPr/>
          <p:nvPr/>
        </p:nvSpPr>
        <p:spPr>
          <a:xfrm>
            <a:off x="9570476" y="278892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41" name="Shape 30"/>
          <p:cNvSpPr/>
          <p:nvPr/>
        </p:nvSpPr>
        <p:spPr>
          <a:xfrm>
            <a:off x="9707636" y="2926080"/>
            <a:ext cx="502920" cy="502920"/>
          </a:xfrm>
          <a:prstGeom prst="ellipse">
            <a:avLst/>
          </a:prstGeom>
          <a:solidFill>
            <a:srgbClr val="D42A6E"/>
          </a:solidFill>
          <a:ln/>
        </p:spPr>
        <p:txBody>
          <a:bodyPr/>
          <a:lstStyle/>
          <a:p>
            <a:endParaRPr lang="en-US"/>
          </a:p>
        </p:txBody>
      </p:sp>
      <p:pic>
        <p:nvPicPr>
          <p:cNvPr id="42" name="Image 9" descr="preencoded.png"/>
          <p:cNvPicPr>
            <a:picLocks noChangeAspect="1"/>
          </p:cNvPicPr>
          <p:nvPr/>
        </p:nvPicPr>
        <p:blipFill>
          <a:blip r:embed="rId12"/>
          <a:stretch>
            <a:fillRect/>
          </a:stretch>
        </p:blipFill>
        <p:spPr>
          <a:xfrm>
            <a:off x="9833366" y="3051810"/>
            <a:ext cx="251460" cy="251460"/>
          </a:xfrm>
          <a:prstGeom prst="rect">
            <a:avLst/>
          </a:prstGeom>
        </p:spPr>
      </p:pic>
      <p:sp>
        <p:nvSpPr>
          <p:cNvPr id="43" name="Text 31"/>
          <p:cNvSpPr txBox="1"/>
          <p:nvPr/>
        </p:nvSpPr>
        <p:spPr>
          <a:xfrm>
            <a:off x="10347716" y="2788920"/>
            <a:ext cx="1203899" cy="77724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Daily Briefing</a:t>
            </a:r>
            <a:endParaRPr lang="en-US" sz="1250" dirty="0"/>
          </a:p>
        </p:txBody>
      </p:sp>
      <p:sp>
        <p:nvSpPr>
          <p:cNvPr id="44" name="Shape 32"/>
          <p:cNvSpPr/>
          <p:nvPr/>
        </p:nvSpPr>
        <p:spPr>
          <a:xfrm>
            <a:off x="548640" y="374904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45" name="Shape 33"/>
          <p:cNvSpPr/>
          <p:nvPr/>
        </p:nvSpPr>
        <p:spPr>
          <a:xfrm>
            <a:off x="685800" y="3886200"/>
            <a:ext cx="502920" cy="502920"/>
          </a:xfrm>
          <a:prstGeom prst="ellipse">
            <a:avLst/>
          </a:prstGeom>
          <a:solidFill>
            <a:srgbClr val="3B74F0"/>
          </a:solidFill>
          <a:ln/>
        </p:spPr>
        <p:txBody>
          <a:bodyPr/>
          <a:lstStyle/>
          <a:p>
            <a:endParaRPr lang="en-US"/>
          </a:p>
        </p:txBody>
      </p:sp>
      <p:pic>
        <p:nvPicPr>
          <p:cNvPr id="46" name="Image 10" descr="preencoded.png"/>
          <p:cNvPicPr>
            <a:picLocks noChangeAspect="1"/>
          </p:cNvPicPr>
          <p:nvPr/>
        </p:nvPicPr>
        <p:blipFill>
          <a:blip r:embed="rId13"/>
          <a:stretch>
            <a:fillRect/>
          </a:stretch>
        </p:blipFill>
        <p:spPr>
          <a:xfrm>
            <a:off x="811530" y="4011930"/>
            <a:ext cx="251460" cy="251460"/>
          </a:xfrm>
          <a:prstGeom prst="rect">
            <a:avLst/>
          </a:prstGeom>
        </p:spPr>
      </p:pic>
      <p:sp>
        <p:nvSpPr>
          <p:cNvPr id="47" name="Text 34"/>
          <p:cNvSpPr txBox="1"/>
          <p:nvPr/>
        </p:nvSpPr>
        <p:spPr>
          <a:xfrm>
            <a:off x="1325880" y="3749040"/>
            <a:ext cx="1203899" cy="77724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Enterprise Search</a:t>
            </a:r>
            <a:endParaRPr lang="en-US" sz="1250" dirty="0"/>
          </a:p>
        </p:txBody>
      </p:sp>
      <p:sp>
        <p:nvSpPr>
          <p:cNvPr id="48" name="Shape 35"/>
          <p:cNvSpPr/>
          <p:nvPr/>
        </p:nvSpPr>
        <p:spPr>
          <a:xfrm>
            <a:off x="2804099" y="374904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49" name="Shape 36"/>
          <p:cNvSpPr/>
          <p:nvPr/>
        </p:nvSpPr>
        <p:spPr>
          <a:xfrm>
            <a:off x="2941259" y="3886200"/>
            <a:ext cx="502920" cy="502920"/>
          </a:xfrm>
          <a:prstGeom prst="ellipse">
            <a:avLst/>
          </a:prstGeom>
          <a:solidFill>
            <a:srgbClr val="5A56E8"/>
          </a:solidFill>
          <a:ln/>
        </p:spPr>
        <p:txBody>
          <a:bodyPr/>
          <a:lstStyle/>
          <a:p>
            <a:endParaRPr lang="en-US"/>
          </a:p>
        </p:txBody>
      </p:sp>
      <p:pic>
        <p:nvPicPr>
          <p:cNvPr id="50" name="Image 11" descr="preencoded.png"/>
          <p:cNvPicPr>
            <a:picLocks noChangeAspect="1"/>
          </p:cNvPicPr>
          <p:nvPr/>
        </p:nvPicPr>
        <p:blipFill>
          <a:blip r:embed="rId14"/>
          <a:stretch>
            <a:fillRect/>
          </a:stretch>
        </p:blipFill>
        <p:spPr>
          <a:xfrm>
            <a:off x="3066989" y="4011930"/>
            <a:ext cx="251460" cy="251460"/>
          </a:xfrm>
          <a:prstGeom prst="rect">
            <a:avLst/>
          </a:prstGeom>
        </p:spPr>
      </p:pic>
      <p:sp>
        <p:nvSpPr>
          <p:cNvPr id="51" name="Text 37"/>
          <p:cNvSpPr txBox="1"/>
          <p:nvPr/>
        </p:nvSpPr>
        <p:spPr>
          <a:xfrm>
            <a:off x="3581339" y="3749040"/>
            <a:ext cx="1203899" cy="7772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Deep Research</a:t>
            </a:r>
            <a:endParaRPr lang="en-US" sz="1400" dirty="0"/>
          </a:p>
        </p:txBody>
      </p:sp>
      <p:sp>
        <p:nvSpPr>
          <p:cNvPr id="52" name="Shape 38"/>
          <p:cNvSpPr/>
          <p:nvPr/>
        </p:nvSpPr>
        <p:spPr>
          <a:xfrm>
            <a:off x="5059558" y="3749040"/>
            <a:ext cx="2072579" cy="777240"/>
          </a:xfrm>
          <a:prstGeom prst="roundRect">
            <a:avLst>
              <a:gd name="adj" fmla="val 21176"/>
            </a:avLst>
          </a:prstGeom>
          <a:solidFill>
            <a:srgbClr val="1F0F38"/>
          </a:solidFill>
          <a:ln w="12700">
            <a:solidFill>
              <a:srgbClr val="3A2260"/>
            </a:solidFill>
            <a:prstDash val="solid"/>
          </a:ln>
        </p:spPr>
        <p:txBody>
          <a:bodyPr/>
          <a:lstStyle/>
          <a:p>
            <a:endParaRPr lang="en-US"/>
          </a:p>
        </p:txBody>
      </p:sp>
      <p:sp>
        <p:nvSpPr>
          <p:cNvPr id="53" name="Shape 39"/>
          <p:cNvSpPr/>
          <p:nvPr/>
        </p:nvSpPr>
        <p:spPr>
          <a:xfrm>
            <a:off x="5196718" y="3886200"/>
            <a:ext cx="502920" cy="502920"/>
          </a:xfrm>
          <a:prstGeom prst="ellipse">
            <a:avLst/>
          </a:prstGeom>
          <a:solidFill>
            <a:srgbClr val="8C38E0"/>
          </a:solidFill>
          <a:ln/>
        </p:spPr>
        <p:txBody>
          <a:bodyPr/>
          <a:lstStyle/>
          <a:p>
            <a:endParaRPr lang="en-US"/>
          </a:p>
        </p:txBody>
      </p:sp>
      <p:pic>
        <p:nvPicPr>
          <p:cNvPr id="54" name="Image 12" descr="preencoded.png"/>
          <p:cNvPicPr>
            <a:picLocks noChangeAspect="1"/>
          </p:cNvPicPr>
          <p:nvPr/>
        </p:nvPicPr>
        <p:blipFill>
          <a:blip r:embed="rId15"/>
          <a:stretch>
            <a:fillRect/>
          </a:stretch>
        </p:blipFill>
        <p:spPr>
          <a:xfrm>
            <a:off x="5322448" y="4011930"/>
            <a:ext cx="251460" cy="251460"/>
          </a:xfrm>
          <a:prstGeom prst="rect">
            <a:avLst/>
          </a:prstGeom>
        </p:spPr>
      </p:pic>
      <p:sp>
        <p:nvSpPr>
          <p:cNvPr id="55" name="Text 40"/>
          <p:cNvSpPr txBox="1"/>
          <p:nvPr/>
        </p:nvSpPr>
        <p:spPr>
          <a:xfrm>
            <a:off x="5836798" y="3749040"/>
            <a:ext cx="1203899" cy="77724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Adaptive Cards</a:t>
            </a:r>
            <a:endParaRPr lang="en-US" sz="1250" dirty="0"/>
          </a:p>
        </p:txBody>
      </p:sp>
      <p:sp>
        <p:nvSpPr>
          <p:cNvPr id="56" name="Text 41"/>
          <p:cNvSpPr txBox="1"/>
          <p:nvPr/>
        </p:nvSpPr>
        <p:spPr>
          <a:xfrm>
            <a:off x="7315017" y="3749040"/>
            <a:ext cx="4328038" cy="777240"/>
          </a:xfrm>
          <a:prstGeom prst="rect">
            <a:avLst/>
          </a:prstGeom>
          <a:noFill/>
          <a:ln/>
        </p:spPr>
        <p:txBody>
          <a:bodyPr wrap="square" lIns="0" tIns="0" rIns="0" bIns="0" rtlCol="0" anchor="ctr"/>
          <a:lstStyle/>
          <a:p>
            <a:pPr marL="0" indent="0">
              <a:buNone/>
            </a:pPr>
            <a:r>
              <a:rPr lang="en-US" sz="1500" b="1" dirty="0">
                <a:solidFill>
                  <a:srgbClr val="FF5C9E"/>
                </a:solidFill>
                <a:latin typeface="Arial" pitchFamily="34" charset="0"/>
                <a:ea typeface="Arial" pitchFamily="34" charset="-122"/>
                <a:cs typeface="Arial" pitchFamily="34" charset="-120"/>
              </a:rPr>
              <a:t>Plus up to 50 custom skills of your own. More on that in section 04.</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468880"/>
            <a:ext cx="9144000" cy="1737360"/>
          </a:xfrm>
          <a:prstGeom prst="rect">
            <a:avLst/>
          </a:prstGeom>
          <a:noFill/>
          <a:ln/>
        </p:spPr>
        <p:txBody>
          <a:bodyPr wrap="square" lIns="0" tIns="0" rIns="0" bIns="0" rtlCol="0" anchor="t"/>
          <a:lstStyle/>
          <a:p>
            <a:pPr marL="0" indent="0" algn="l">
              <a:buNone/>
            </a:pPr>
            <a:r>
              <a:rPr lang="en-US" dirty="0"/>
              <a:t>Multi-file creation</a:t>
            </a:r>
            <a:endParaRPr lang="en-US" sz="4800" dirty="0"/>
          </a:p>
        </p:txBody>
      </p:sp>
      <p:sp>
        <p:nvSpPr>
          <p:cNvPr id="3" name="Text 1"/>
          <p:cNvSpPr>
            <a:spLocks noGrp="1"/>
          </p:cNvSpPr>
          <p:nvPr>
            <p:ph type="body" idx="102" hasCustomPrompt="1"/>
          </p:nvPr>
        </p:nvSpPr>
        <p:spPr>
          <a:xfrm>
            <a:off x="548640" y="4297680"/>
            <a:ext cx="9144000" cy="109728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Let’s get ready for Analog Fest with one prompt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3657600" cy="1371600"/>
          </a:xfrm>
          <a:prstGeom prst="rect">
            <a:avLst/>
          </a:prstGeom>
          <a:noFill/>
          <a:ln/>
        </p:spPr>
        <p:txBody>
          <a:bodyPr wrap="square" lIns="0" tIns="0" rIns="0" bIns="0" rtlCol="0" anchor="b"/>
          <a:lstStyle/>
          <a:p>
            <a:pPr marL="0" indent="0">
              <a:buNone/>
            </a:pPr>
            <a:r>
              <a:rPr lang="en-US" sz="8800" b="1" dirty="0">
                <a:solidFill>
                  <a:srgbClr val="FF5C9E"/>
                </a:solidFill>
                <a:latin typeface="Arial" pitchFamily="34" charset="0"/>
                <a:ea typeface="Arial" pitchFamily="34" charset="-122"/>
                <a:cs typeface="Arial" pitchFamily="34" charset="-120"/>
              </a:rPr>
              <a:t>03</a:t>
            </a:r>
            <a:endParaRPr lang="en-US" sz="8800" dirty="0"/>
          </a:p>
        </p:txBody>
      </p:sp>
      <p:sp>
        <p:nvSpPr>
          <p:cNvPr id="3" name="Text 0"/>
          <p:cNvSpPr>
            <a:spLocks noGrp="1"/>
          </p:cNvSpPr>
          <p:nvPr>
            <p:ph type="title" idx="101" hasCustomPrompt="1"/>
          </p:nvPr>
        </p:nvSpPr>
        <p:spPr>
          <a:xfrm>
            <a:off x="548640" y="2743200"/>
            <a:ext cx="8686800" cy="155448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What just landed</a:t>
            </a:r>
            <a:endParaRPr lang="en-US" sz="4800" dirty="0"/>
          </a:p>
        </p:txBody>
      </p:sp>
      <p:sp>
        <p:nvSpPr>
          <p:cNvPr id="4" name="Text 0"/>
          <p:cNvSpPr>
            <a:spLocks noGrp="1"/>
          </p:cNvSpPr>
          <p:nvPr>
            <p:ph type="body" idx="102" hasCustomPrompt="1"/>
          </p:nvPr>
        </p:nvSpPr>
        <p:spPr>
          <a:xfrm>
            <a:off x="548640" y="4389120"/>
            <a:ext cx="8686800" cy="73152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Cowork went GA on June 16. Here's what's new since.</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Three months of Cowork updates</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Rollouts vary by tenant. Some items are still in preview.</a:t>
            </a:r>
            <a:endParaRPr lang="en-US" sz="1800" dirty="0"/>
          </a:p>
        </p:txBody>
      </p:sp>
      <p:sp>
        <p:nvSpPr>
          <p:cNvPr id="4" name="Shape 2"/>
          <p:cNvSpPr/>
          <p:nvPr/>
        </p:nvSpPr>
        <p:spPr>
          <a:xfrm>
            <a:off x="822960" y="2103120"/>
            <a:ext cx="10545775" cy="0"/>
          </a:xfrm>
          <a:prstGeom prst="line">
            <a:avLst/>
          </a:prstGeom>
          <a:noFill/>
          <a:ln w="38100">
            <a:solidFill>
              <a:srgbClr val="3A2260"/>
            </a:solidFill>
            <a:prstDash val="solid"/>
          </a:ln>
        </p:spPr>
        <p:txBody>
          <a:bodyPr/>
          <a:lstStyle/>
          <a:p>
            <a:endParaRPr lang="en-US"/>
          </a:p>
        </p:txBody>
      </p:sp>
      <p:sp>
        <p:nvSpPr>
          <p:cNvPr id="5" name="Shape 3"/>
          <p:cNvSpPr/>
          <p:nvPr/>
        </p:nvSpPr>
        <p:spPr>
          <a:xfrm>
            <a:off x="822960" y="1874520"/>
            <a:ext cx="457200" cy="457200"/>
          </a:xfrm>
          <a:prstGeom prst="ellipse">
            <a:avLst/>
          </a:prstGeom>
          <a:solidFill>
            <a:srgbClr val="3B74F0"/>
          </a:solidFill>
          <a:ln/>
        </p:spPr>
        <p:txBody>
          <a:bodyPr/>
          <a:lstStyle/>
          <a:p>
            <a:endParaRPr lang="en-US"/>
          </a:p>
        </p:txBody>
      </p:sp>
      <p:sp>
        <p:nvSpPr>
          <p:cNvPr id="6" name="Text 4"/>
          <p:cNvSpPr txBox="1"/>
          <p:nvPr/>
        </p:nvSpPr>
        <p:spPr>
          <a:xfrm>
            <a:off x="822960" y="2468880"/>
            <a:ext cx="2407844" cy="457200"/>
          </a:xfrm>
          <a:prstGeom prst="rect">
            <a:avLst/>
          </a:prstGeom>
          <a:noFill/>
          <a:ln/>
        </p:spPr>
        <p:txBody>
          <a:bodyPr wrap="square" lIns="0" tIns="0" rIns="0" bIns="0" rtlCol="0" anchor="ctr"/>
          <a:lstStyle/>
          <a:p>
            <a:pPr marL="0" indent="0">
              <a:buNone/>
            </a:pPr>
            <a:r>
              <a:rPr lang="en-US" sz="2200" b="1" dirty="0">
                <a:solidFill>
                  <a:srgbClr val="5B8CF5"/>
                </a:solidFill>
                <a:latin typeface="Arial" pitchFamily="34" charset="0"/>
                <a:ea typeface="Arial" pitchFamily="34" charset="-122"/>
                <a:cs typeface="Arial" pitchFamily="34" charset="-120"/>
              </a:rPr>
              <a:t>June</a:t>
            </a:r>
            <a:endParaRPr lang="en-US" sz="2200" dirty="0"/>
          </a:p>
        </p:txBody>
      </p:sp>
      <p:sp>
        <p:nvSpPr>
          <p:cNvPr id="7" name="Text 5"/>
          <p:cNvSpPr txBox="1"/>
          <p:nvPr/>
        </p:nvSpPr>
        <p:spPr>
          <a:xfrm>
            <a:off x="822960" y="3017520"/>
            <a:ext cx="2362124"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GA on June 16</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13 built-in skills</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Copilot Credits billing + spend limits</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9 partner plugins</a:t>
            </a:r>
            <a:endParaRPr lang="en-US" sz="1500" dirty="0"/>
          </a:p>
        </p:txBody>
      </p:sp>
      <p:sp>
        <p:nvSpPr>
          <p:cNvPr id="8" name="Shape 6"/>
          <p:cNvSpPr/>
          <p:nvPr/>
        </p:nvSpPr>
        <p:spPr>
          <a:xfrm>
            <a:off x="3596564" y="1874520"/>
            <a:ext cx="457200" cy="457200"/>
          </a:xfrm>
          <a:prstGeom prst="ellipse">
            <a:avLst/>
          </a:prstGeom>
          <a:solidFill>
            <a:srgbClr val="5A56E8"/>
          </a:solidFill>
          <a:ln/>
        </p:spPr>
        <p:txBody>
          <a:bodyPr/>
          <a:lstStyle/>
          <a:p>
            <a:endParaRPr lang="en-US"/>
          </a:p>
        </p:txBody>
      </p:sp>
      <p:sp>
        <p:nvSpPr>
          <p:cNvPr id="9" name="Text 7"/>
          <p:cNvSpPr txBox="1"/>
          <p:nvPr/>
        </p:nvSpPr>
        <p:spPr>
          <a:xfrm>
            <a:off x="3596564" y="2468880"/>
            <a:ext cx="2407844" cy="457200"/>
          </a:xfrm>
          <a:prstGeom prst="rect">
            <a:avLst/>
          </a:prstGeom>
          <a:noFill/>
          <a:ln/>
        </p:spPr>
        <p:txBody>
          <a:bodyPr wrap="square" lIns="0" tIns="0" rIns="0" bIns="0" rtlCol="0" anchor="ctr"/>
          <a:lstStyle/>
          <a:p>
            <a:pPr marL="0" indent="0">
              <a:buNone/>
            </a:pPr>
            <a:r>
              <a:rPr lang="en-US" sz="2200" b="1" dirty="0">
                <a:solidFill>
                  <a:srgbClr val="8F8CFF"/>
                </a:solidFill>
                <a:latin typeface="Arial" pitchFamily="34" charset="0"/>
                <a:ea typeface="Arial" pitchFamily="34" charset="-122"/>
                <a:cs typeface="Arial" pitchFamily="34" charset="-120"/>
              </a:rPr>
              <a:t>July</a:t>
            </a:r>
            <a:endParaRPr lang="en-US" sz="2200" dirty="0"/>
          </a:p>
        </p:txBody>
      </p:sp>
      <p:sp>
        <p:nvSpPr>
          <p:cNvPr id="10" name="Text 8"/>
          <p:cNvSpPr txBox="1"/>
          <p:nvPr/>
        </p:nvSpPr>
        <p:spPr>
          <a:xfrm>
            <a:off x="3596564" y="3017520"/>
            <a:ext cx="2362124"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Event-triggered tasks</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Browser use in Edge</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Mobile hand-off</a:t>
            </a:r>
            <a:endParaRPr lang="en-US" sz="1500" dirty="0"/>
          </a:p>
        </p:txBody>
      </p:sp>
      <p:sp>
        <p:nvSpPr>
          <p:cNvPr id="11" name="Shape 9"/>
          <p:cNvSpPr/>
          <p:nvPr/>
        </p:nvSpPr>
        <p:spPr>
          <a:xfrm>
            <a:off x="6370168" y="1874520"/>
            <a:ext cx="457200" cy="457200"/>
          </a:xfrm>
          <a:prstGeom prst="ellipse">
            <a:avLst/>
          </a:prstGeom>
          <a:solidFill>
            <a:srgbClr val="8C38E0"/>
          </a:solidFill>
          <a:ln/>
        </p:spPr>
        <p:txBody>
          <a:bodyPr/>
          <a:lstStyle/>
          <a:p>
            <a:endParaRPr lang="en-US"/>
          </a:p>
        </p:txBody>
      </p:sp>
      <p:sp>
        <p:nvSpPr>
          <p:cNvPr id="12" name="Text 10"/>
          <p:cNvSpPr txBox="1"/>
          <p:nvPr/>
        </p:nvSpPr>
        <p:spPr>
          <a:xfrm>
            <a:off x="6370168" y="2468880"/>
            <a:ext cx="2407844" cy="457200"/>
          </a:xfrm>
          <a:prstGeom prst="rect">
            <a:avLst/>
          </a:prstGeom>
          <a:noFill/>
          <a:ln/>
        </p:spPr>
        <p:txBody>
          <a:bodyPr wrap="square" lIns="0" tIns="0" rIns="0" bIns="0" rtlCol="0" anchor="ctr"/>
          <a:lstStyle/>
          <a:p>
            <a:pPr marL="0" indent="0">
              <a:buNone/>
            </a:pPr>
            <a:r>
              <a:rPr lang="en-US" sz="2200" b="1" dirty="0">
                <a:solidFill>
                  <a:srgbClr val="B06CF5"/>
                </a:solidFill>
                <a:latin typeface="Arial" pitchFamily="34" charset="0"/>
                <a:ea typeface="Arial" pitchFamily="34" charset="-122"/>
                <a:cs typeface="Arial" pitchFamily="34" charset="-120"/>
              </a:rPr>
              <a:t>August</a:t>
            </a:r>
            <a:endParaRPr lang="en-US" sz="2200" dirty="0"/>
          </a:p>
        </p:txBody>
      </p:sp>
      <p:sp>
        <p:nvSpPr>
          <p:cNvPr id="13" name="Text 11"/>
          <p:cNvSpPr txBox="1"/>
          <p:nvPr/>
        </p:nvSpPr>
        <p:spPr>
          <a:xfrm>
            <a:off x="6370168" y="3017520"/>
            <a:ext cx="2362124"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Model selection per task</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Skill authoring in Customize</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Create + edit images</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Org PowerPoint templates</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Approval + completion alerts</a:t>
            </a:r>
            <a:endParaRPr lang="en-US" sz="1500" dirty="0"/>
          </a:p>
        </p:txBody>
      </p:sp>
      <p:sp>
        <p:nvSpPr>
          <p:cNvPr id="14" name="Shape 12"/>
          <p:cNvSpPr/>
          <p:nvPr/>
        </p:nvSpPr>
        <p:spPr>
          <a:xfrm>
            <a:off x="9143771" y="1874520"/>
            <a:ext cx="457200" cy="457200"/>
          </a:xfrm>
          <a:prstGeom prst="ellipse">
            <a:avLst/>
          </a:prstGeom>
          <a:solidFill>
            <a:srgbClr val="D42A6E"/>
          </a:solidFill>
          <a:ln/>
        </p:spPr>
        <p:txBody>
          <a:bodyPr/>
          <a:lstStyle/>
          <a:p>
            <a:endParaRPr lang="en-US"/>
          </a:p>
        </p:txBody>
      </p:sp>
      <p:sp>
        <p:nvSpPr>
          <p:cNvPr id="15" name="Text 13"/>
          <p:cNvSpPr txBox="1"/>
          <p:nvPr/>
        </p:nvSpPr>
        <p:spPr>
          <a:xfrm>
            <a:off x="9143771" y="2468880"/>
            <a:ext cx="2407844" cy="457200"/>
          </a:xfrm>
          <a:prstGeom prst="rect">
            <a:avLst/>
          </a:prstGeom>
          <a:noFill/>
          <a:ln/>
        </p:spPr>
        <p:txBody>
          <a:bodyPr wrap="square" lIns="0" tIns="0" rIns="0" bIns="0" rtlCol="0" anchor="ctr"/>
          <a:lstStyle/>
          <a:p>
            <a:pPr marL="0" indent="0">
              <a:buNone/>
            </a:pPr>
            <a:r>
              <a:rPr lang="en-US" sz="2200" b="1" dirty="0">
                <a:solidFill>
                  <a:srgbClr val="FF5C9E"/>
                </a:solidFill>
                <a:latin typeface="Arial" pitchFamily="34" charset="0"/>
                <a:ea typeface="Arial" pitchFamily="34" charset="-122"/>
                <a:cs typeface="Arial" pitchFamily="34" charset="-120"/>
              </a:rPr>
              <a:t>September</a:t>
            </a:r>
            <a:endParaRPr lang="en-US" sz="2200" dirty="0"/>
          </a:p>
        </p:txBody>
      </p:sp>
      <p:sp>
        <p:nvSpPr>
          <p:cNvPr id="16" name="Text 14"/>
          <p:cNvSpPr txBox="1"/>
          <p:nvPr/>
        </p:nvSpPr>
        <p:spPr>
          <a:xfrm>
            <a:off x="9143771" y="3017520"/>
            <a:ext cx="2362124"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Build apps with /app</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"Automations" in the left nav</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Reasoning effort slider</a:t>
            </a:r>
            <a:endParaRPr lang="en-US" sz="1500" dirty="0"/>
          </a:p>
          <a:p>
            <a:pPr marL="342900" indent="-342900">
              <a:spcAft>
                <a:spcPts val="600"/>
              </a:spcAft>
              <a:buSzPct val="100000"/>
              <a:buChar char="•"/>
            </a:pPr>
            <a:r>
              <a:rPr lang="en-US" sz="1500" dirty="0">
                <a:solidFill>
                  <a:srgbClr val="CFC8E0"/>
                </a:solidFill>
                <a:latin typeface="Arial" pitchFamily="34" charset="0"/>
                <a:ea typeface="Arial" pitchFamily="34" charset="-122"/>
                <a:cs typeface="Arial" pitchFamily="34" charset="-120"/>
              </a:rPr>
              <a:t>View usage + skill sharing</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NEW: Build apps right inside Cowork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Describe the app you need. Cowork plans it, builds it, and you publish it.</a:t>
            </a:r>
            <a:endParaRPr lang="en-US" sz="1800" dirty="0"/>
          </a:p>
        </p:txBody>
      </p:sp>
      <p:sp>
        <p:nvSpPr>
          <p:cNvPr id="4" name="Text 2"/>
          <p:cNvSpPr txBox="1"/>
          <p:nvPr/>
        </p:nvSpPr>
        <p:spPr>
          <a:xfrm>
            <a:off x="10911535" y="1188720"/>
            <a:ext cx="676656" cy="274320"/>
          </a:xfrm>
          <a:prstGeom prst="roundRect">
            <a:avLst>
              <a:gd name="adj" fmla="val 43333"/>
            </a:avLst>
          </a:prstGeom>
          <a:solidFill>
            <a:srgbClr val="D42A6E"/>
          </a:solid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NEW</a:t>
            </a:r>
            <a:endParaRPr lang="en-US" sz="1200" dirty="0"/>
          </a:p>
        </p:txBody>
      </p:sp>
      <p:sp>
        <p:nvSpPr>
          <p:cNvPr id="5" name="Shape 3"/>
          <p:cNvSpPr/>
          <p:nvPr/>
        </p:nvSpPr>
        <p:spPr>
          <a:xfrm>
            <a:off x="548640" y="1783080"/>
            <a:ext cx="1889699" cy="2606040"/>
          </a:xfrm>
          <a:prstGeom prst="roundRect">
            <a:avLst>
              <a:gd name="adj" fmla="val 8710"/>
            </a:avLst>
          </a:prstGeom>
          <a:solidFill>
            <a:srgbClr val="1F0F38"/>
          </a:solidFill>
          <a:ln w="19050">
            <a:solidFill>
              <a:srgbClr val="3B74F0"/>
            </a:solidFill>
            <a:prstDash val="solid"/>
          </a:ln>
        </p:spPr>
        <p:txBody>
          <a:bodyPr/>
          <a:lstStyle/>
          <a:p>
            <a:endParaRPr lang="en-US"/>
          </a:p>
        </p:txBody>
      </p:sp>
      <p:sp>
        <p:nvSpPr>
          <p:cNvPr id="6" name="Shape 4"/>
          <p:cNvSpPr/>
          <p:nvPr/>
        </p:nvSpPr>
        <p:spPr>
          <a:xfrm>
            <a:off x="1127730" y="2057400"/>
            <a:ext cx="731520" cy="731520"/>
          </a:xfrm>
          <a:prstGeom prst="ellipse">
            <a:avLst/>
          </a:prstGeom>
          <a:solidFill>
            <a:srgbClr val="3B74F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310610" y="2240280"/>
            <a:ext cx="365760" cy="365760"/>
          </a:xfrm>
          <a:prstGeom prst="rect">
            <a:avLst/>
          </a:prstGeom>
        </p:spPr>
      </p:pic>
      <p:sp>
        <p:nvSpPr>
          <p:cNvPr id="8" name="Text 5"/>
          <p:cNvSpPr txBox="1"/>
          <p:nvPr/>
        </p:nvSpPr>
        <p:spPr>
          <a:xfrm>
            <a:off x="685800" y="292608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Type /app and describe it</a:t>
            </a:r>
            <a:endParaRPr lang="en-US" sz="1700" dirty="0"/>
          </a:p>
        </p:txBody>
      </p:sp>
      <p:sp>
        <p:nvSpPr>
          <p:cNvPr id="9" name="Text 6"/>
          <p:cNvSpPr txBox="1"/>
          <p:nvPr/>
        </p:nvSpPr>
        <p:spPr>
          <a:xfrm>
            <a:off x="685800" y="3611880"/>
            <a:ext cx="1615379" cy="685800"/>
          </a:xfrm>
          <a:prstGeom prst="rect">
            <a:avLst/>
          </a:prstGeom>
          <a:noFill/>
          <a:ln/>
        </p:spPr>
        <p:txBody>
          <a:bodyPr wrap="square" lIns="0" tIns="0" rIns="0" bIns="0" rtlCol="0" anchor="t"/>
          <a:lstStyle/>
          <a:p>
            <a:pPr marL="0" indent="0" algn="ctr">
              <a:buNone/>
            </a:pPr>
            <a:r>
              <a:rPr lang="en-US" sz="1300" dirty="0">
                <a:solidFill>
                  <a:srgbClr val="CFC8E0"/>
                </a:solidFill>
                <a:latin typeface="Arial" pitchFamily="34" charset="0"/>
                <a:ea typeface="Arial" pitchFamily="34" charset="-122"/>
                <a:cs typeface="Arial" pitchFamily="34" charset="-120"/>
              </a:rPr>
              <a:t>"An app to check in Analog Fest volunteers"</a:t>
            </a:r>
            <a:endParaRPr lang="en-US" sz="1300" dirty="0"/>
          </a:p>
        </p:txBody>
      </p:sp>
      <p:sp>
        <p:nvSpPr>
          <p:cNvPr id="10" name="Shape 7"/>
          <p:cNvSpPr/>
          <p:nvPr/>
        </p:nvSpPr>
        <p:spPr>
          <a:xfrm>
            <a:off x="2484059" y="2423160"/>
            <a:ext cx="320040" cy="0"/>
          </a:xfrm>
          <a:prstGeom prst="line">
            <a:avLst/>
          </a:prstGeom>
          <a:noFill/>
          <a:ln w="25400">
            <a:solidFill>
              <a:srgbClr val="CFC8E0"/>
            </a:solidFill>
            <a:prstDash val="solid"/>
            <a:tailEnd type="triangle"/>
          </a:ln>
        </p:spPr>
        <p:txBody>
          <a:bodyPr/>
          <a:lstStyle/>
          <a:p>
            <a:endParaRPr lang="en-US"/>
          </a:p>
        </p:txBody>
      </p:sp>
      <p:sp>
        <p:nvSpPr>
          <p:cNvPr id="11" name="Shape 8"/>
          <p:cNvSpPr/>
          <p:nvPr/>
        </p:nvSpPr>
        <p:spPr>
          <a:xfrm>
            <a:off x="2849819" y="1783080"/>
            <a:ext cx="1889699" cy="2606040"/>
          </a:xfrm>
          <a:prstGeom prst="roundRect">
            <a:avLst>
              <a:gd name="adj" fmla="val 8710"/>
            </a:avLst>
          </a:prstGeom>
          <a:solidFill>
            <a:srgbClr val="1F0F38"/>
          </a:solidFill>
          <a:ln w="19050">
            <a:solidFill>
              <a:srgbClr val="5A56E8"/>
            </a:solidFill>
            <a:prstDash val="solid"/>
          </a:ln>
        </p:spPr>
        <p:txBody>
          <a:bodyPr/>
          <a:lstStyle/>
          <a:p>
            <a:endParaRPr lang="en-US"/>
          </a:p>
        </p:txBody>
      </p:sp>
      <p:sp>
        <p:nvSpPr>
          <p:cNvPr id="12" name="Shape 9"/>
          <p:cNvSpPr/>
          <p:nvPr/>
        </p:nvSpPr>
        <p:spPr>
          <a:xfrm>
            <a:off x="3428909" y="2057400"/>
            <a:ext cx="731520" cy="731520"/>
          </a:xfrm>
          <a:prstGeom prst="ellipse">
            <a:avLst/>
          </a:prstGeom>
          <a:solidFill>
            <a:srgbClr val="5A56E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611789" y="2240280"/>
            <a:ext cx="365760" cy="365760"/>
          </a:xfrm>
          <a:prstGeom prst="rect">
            <a:avLst/>
          </a:prstGeom>
        </p:spPr>
      </p:pic>
      <p:sp>
        <p:nvSpPr>
          <p:cNvPr id="14" name="Text 10"/>
          <p:cNvSpPr txBox="1"/>
          <p:nvPr/>
        </p:nvSpPr>
        <p:spPr>
          <a:xfrm>
            <a:off x="2986979" y="292608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It plans + asks questions</a:t>
            </a:r>
            <a:endParaRPr lang="en-US" sz="1700" dirty="0"/>
          </a:p>
        </p:txBody>
      </p:sp>
      <p:sp>
        <p:nvSpPr>
          <p:cNvPr id="15" name="Text 11"/>
          <p:cNvSpPr txBox="1"/>
          <p:nvPr/>
        </p:nvSpPr>
        <p:spPr>
          <a:xfrm>
            <a:off x="2986979" y="3611880"/>
            <a:ext cx="1615379" cy="685800"/>
          </a:xfrm>
          <a:prstGeom prst="rect">
            <a:avLst/>
          </a:prstGeom>
          <a:noFill/>
          <a:ln/>
        </p:spPr>
        <p:txBody>
          <a:bodyPr wrap="square" lIns="0" tIns="0" rIns="0" bIns="0" rtlCol="0" anchor="t"/>
          <a:lstStyle/>
          <a:p>
            <a:pPr marL="0" indent="0" algn="ctr">
              <a:buNone/>
            </a:pPr>
            <a:r>
              <a:rPr lang="en-US" sz="1300" dirty="0">
                <a:solidFill>
                  <a:srgbClr val="CFC8E0"/>
                </a:solidFill>
                <a:latin typeface="Arial" pitchFamily="34" charset="0"/>
                <a:ea typeface="Arial" pitchFamily="34" charset="-122"/>
                <a:cs typeface="Arial" pitchFamily="34" charset="-120"/>
              </a:rPr>
              <a:t>Scope and depth, before it spends credits</a:t>
            </a:r>
            <a:endParaRPr lang="en-US" sz="1300" dirty="0"/>
          </a:p>
        </p:txBody>
      </p:sp>
      <p:sp>
        <p:nvSpPr>
          <p:cNvPr id="16" name="Shape 12"/>
          <p:cNvSpPr/>
          <p:nvPr/>
        </p:nvSpPr>
        <p:spPr>
          <a:xfrm>
            <a:off x="4785238" y="2423160"/>
            <a:ext cx="320040" cy="0"/>
          </a:xfrm>
          <a:prstGeom prst="line">
            <a:avLst/>
          </a:prstGeom>
          <a:noFill/>
          <a:ln w="25400">
            <a:solidFill>
              <a:srgbClr val="CFC8E0"/>
            </a:solidFill>
            <a:prstDash val="solid"/>
            <a:tailEnd type="triangle"/>
          </a:ln>
        </p:spPr>
        <p:txBody>
          <a:bodyPr/>
          <a:lstStyle/>
          <a:p>
            <a:endParaRPr lang="en-US"/>
          </a:p>
        </p:txBody>
      </p:sp>
      <p:sp>
        <p:nvSpPr>
          <p:cNvPr id="17" name="Shape 13"/>
          <p:cNvSpPr/>
          <p:nvPr/>
        </p:nvSpPr>
        <p:spPr>
          <a:xfrm>
            <a:off x="5150998" y="1783080"/>
            <a:ext cx="1889699" cy="2606040"/>
          </a:xfrm>
          <a:prstGeom prst="roundRect">
            <a:avLst>
              <a:gd name="adj" fmla="val 8710"/>
            </a:avLst>
          </a:prstGeom>
          <a:solidFill>
            <a:srgbClr val="1F0F38"/>
          </a:solidFill>
          <a:ln w="19050">
            <a:solidFill>
              <a:srgbClr val="8C38E0"/>
            </a:solidFill>
            <a:prstDash val="solid"/>
          </a:ln>
        </p:spPr>
        <p:txBody>
          <a:bodyPr/>
          <a:lstStyle/>
          <a:p>
            <a:endParaRPr lang="en-US"/>
          </a:p>
        </p:txBody>
      </p:sp>
      <p:sp>
        <p:nvSpPr>
          <p:cNvPr id="18" name="Shape 14"/>
          <p:cNvSpPr/>
          <p:nvPr/>
        </p:nvSpPr>
        <p:spPr>
          <a:xfrm>
            <a:off x="5730088" y="2057400"/>
            <a:ext cx="731520" cy="731520"/>
          </a:xfrm>
          <a:prstGeom prst="ellipse">
            <a:avLst/>
          </a:prstGeom>
          <a:solidFill>
            <a:srgbClr val="8C38E0"/>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912968" y="2240280"/>
            <a:ext cx="365760" cy="365760"/>
          </a:xfrm>
          <a:prstGeom prst="rect">
            <a:avLst/>
          </a:prstGeom>
        </p:spPr>
      </p:pic>
      <p:sp>
        <p:nvSpPr>
          <p:cNvPr id="20" name="Text 15"/>
          <p:cNvSpPr txBox="1"/>
          <p:nvPr/>
        </p:nvSpPr>
        <p:spPr>
          <a:xfrm>
            <a:off x="5288158" y="292608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It builds a first draft</a:t>
            </a:r>
            <a:endParaRPr lang="en-US" sz="1700" dirty="0"/>
          </a:p>
        </p:txBody>
      </p:sp>
      <p:sp>
        <p:nvSpPr>
          <p:cNvPr id="21" name="Text 16"/>
          <p:cNvSpPr txBox="1"/>
          <p:nvPr/>
        </p:nvSpPr>
        <p:spPr>
          <a:xfrm>
            <a:off x="5288158" y="3611880"/>
            <a:ext cx="1615379" cy="685800"/>
          </a:xfrm>
          <a:prstGeom prst="rect">
            <a:avLst/>
          </a:prstGeom>
          <a:noFill/>
          <a:ln/>
        </p:spPr>
        <p:txBody>
          <a:bodyPr wrap="square" lIns="0" tIns="0" rIns="0" bIns="0" rtlCol="0" anchor="t"/>
          <a:lstStyle/>
          <a:p>
            <a:pPr marL="0" indent="0" algn="ctr">
              <a:buNone/>
            </a:pPr>
            <a:r>
              <a:rPr lang="en-US" sz="1300" dirty="0">
                <a:solidFill>
                  <a:srgbClr val="CFC8E0"/>
                </a:solidFill>
                <a:latin typeface="Arial" pitchFamily="34" charset="0"/>
                <a:ea typeface="Arial" pitchFamily="34" charset="-122"/>
                <a:cs typeface="Arial" pitchFamily="34" charset="-120"/>
              </a:rPr>
              <a:t>About 10 minutes for a first version</a:t>
            </a:r>
            <a:endParaRPr lang="en-US" sz="1300" dirty="0"/>
          </a:p>
        </p:txBody>
      </p:sp>
      <p:sp>
        <p:nvSpPr>
          <p:cNvPr id="22" name="Shape 17"/>
          <p:cNvSpPr/>
          <p:nvPr/>
        </p:nvSpPr>
        <p:spPr>
          <a:xfrm>
            <a:off x="7086417" y="2423160"/>
            <a:ext cx="320040" cy="0"/>
          </a:xfrm>
          <a:prstGeom prst="line">
            <a:avLst/>
          </a:prstGeom>
          <a:noFill/>
          <a:ln w="25400">
            <a:solidFill>
              <a:srgbClr val="CFC8E0"/>
            </a:solidFill>
            <a:prstDash val="solid"/>
            <a:tailEnd type="triangle"/>
          </a:ln>
        </p:spPr>
        <p:txBody>
          <a:bodyPr/>
          <a:lstStyle/>
          <a:p>
            <a:endParaRPr lang="en-US"/>
          </a:p>
        </p:txBody>
      </p:sp>
      <p:sp>
        <p:nvSpPr>
          <p:cNvPr id="23" name="Shape 18"/>
          <p:cNvSpPr/>
          <p:nvPr/>
        </p:nvSpPr>
        <p:spPr>
          <a:xfrm>
            <a:off x="7452177" y="1783080"/>
            <a:ext cx="1889699" cy="2606040"/>
          </a:xfrm>
          <a:prstGeom prst="roundRect">
            <a:avLst>
              <a:gd name="adj" fmla="val 8710"/>
            </a:avLst>
          </a:prstGeom>
          <a:solidFill>
            <a:srgbClr val="1F0F38"/>
          </a:solidFill>
          <a:ln w="19050">
            <a:solidFill>
              <a:srgbClr val="B0339E"/>
            </a:solidFill>
            <a:prstDash val="solid"/>
          </a:ln>
        </p:spPr>
        <p:txBody>
          <a:bodyPr/>
          <a:lstStyle/>
          <a:p>
            <a:endParaRPr lang="en-US"/>
          </a:p>
        </p:txBody>
      </p:sp>
      <p:sp>
        <p:nvSpPr>
          <p:cNvPr id="24" name="Shape 19"/>
          <p:cNvSpPr/>
          <p:nvPr/>
        </p:nvSpPr>
        <p:spPr>
          <a:xfrm>
            <a:off x="8031267" y="2057400"/>
            <a:ext cx="731520" cy="731520"/>
          </a:xfrm>
          <a:prstGeom prst="ellipse">
            <a:avLst/>
          </a:prstGeom>
          <a:solidFill>
            <a:srgbClr val="B0339E"/>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8214147" y="2240280"/>
            <a:ext cx="365760" cy="365760"/>
          </a:xfrm>
          <a:prstGeom prst="rect">
            <a:avLst/>
          </a:prstGeom>
        </p:spPr>
      </p:pic>
      <p:sp>
        <p:nvSpPr>
          <p:cNvPr id="26" name="Text 20"/>
          <p:cNvSpPr txBox="1"/>
          <p:nvPr/>
        </p:nvSpPr>
        <p:spPr>
          <a:xfrm>
            <a:off x="7589337" y="292608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Preview, test, refine</a:t>
            </a:r>
            <a:endParaRPr lang="en-US" sz="1700" dirty="0"/>
          </a:p>
        </p:txBody>
      </p:sp>
      <p:sp>
        <p:nvSpPr>
          <p:cNvPr id="27" name="Text 21"/>
          <p:cNvSpPr txBox="1"/>
          <p:nvPr/>
        </p:nvSpPr>
        <p:spPr>
          <a:xfrm>
            <a:off x="7589337" y="3611880"/>
            <a:ext cx="1615379" cy="685800"/>
          </a:xfrm>
          <a:prstGeom prst="rect">
            <a:avLst/>
          </a:prstGeom>
          <a:noFill/>
          <a:ln/>
        </p:spPr>
        <p:txBody>
          <a:bodyPr wrap="square" lIns="0" tIns="0" rIns="0" bIns="0" rtlCol="0" anchor="t"/>
          <a:lstStyle/>
          <a:p>
            <a:pPr marL="0" indent="0" algn="ctr">
              <a:buNone/>
            </a:pPr>
            <a:r>
              <a:rPr lang="en-US" sz="1300" dirty="0">
                <a:solidFill>
                  <a:srgbClr val="CFC8E0"/>
                </a:solidFill>
                <a:latin typeface="Arial" pitchFamily="34" charset="0"/>
                <a:ea typeface="Arial" pitchFamily="34" charset="-122"/>
                <a:cs typeface="Arial" pitchFamily="34" charset="-120"/>
              </a:rPr>
              <a:t>"Add a no-show count by shift"</a:t>
            </a:r>
            <a:endParaRPr lang="en-US" sz="1300" dirty="0"/>
          </a:p>
        </p:txBody>
      </p:sp>
      <p:sp>
        <p:nvSpPr>
          <p:cNvPr id="28" name="Shape 22"/>
          <p:cNvSpPr/>
          <p:nvPr/>
        </p:nvSpPr>
        <p:spPr>
          <a:xfrm>
            <a:off x="9387596" y="2423160"/>
            <a:ext cx="320040" cy="0"/>
          </a:xfrm>
          <a:prstGeom prst="line">
            <a:avLst/>
          </a:prstGeom>
          <a:noFill/>
          <a:ln w="25400">
            <a:solidFill>
              <a:srgbClr val="CFC8E0"/>
            </a:solidFill>
            <a:prstDash val="solid"/>
            <a:tailEnd type="triangle"/>
          </a:ln>
        </p:spPr>
        <p:txBody>
          <a:bodyPr/>
          <a:lstStyle/>
          <a:p>
            <a:endParaRPr lang="en-US"/>
          </a:p>
        </p:txBody>
      </p:sp>
      <p:sp>
        <p:nvSpPr>
          <p:cNvPr id="29" name="Shape 23"/>
          <p:cNvSpPr/>
          <p:nvPr/>
        </p:nvSpPr>
        <p:spPr>
          <a:xfrm>
            <a:off x="9753356" y="1783080"/>
            <a:ext cx="1889699" cy="2606040"/>
          </a:xfrm>
          <a:prstGeom prst="roundRect">
            <a:avLst>
              <a:gd name="adj" fmla="val 8710"/>
            </a:avLst>
          </a:prstGeom>
          <a:solidFill>
            <a:srgbClr val="1F0F38"/>
          </a:solidFill>
          <a:ln w="19050">
            <a:solidFill>
              <a:srgbClr val="D42A6E"/>
            </a:solidFill>
            <a:prstDash val="solid"/>
          </a:ln>
        </p:spPr>
        <p:txBody>
          <a:bodyPr/>
          <a:lstStyle/>
          <a:p>
            <a:endParaRPr lang="en-US"/>
          </a:p>
        </p:txBody>
      </p:sp>
      <p:sp>
        <p:nvSpPr>
          <p:cNvPr id="30" name="Shape 24"/>
          <p:cNvSpPr/>
          <p:nvPr/>
        </p:nvSpPr>
        <p:spPr>
          <a:xfrm>
            <a:off x="10332446" y="2057400"/>
            <a:ext cx="731520" cy="731520"/>
          </a:xfrm>
          <a:prstGeom prst="ellipse">
            <a:avLst/>
          </a:prstGeom>
          <a:solidFill>
            <a:srgbClr val="D42A6E"/>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10515326" y="2240280"/>
            <a:ext cx="365760" cy="365760"/>
          </a:xfrm>
          <a:prstGeom prst="rect">
            <a:avLst/>
          </a:prstGeom>
        </p:spPr>
      </p:pic>
      <p:sp>
        <p:nvSpPr>
          <p:cNvPr id="32" name="Text 25"/>
          <p:cNvSpPr txBox="1"/>
          <p:nvPr/>
        </p:nvSpPr>
        <p:spPr>
          <a:xfrm>
            <a:off x="9890516" y="2926080"/>
            <a:ext cx="1615379"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Publish + share</a:t>
            </a:r>
            <a:endParaRPr lang="en-US" sz="1700" dirty="0"/>
          </a:p>
        </p:txBody>
      </p:sp>
      <p:sp>
        <p:nvSpPr>
          <p:cNvPr id="33" name="Text 26"/>
          <p:cNvSpPr txBox="1"/>
          <p:nvPr/>
        </p:nvSpPr>
        <p:spPr>
          <a:xfrm>
            <a:off x="9890516" y="3611880"/>
            <a:ext cx="1615379" cy="685800"/>
          </a:xfrm>
          <a:prstGeom prst="rect">
            <a:avLst/>
          </a:prstGeom>
          <a:noFill/>
          <a:ln/>
        </p:spPr>
        <p:txBody>
          <a:bodyPr wrap="square" lIns="0" tIns="0" rIns="0" bIns="0" rtlCol="0" anchor="t"/>
          <a:lstStyle/>
          <a:p>
            <a:pPr marL="0" indent="0" algn="ctr">
              <a:buNone/>
            </a:pPr>
            <a:r>
              <a:rPr lang="en-US" sz="1300" dirty="0">
                <a:solidFill>
                  <a:srgbClr val="CFC8E0"/>
                </a:solidFill>
                <a:latin typeface="Arial" pitchFamily="34" charset="0"/>
                <a:ea typeface="Arial" pitchFamily="34" charset="-122"/>
                <a:cs typeface="Arial" pitchFamily="34" charset="-120"/>
              </a:rPr>
              <a:t>Opens in Copilot Studio to keep building</a:t>
            </a:r>
            <a:endParaRPr lang="en-US" sz="1300" dirty="0"/>
          </a:p>
        </p:txBody>
      </p:sp>
      <p:sp>
        <p:nvSpPr>
          <p:cNvPr id="34" name="Shape 27"/>
          <p:cNvSpPr/>
          <p:nvPr/>
        </p:nvSpPr>
        <p:spPr>
          <a:xfrm>
            <a:off x="548640" y="4572000"/>
            <a:ext cx="11094415" cy="868680"/>
          </a:xfrm>
          <a:prstGeom prst="roundRect">
            <a:avLst>
              <a:gd name="adj" fmla="val 18947"/>
            </a:avLst>
          </a:prstGeom>
          <a:solidFill>
            <a:srgbClr val="1F0F38"/>
          </a:solidFill>
          <a:ln w="12700">
            <a:solidFill>
              <a:srgbClr val="3A2260"/>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822960" y="4773168"/>
            <a:ext cx="457200" cy="457200"/>
          </a:xfrm>
          <a:prstGeom prst="rect">
            <a:avLst/>
          </a:prstGeom>
        </p:spPr>
      </p:pic>
      <p:sp>
        <p:nvSpPr>
          <p:cNvPr id="36" name="Text 28"/>
          <p:cNvSpPr txBox="1"/>
          <p:nvPr/>
        </p:nvSpPr>
        <p:spPr>
          <a:xfrm>
            <a:off x="1508760" y="4572000"/>
            <a:ext cx="9905695" cy="868680"/>
          </a:xfrm>
          <a:prstGeom prst="rect">
            <a:avLst/>
          </a:prstGeom>
          <a:noFill/>
          <a:ln/>
        </p:spPr>
        <p:txBody>
          <a:bodyPr wrap="square" lIns="0" tIns="0" rIns="0" bIns="0" rtlCol="0" anchor="ctr"/>
          <a:lstStyle/>
          <a:p>
            <a:pPr marL="0" indent="0">
              <a:buNone/>
            </a:pPr>
            <a:r>
              <a:rPr lang="en-US" sz="1500" b="1" dirty="0">
                <a:solidFill>
                  <a:srgbClr val="5B8CF5"/>
                </a:solidFill>
                <a:latin typeface="Arial" pitchFamily="34" charset="0"/>
                <a:ea typeface="Arial" pitchFamily="34" charset="-122"/>
                <a:cs typeface="Arial" pitchFamily="34" charset="-120"/>
              </a:rPr>
              <a:t>Governed by default: </a:t>
            </a:r>
            <a:r>
              <a:rPr lang="en-US" sz="1500" dirty="0">
                <a:solidFill>
                  <a:srgbClr val="FFFFFF"/>
                </a:solidFill>
                <a:latin typeface="Arial" pitchFamily="34" charset="0"/>
                <a:ea typeface="Arial" pitchFamily="34" charset="-122"/>
                <a:cs typeface="Arial" pitchFamily="34" charset="-120"/>
              </a:rPr>
              <a:t>Entra sign-in, your existing connector and data policies, a personal developer environment per maker, and every published app shows up for admins under All apps. Uses Copilot Credits.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468880"/>
            <a:ext cx="9144000" cy="173736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Build the crew check-in app with /app</a:t>
            </a:r>
            <a:endParaRPr lang="en-US" sz="4800" dirty="0"/>
          </a:p>
        </p:txBody>
      </p:sp>
      <p:sp>
        <p:nvSpPr>
          <p:cNvPr id="3" name="Text 1"/>
          <p:cNvSpPr>
            <a:spLocks noGrp="1"/>
          </p:cNvSpPr>
          <p:nvPr>
            <p:ph type="body" idx="102" hasCustomPrompt="1"/>
          </p:nvPr>
        </p:nvSpPr>
        <p:spPr>
          <a:xfrm>
            <a:off x="548640" y="4297680"/>
            <a:ext cx="9144000" cy="109728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A working app wired to the live volunteer list, published to the crew</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Automations: scheduled or triggered by events</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Now its own area in the left nav. Draft-and-approve by default.</a:t>
            </a:r>
            <a:endParaRPr lang="en-US" sz="1800" dirty="0"/>
          </a:p>
        </p:txBody>
      </p:sp>
      <p:sp>
        <p:nvSpPr>
          <p:cNvPr id="4" name="Shape 2"/>
          <p:cNvSpPr/>
          <p:nvPr/>
        </p:nvSpPr>
        <p:spPr>
          <a:xfrm>
            <a:off x="548640" y="1783080"/>
            <a:ext cx="5410048" cy="2926080"/>
          </a:xfrm>
          <a:prstGeom prst="roundRect">
            <a:avLst>
              <a:gd name="adj" fmla="val 5625"/>
            </a:avLst>
          </a:prstGeom>
          <a:solidFill>
            <a:srgbClr val="1F0F38"/>
          </a:solidFill>
          <a:ln w="25400">
            <a:solidFill>
              <a:srgbClr val="3B74F0"/>
            </a:solidFill>
            <a:prstDash val="solid"/>
          </a:ln>
        </p:spPr>
        <p:txBody>
          <a:bodyPr/>
          <a:lstStyle/>
          <a:p>
            <a:endParaRPr lang="en-US"/>
          </a:p>
        </p:txBody>
      </p:sp>
      <p:sp>
        <p:nvSpPr>
          <p:cNvPr id="5" name="Shape 3"/>
          <p:cNvSpPr/>
          <p:nvPr/>
        </p:nvSpPr>
        <p:spPr>
          <a:xfrm>
            <a:off x="822960" y="205740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5840" y="2240280"/>
            <a:ext cx="365760" cy="365760"/>
          </a:xfrm>
          <a:prstGeom prst="rect">
            <a:avLst/>
          </a:prstGeom>
        </p:spPr>
      </p:pic>
      <p:sp>
        <p:nvSpPr>
          <p:cNvPr id="7" name="Text 4"/>
          <p:cNvSpPr txBox="1"/>
          <p:nvPr/>
        </p:nvSpPr>
        <p:spPr>
          <a:xfrm>
            <a:off x="1737360" y="2057400"/>
            <a:ext cx="4038448" cy="73152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On a schedule</a:t>
            </a:r>
            <a:endParaRPr lang="en-US" sz="2200" dirty="0"/>
          </a:p>
        </p:txBody>
      </p:sp>
      <p:sp>
        <p:nvSpPr>
          <p:cNvPr id="8" name="Text 5"/>
          <p:cNvSpPr txBox="1"/>
          <p:nvPr/>
        </p:nvSpPr>
        <p:spPr>
          <a:xfrm>
            <a:off x="868680" y="2971800"/>
            <a:ext cx="4861408"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"Every weekday at 8am, brief me in Teams"</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"Every Friday, send my weekly status"</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"First of the month, recap vendor spend"</a:t>
            </a:r>
            <a:endParaRPr lang="en-US" sz="1600" dirty="0"/>
          </a:p>
        </p:txBody>
      </p:sp>
      <p:sp>
        <p:nvSpPr>
          <p:cNvPr id="9" name="Shape 6"/>
          <p:cNvSpPr/>
          <p:nvPr/>
        </p:nvSpPr>
        <p:spPr>
          <a:xfrm>
            <a:off x="6233008" y="1783080"/>
            <a:ext cx="5410048" cy="2926080"/>
          </a:xfrm>
          <a:prstGeom prst="roundRect">
            <a:avLst>
              <a:gd name="adj" fmla="val 5625"/>
            </a:avLst>
          </a:prstGeom>
          <a:solidFill>
            <a:srgbClr val="1F0F38"/>
          </a:solidFill>
          <a:ln w="25400">
            <a:solidFill>
              <a:srgbClr val="D42A6E"/>
            </a:solidFill>
            <a:prstDash val="solid"/>
          </a:ln>
        </p:spPr>
        <p:txBody>
          <a:bodyPr/>
          <a:lstStyle/>
          <a:p>
            <a:endParaRPr lang="en-US"/>
          </a:p>
        </p:txBody>
      </p:sp>
      <p:sp>
        <p:nvSpPr>
          <p:cNvPr id="10" name="Shape 7"/>
          <p:cNvSpPr/>
          <p:nvPr/>
        </p:nvSpPr>
        <p:spPr>
          <a:xfrm>
            <a:off x="6507328" y="2057400"/>
            <a:ext cx="731520" cy="731520"/>
          </a:xfrm>
          <a:prstGeom prst="ellipse">
            <a:avLst/>
          </a:prstGeom>
          <a:solidFill>
            <a:srgbClr val="D42A6E"/>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690208" y="2240280"/>
            <a:ext cx="365760" cy="365760"/>
          </a:xfrm>
          <a:prstGeom prst="rect">
            <a:avLst/>
          </a:prstGeom>
        </p:spPr>
      </p:pic>
      <p:sp>
        <p:nvSpPr>
          <p:cNvPr id="12" name="Text 8"/>
          <p:cNvSpPr txBox="1"/>
          <p:nvPr/>
        </p:nvSpPr>
        <p:spPr>
          <a:xfrm>
            <a:off x="7421728" y="2057400"/>
            <a:ext cx="4038448" cy="73152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When something happens</a:t>
            </a:r>
            <a:endParaRPr lang="en-US" sz="2200" dirty="0"/>
          </a:p>
        </p:txBody>
      </p:sp>
      <p:sp>
        <p:nvSpPr>
          <p:cNvPr id="13" name="Text 9"/>
          <p:cNvSpPr txBox="1"/>
          <p:nvPr/>
        </p:nvSpPr>
        <p:spPr>
          <a:xfrm>
            <a:off x="6553048" y="2971800"/>
            <a:ext cx="4861408"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An email from a specific sender</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An @mention in Teams</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 keyword or topic shows up</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 meeting event</a:t>
            </a:r>
            <a:endParaRPr lang="en-US" sz="1600" dirty="0"/>
          </a:p>
        </p:txBody>
      </p:sp>
      <p:sp>
        <p:nvSpPr>
          <p:cNvPr id="14" name="Shape 10"/>
          <p:cNvSpPr/>
          <p:nvPr/>
        </p:nvSpPr>
        <p:spPr>
          <a:xfrm>
            <a:off x="548640" y="4892040"/>
            <a:ext cx="11094415" cy="594360"/>
          </a:xfrm>
          <a:prstGeom prst="roundRect">
            <a:avLst>
              <a:gd name="adj" fmla="val 27692"/>
            </a:avLst>
          </a:prstGeom>
          <a:solidFill>
            <a:srgbClr val="1F0F38"/>
          </a:solidFill>
          <a:ln w="12700">
            <a:solidFill>
              <a:srgbClr val="3A2260"/>
            </a:solidFill>
            <a:prstDash val="solid"/>
          </a:ln>
        </p:spPr>
        <p:txBody>
          <a:bodyPr/>
          <a:lstStyle/>
          <a:p>
            <a:endParaRPr lang="en-US"/>
          </a:p>
        </p:txBody>
      </p:sp>
      <p:sp>
        <p:nvSpPr>
          <p:cNvPr id="15" name="Text 11"/>
          <p:cNvSpPr txBox="1"/>
          <p:nvPr/>
        </p:nvSpPr>
        <p:spPr>
          <a:xfrm>
            <a:off x="822960" y="4892040"/>
            <a:ext cx="10545775" cy="594360"/>
          </a:xfrm>
          <a:prstGeom prst="rect">
            <a:avLst/>
          </a:prstGeom>
          <a:noFill/>
          <a:ln/>
        </p:spPr>
        <p:txBody>
          <a:bodyPr wrap="square" lIns="0" tIns="0" rIns="0" bIns="0" rtlCol="0" anchor="ctr"/>
          <a:lstStyle/>
          <a:p>
            <a:pPr marL="0" indent="0">
              <a:buNone/>
            </a:pPr>
            <a:r>
              <a:rPr lang="en-US" sz="1500" b="1" dirty="0">
                <a:solidFill>
                  <a:srgbClr val="FF5C9E"/>
                </a:solidFill>
                <a:latin typeface="Arial" pitchFamily="34" charset="0"/>
                <a:ea typeface="Arial" pitchFamily="34" charset="-122"/>
                <a:cs typeface="Arial" pitchFamily="34" charset="-120"/>
              </a:rPr>
              <a:t>You set the autonomy: </a:t>
            </a:r>
            <a:r>
              <a:rPr lang="en-US" sz="1500" dirty="0">
                <a:solidFill>
                  <a:srgbClr val="FFFFFF"/>
                </a:solidFill>
                <a:latin typeface="Arial" pitchFamily="34" charset="0"/>
                <a:ea typeface="Arial" pitchFamily="34" charset="-122"/>
                <a:cs typeface="Arial" pitchFamily="34" charset="-120"/>
              </a:rPr>
              <a:t>triggered tasks default to draft-and-approve, and you get notified when a task needs you or finishes.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468880"/>
            <a:ext cx="9144000" cy="173736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Scheduling tasks</a:t>
            </a:r>
            <a:endParaRPr lang="en-US" sz="4800" dirty="0"/>
          </a:p>
        </p:txBody>
      </p:sp>
      <p:sp>
        <p:nvSpPr>
          <p:cNvPr id="3" name="Text 1"/>
          <p:cNvSpPr>
            <a:spLocks noGrp="1"/>
          </p:cNvSpPr>
          <p:nvPr>
            <p:ph type="body" idx="102" hasCustomPrompt="1"/>
          </p:nvPr>
        </p:nvSpPr>
        <p:spPr>
          <a:xfrm>
            <a:off x="548640" y="4297680"/>
            <a:ext cx="9144000" cy="1097280"/>
          </a:xfrm>
          <a:prstGeom prst="rect">
            <a:avLst/>
          </a:prstGeom>
          <a:noFill/>
          <a:ln/>
        </p:spPr>
        <p:txBody>
          <a:bodyPr wrap="square" lIns="0" tIns="0" rIns="0" bIns="0" rtlCol="0" anchor="t"/>
          <a:lstStyle/>
          <a:p>
            <a:pPr marL="0" indent="0">
              <a:buNone/>
            </a:pPr>
            <a:r>
              <a:rPr lang="en-US" sz="2000" dirty="0" err="1">
                <a:solidFill>
                  <a:srgbClr val="CFC8E0"/>
                </a:solidFill>
                <a:latin typeface="Arial" pitchFamily="34" charset="0"/>
                <a:ea typeface="Arial" pitchFamily="34" charset="-122"/>
                <a:cs typeface="Arial" pitchFamily="34" charset="-120"/>
              </a:rPr>
              <a:t>Cowork</a:t>
            </a:r>
            <a:r>
              <a:rPr lang="en-US" sz="2000" dirty="0">
                <a:solidFill>
                  <a:srgbClr val="CFC8E0"/>
                </a:solidFill>
                <a:latin typeface="Arial" pitchFamily="34" charset="0"/>
                <a:ea typeface="Arial" pitchFamily="34" charset="-122"/>
                <a:cs typeface="Arial" pitchFamily="34" charset="-120"/>
              </a:rPr>
              <a:t> can help you setup automations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Tune every task for speed, smarts, or cost</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Three controls, right in the prompt box</a:t>
            </a:r>
            <a:endParaRPr lang="en-US" sz="1800" dirty="0"/>
          </a:p>
        </p:txBody>
      </p:sp>
      <p:sp>
        <p:nvSpPr>
          <p:cNvPr id="4" name="Shape 2"/>
          <p:cNvSpPr/>
          <p:nvPr/>
        </p:nvSpPr>
        <p:spPr>
          <a:xfrm>
            <a:off x="548640" y="1783080"/>
            <a:ext cx="3515258" cy="2743200"/>
          </a:xfrm>
          <a:prstGeom prst="roundRect">
            <a:avLst>
              <a:gd name="adj" fmla="val 6000"/>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777240" y="2011680"/>
            <a:ext cx="594360" cy="59436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25830" y="2160270"/>
            <a:ext cx="297180" cy="297180"/>
          </a:xfrm>
          <a:prstGeom prst="rect">
            <a:avLst/>
          </a:prstGeom>
        </p:spPr>
      </p:pic>
      <p:sp>
        <p:nvSpPr>
          <p:cNvPr id="7" name="Text 4"/>
          <p:cNvSpPr txBox="1"/>
          <p:nvPr/>
        </p:nvSpPr>
        <p:spPr>
          <a:xfrm>
            <a:off x="1508760" y="2011680"/>
            <a:ext cx="2326538" cy="5943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Model picker</a:t>
            </a:r>
            <a:endParaRPr lang="en-US" sz="2000" dirty="0"/>
          </a:p>
        </p:txBody>
      </p:sp>
      <p:sp>
        <p:nvSpPr>
          <p:cNvPr id="8" name="Text 5"/>
          <p:cNvSpPr txBox="1"/>
          <p:nvPr/>
        </p:nvSpPr>
        <p:spPr>
          <a:xfrm>
            <a:off x="777240" y="2697480"/>
            <a:ext cx="3058058" cy="173736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Choose Claude or GPT models per task, based on what your admin allows</a:t>
            </a:r>
            <a:endParaRPr lang="en-US" sz="1500" dirty="0"/>
          </a:p>
        </p:txBody>
      </p:sp>
      <p:sp>
        <p:nvSpPr>
          <p:cNvPr id="10" name="Shape 7"/>
          <p:cNvSpPr/>
          <p:nvPr/>
        </p:nvSpPr>
        <p:spPr>
          <a:xfrm>
            <a:off x="4338218" y="1783080"/>
            <a:ext cx="3515258" cy="2743200"/>
          </a:xfrm>
          <a:prstGeom prst="roundRect">
            <a:avLst>
              <a:gd name="adj" fmla="val 6000"/>
            </a:avLst>
          </a:prstGeom>
          <a:solidFill>
            <a:srgbClr val="1F0F38"/>
          </a:solidFill>
          <a:ln w="12700">
            <a:solidFill>
              <a:srgbClr val="3A2260"/>
            </a:solidFill>
            <a:prstDash val="solid"/>
          </a:ln>
        </p:spPr>
        <p:txBody>
          <a:bodyPr/>
          <a:lstStyle/>
          <a:p>
            <a:endParaRPr lang="en-US"/>
          </a:p>
        </p:txBody>
      </p:sp>
      <p:sp>
        <p:nvSpPr>
          <p:cNvPr id="11" name="Shape 8"/>
          <p:cNvSpPr/>
          <p:nvPr/>
        </p:nvSpPr>
        <p:spPr>
          <a:xfrm>
            <a:off x="4566818" y="2011680"/>
            <a:ext cx="594360" cy="594360"/>
          </a:xfrm>
          <a:prstGeom prst="ellipse">
            <a:avLst/>
          </a:prstGeom>
          <a:solidFill>
            <a:srgbClr val="8C38E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715408" y="2160270"/>
            <a:ext cx="297180" cy="297180"/>
          </a:xfrm>
          <a:prstGeom prst="rect">
            <a:avLst/>
          </a:prstGeom>
        </p:spPr>
      </p:pic>
      <p:sp>
        <p:nvSpPr>
          <p:cNvPr id="13" name="Text 9"/>
          <p:cNvSpPr txBox="1"/>
          <p:nvPr/>
        </p:nvSpPr>
        <p:spPr>
          <a:xfrm>
            <a:off x="5298338" y="2011680"/>
            <a:ext cx="2326538" cy="5943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Reasoning effort</a:t>
            </a:r>
            <a:endParaRPr lang="en-US" sz="2000" dirty="0"/>
          </a:p>
        </p:txBody>
      </p:sp>
      <p:sp>
        <p:nvSpPr>
          <p:cNvPr id="14" name="Text 10"/>
          <p:cNvSpPr txBox="1"/>
          <p:nvPr/>
        </p:nvSpPr>
        <p:spPr>
          <a:xfrm>
            <a:off x="4566818" y="2697480"/>
            <a:ext cx="3058058" cy="173736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Slide from Faster (cheaper) to Smarter (deeper, more credits)</a:t>
            </a:r>
            <a:endParaRPr lang="en-US" sz="1500" dirty="0"/>
          </a:p>
        </p:txBody>
      </p:sp>
      <p:sp>
        <p:nvSpPr>
          <p:cNvPr id="15" name="Text 11"/>
          <p:cNvSpPr txBox="1"/>
          <p:nvPr/>
        </p:nvSpPr>
        <p:spPr>
          <a:xfrm>
            <a:off x="7121957" y="1892808"/>
            <a:ext cx="676656" cy="274320"/>
          </a:xfrm>
          <a:prstGeom prst="roundRect">
            <a:avLst>
              <a:gd name="adj" fmla="val 43333"/>
            </a:avLst>
          </a:prstGeom>
          <a:solidFill>
            <a:srgbClr val="D42A6E"/>
          </a:solid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NEW</a:t>
            </a:r>
            <a:endParaRPr lang="en-US" sz="1200" dirty="0"/>
          </a:p>
        </p:txBody>
      </p:sp>
      <p:sp>
        <p:nvSpPr>
          <p:cNvPr id="16" name="Shape 12"/>
          <p:cNvSpPr/>
          <p:nvPr/>
        </p:nvSpPr>
        <p:spPr>
          <a:xfrm>
            <a:off x="8127797" y="1783080"/>
            <a:ext cx="3515258" cy="2743200"/>
          </a:xfrm>
          <a:prstGeom prst="roundRect">
            <a:avLst>
              <a:gd name="adj" fmla="val 6000"/>
            </a:avLst>
          </a:prstGeom>
          <a:solidFill>
            <a:srgbClr val="1F0F38"/>
          </a:solidFill>
          <a:ln w="12700">
            <a:solidFill>
              <a:srgbClr val="3A2260"/>
            </a:solidFill>
            <a:prstDash val="solid"/>
          </a:ln>
        </p:spPr>
        <p:txBody>
          <a:bodyPr/>
          <a:lstStyle/>
          <a:p>
            <a:endParaRPr lang="en-US"/>
          </a:p>
        </p:txBody>
      </p:sp>
      <p:sp>
        <p:nvSpPr>
          <p:cNvPr id="17" name="Shape 13"/>
          <p:cNvSpPr/>
          <p:nvPr/>
        </p:nvSpPr>
        <p:spPr>
          <a:xfrm>
            <a:off x="8356397" y="2011680"/>
            <a:ext cx="594360" cy="594360"/>
          </a:xfrm>
          <a:prstGeom prst="ellipse">
            <a:avLst/>
          </a:prstGeom>
          <a:solidFill>
            <a:srgbClr val="D42A6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04987" y="2160270"/>
            <a:ext cx="297180" cy="297180"/>
          </a:xfrm>
          <a:prstGeom prst="rect">
            <a:avLst/>
          </a:prstGeom>
        </p:spPr>
      </p:pic>
      <p:sp>
        <p:nvSpPr>
          <p:cNvPr id="19" name="Text 14"/>
          <p:cNvSpPr txBox="1"/>
          <p:nvPr/>
        </p:nvSpPr>
        <p:spPr>
          <a:xfrm>
            <a:off x="9087917" y="2011680"/>
            <a:ext cx="2326538" cy="5943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See what it costs</a:t>
            </a:r>
            <a:endParaRPr lang="en-US" sz="2000" dirty="0"/>
          </a:p>
        </p:txBody>
      </p:sp>
      <p:sp>
        <p:nvSpPr>
          <p:cNvPr id="20" name="Text 15"/>
          <p:cNvSpPr txBox="1"/>
          <p:nvPr/>
        </p:nvSpPr>
        <p:spPr>
          <a:xfrm>
            <a:off x="8356397" y="2697480"/>
            <a:ext cx="3058058" cy="173736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/cost for this task. View usage for your monthly quota and your group's spend.</a:t>
            </a:r>
            <a:endParaRPr lang="en-US" sz="1500" dirty="0"/>
          </a:p>
        </p:txBody>
      </p:sp>
      <p:sp>
        <p:nvSpPr>
          <p:cNvPr id="21" name="Text 16"/>
          <p:cNvSpPr txBox="1"/>
          <p:nvPr/>
        </p:nvSpPr>
        <p:spPr>
          <a:xfrm>
            <a:off x="10911535" y="1892808"/>
            <a:ext cx="676656" cy="274320"/>
          </a:xfrm>
          <a:prstGeom prst="roundRect">
            <a:avLst>
              <a:gd name="adj" fmla="val 43333"/>
            </a:avLst>
          </a:prstGeom>
          <a:solidFill>
            <a:srgbClr val="D42A6E"/>
          </a:solid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NEW</a:t>
            </a:r>
            <a:endParaRPr lang="en-US" sz="1200" dirty="0"/>
          </a:p>
        </p:txBody>
      </p:sp>
      <p:sp>
        <p:nvSpPr>
          <p:cNvPr id="22" name="Text 17"/>
          <p:cNvSpPr txBox="1"/>
          <p:nvPr/>
        </p:nvSpPr>
        <p:spPr>
          <a:xfrm>
            <a:off x="548640" y="4846320"/>
            <a:ext cx="11094415" cy="548640"/>
          </a:xfrm>
          <a:prstGeom prst="rect">
            <a:avLst/>
          </a:prstGeom>
          <a:noFill/>
          <a:ln/>
        </p:spPr>
        <p:txBody>
          <a:bodyPr wrap="square" lIns="0" tIns="0" rIns="0" bIns="0" rtlCol="0" anchor="ctr"/>
          <a:lstStyle/>
          <a:p>
            <a:pPr marL="0" indent="0">
              <a:buNone/>
            </a:pPr>
            <a:r>
              <a:rPr lang="en-US" sz="1700" b="1" dirty="0">
                <a:solidFill>
                  <a:srgbClr val="FF5C9E"/>
                </a:solidFill>
                <a:latin typeface="Arial" pitchFamily="34" charset="0"/>
                <a:ea typeface="Arial" pitchFamily="34" charset="-122"/>
                <a:cs typeface="Arial" pitchFamily="34" charset="-120"/>
              </a:rPr>
              <a:t>Rule of thumb: start Faster. Go Smarter for research, analysis, and anything you'll send to a customer.</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err="1">
                <a:solidFill>
                  <a:srgbClr val="FFFFFF"/>
                </a:solidFill>
                <a:latin typeface="Arial" pitchFamily="34" charset="0"/>
                <a:ea typeface="Arial" pitchFamily="34" charset="-122"/>
                <a:cs typeface="Arial" pitchFamily="34" charset="-120"/>
              </a:rPr>
              <a:t>Cowork</a:t>
            </a:r>
            <a:r>
              <a:rPr lang="en-US" sz="3600" b="1" dirty="0">
                <a:solidFill>
                  <a:srgbClr val="FFFFFF"/>
                </a:solidFill>
                <a:latin typeface="Arial" pitchFamily="34" charset="0"/>
                <a:ea typeface="Arial" pitchFamily="34" charset="-122"/>
                <a:cs typeface="Arial" pitchFamily="34" charset="-120"/>
              </a:rPr>
              <a:t> goes wherever you work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Quick hits to try</a:t>
            </a:r>
            <a:endParaRPr lang="en-US" sz="1800" dirty="0"/>
          </a:p>
        </p:txBody>
      </p:sp>
      <p:sp>
        <p:nvSpPr>
          <p:cNvPr id="4" name="Shape 2"/>
          <p:cNvSpPr/>
          <p:nvPr/>
        </p:nvSpPr>
        <p:spPr>
          <a:xfrm>
            <a:off x="548640"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777240" y="2011680"/>
            <a:ext cx="594360" cy="59436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25830" y="2160270"/>
            <a:ext cx="297180" cy="297180"/>
          </a:xfrm>
          <a:prstGeom prst="rect">
            <a:avLst/>
          </a:prstGeom>
        </p:spPr>
      </p:pic>
      <p:sp>
        <p:nvSpPr>
          <p:cNvPr id="7" name="Text 4"/>
          <p:cNvSpPr txBox="1"/>
          <p:nvPr/>
        </p:nvSpPr>
        <p:spPr>
          <a:xfrm>
            <a:off x="1508760" y="201168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Browser use in Edge</a:t>
            </a:r>
            <a:endParaRPr lang="en-US" sz="1800" dirty="0"/>
          </a:p>
        </p:txBody>
      </p:sp>
      <p:sp>
        <p:nvSpPr>
          <p:cNvPr id="8" name="Text 5"/>
          <p:cNvSpPr txBox="1"/>
          <p:nvPr/>
        </p:nvSpPr>
        <p:spPr>
          <a:xfrm>
            <a:off x="777240"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Does web tasks in Edge with your own sign-ins. Hands back to you for MFA.</a:t>
            </a:r>
            <a:endParaRPr lang="en-US" sz="1500" dirty="0"/>
          </a:p>
        </p:txBody>
      </p:sp>
      <p:sp>
        <p:nvSpPr>
          <p:cNvPr id="9" name="Text 6"/>
          <p:cNvSpPr txBox="1"/>
          <p:nvPr/>
        </p:nvSpPr>
        <p:spPr>
          <a:xfrm>
            <a:off x="3332378" y="1892808"/>
            <a:ext cx="676656" cy="274320"/>
          </a:xfrm>
          <a:prstGeom prst="roundRect">
            <a:avLst>
              <a:gd name="adj" fmla="val 43333"/>
            </a:avLst>
          </a:prstGeom>
          <a:solidFill>
            <a:srgbClr val="D42A6E"/>
          </a:solid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NEW</a:t>
            </a:r>
            <a:endParaRPr lang="en-US" sz="1200" dirty="0"/>
          </a:p>
        </p:txBody>
      </p:sp>
      <p:sp>
        <p:nvSpPr>
          <p:cNvPr id="10" name="Shape 7"/>
          <p:cNvSpPr/>
          <p:nvPr/>
        </p:nvSpPr>
        <p:spPr>
          <a:xfrm>
            <a:off x="4338218"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11" name="Shape 8"/>
          <p:cNvSpPr/>
          <p:nvPr/>
        </p:nvSpPr>
        <p:spPr>
          <a:xfrm>
            <a:off x="4566818" y="2011680"/>
            <a:ext cx="594360" cy="594360"/>
          </a:xfrm>
          <a:prstGeom prst="ellipse">
            <a:avLst/>
          </a:prstGeom>
          <a:solidFill>
            <a:srgbClr val="5A56E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715408" y="2160270"/>
            <a:ext cx="297180" cy="297180"/>
          </a:xfrm>
          <a:prstGeom prst="rect">
            <a:avLst/>
          </a:prstGeom>
        </p:spPr>
      </p:pic>
      <p:sp>
        <p:nvSpPr>
          <p:cNvPr id="13" name="Text 9"/>
          <p:cNvSpPr txBox="1"/>
          <p:nvPr/>
        </p:nvSpPr>
        <p:spPr>
          <a:xfrm>
            <a:off x="5298338" y="201168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Create + edit images</a:t>
            </a:r>
            <a:endParaRPr lang="en-US" sz="1800" dirty="0"/>
          </a:p>
        </p:txBody>
      </p:sp>
      <p:sp>
        <p:nvSpPr>
          <p:cNvPr id="14" name="Text 10"/>
          <p:cNvSpPr txBox="1"/>
          <p:nvPr/>
        </p:nvSpPr>
        <p:spPr>
          <a:xfrm>
            <a:off x="4566818"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Generate and edit visuals inside a task</a:t>
            </a:r>
            <a:endParaRPr lang="en-US" sz="1500" dirty="0"/>
          </a:p>
        </p:txBody>
      </p:sp>
      <p:sp>
        <p:nvSpPr>
          <p:cNvPr id="15" name="Text 11"/>
          <p:cNvSpPr txBox="1"/>
          <p:nvPr/>
        </p:nvSpPr>
        <p:spPr>
          <a:xfrm>
            <a:off x="7121957" y="1892808"/>
            <a:ext cx="676656" cy="274320"/>
          </a:xfrm>
          <a:prstGeom prst="roundRect">
            <a:avLst>
              <a:gd name="adj" fmla="val 43333"/>
            </a:avLst>
          </a:prstGeom>
          <a:solidFill>
            <a:srgbClr val="D42A6E"/>
          </a:solid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NEW</a:t>
            </a:r>
            <a:endParaRPr lang="en-US" sz="1200" dirty="0"/>
          </a:p>
        </p:txBody>
      </p:sp>
      <p:sp>
        <p:nvSpPr>
          <p:cNvPr id="16" name="Shape 12"/>
          <p:cNvSpPr/>
          <p:nvPr/>
        </p:nvSpPr>
        <p:spPr>
          <a:xfrm>
            <a:off x="8127797"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17" name="Shape 13"/>
          <p:cNvSpPr/>
          <p:nvPr/>
        </p:nvSpPr>
        <p:spPr>
          <a:xfrm>
            <a:off x="8356397" y="2011680"/>
            <a:ext cx="594360" cy="594360"/>
          </a:xfrm>
          <a:prstGeom prst="ellipse">
            <a:avLst/>
          </a:prstGeom>
          <a:solidFill>
            <a:srgbClr val="8C38E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04987" y="2160270"/>
            <a:ext cx="297180" cy="297180"/>
          </a:xfrm>
          <a:prstGeom prst="rect">
            <a:avLst/>
          </a:prstGeom>
        </p:spPr>
      </p:pic>
      <p:sp>
        <p:nvSpPr>
          <p:cNvPr id="19" name="Text 14"/>
          <p:cNvSpPr txBox="1"/>
          <p:nvPr/>
        </p:nvSpPr>
        <p:spPr>
          <a:xfrm>
            <a:off x="9087917" y="201168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Your org's templates</a:t>
            </a:r>
            <a:endParaRPr lang="en-US" sz="1800" dirty="0"/>
          </a:p>
        </p:txBody>
      </p:sp>
      <p:sp>
        <p:nvSpPr>
          <p:cNvPr id="20" name="Text 15"/>
          <p:cNvSpPr txBox="1"/>
          <p:nvPr/>
        </p:nvSpPr>
        <p:spPr>
          <a:xfrm>
            <a:off x="8356397"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Decks come out on your company's PowerPoint template</a:t>
            </a:r>
            <a:endParaRPr lang="en-US" sz="1500" dirty="0"/>
          </a:p>
        </p:txBody>
      </p:sp>
      <p:sp>
        <p:nvSpPr>
          <p:cNvPr id="21" name="Text 16"/>
          <p:cNvSpPr txBox="1"/>
          <p:nvPr/>
        </p:nvSpPr>
        <p:spPr>
          <a:xfrm>
            <a:off x="10911535" y="1892808"/>
            <a:ext cx="676656" cy="274320"/>
          </a:xfrm>
          <a:prstGeom prst="roundRect">
            <a:avLst>
              <a:gd name="adj" fmla="val 43333"/>
            </a:avLst>
          </a:prstGeom>
          <a:solidFill>
            <a:srgbClr val="D42A6E"/>
          </a:solid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NEW</a:t>
            </a:r>
            <a:endParaRPr lang="en-US" sz="1200" dirty="0"/>
          </a:p>
        </p:txBody>
      </p:sp>
      <p:sp>
        <p:nvSpPr>
          <p:cNvPr id="22" name="Shape 17"/>
          <p:cNvSpPr/>
          <p:nvPr/>
        </p:nvSpPr>
        <p:spPr>
          <a:xfrm>
            <a:off x="548640"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23" name="Shape 18"/>
          <p:cNvSpPr/>
          <p:nvPr/>
        </p:nvSpPr>
        <p:spPr>
          <a:xfrm>
            <a:off x="777240" y="4023360"/>
            <a:ext cx="594360" cy="594360"/>
          </a:xfrm>
          <a:prstGeom prst="ellipse">
            <a:avLst/>
          </a:prstGeom>
          <a:solidFill>
            <a:srgbClr val="3B74F0"/>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925830" y="4171950"/>
            <a:ext cx="297180" cy="297180"/>
          </a:xfrm>
          <a:prstGeom prst="rect">
            <a:avLst/>
          </a:prstGeom>
        </p:spPr>
      </p:pic>
      <p:sp>
        <p:nvSpPr>
          <p:cNvPr id="25" name="Text 19"/>
          <p:cNvSpPr txBox="1"/>
          <p:nvPr/>
        </p:nvSpPr>
        <p:spPr>
          <a:xfrm>
            <a:off x="1508760" y="402336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Teams @mention</a:t>
            </a:r>
            <a:endParaRPr lang="en-US" sz="1800" dirty="0"/>
          </a:p>
        </p:txBody>
      </p:sp>
      <p:sp>
        <p:nvSpPr>
          <p:cNvPr id="26" name="Text 20"/>
          <p:cNvSpPr txBox="1"/>
          <p:nvPr/>
        </p:nvSpPr>
        <p:spPr>
          <a:xfrm>
            <a:off x="777240"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Hand Cowork a task from the chat you're already in</a:t>
            </a:r>
            <a:endParaRPr lang="en-US" sz="1500" dirty="0"/>
          </a:p>
        </p:txBody>
      </p:sp>
      <p:sp>
        <p:nvSpPr>
          <p:cNvPr id="27" name="Shape 21"/>
          <p:cNvSpPr/>
          <p:nvPr/>
        </p:nvSpPr>
        <p:spPr>
          <a:xfrm>
            <a:off x="4338218"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28" name="Shape 22"/>
          <p:cNvSpPr/>
          <p:nvPr/>
        </p:nvSpPr>
        <p:spPr>
          <a:xfrm>
            <a:off x="4566818" y="4023360"/>
            <a:ext cx="594360" cy="594360"/>
          </a:xfrm>
          <a:prstGeom prst="ellipse">
            <a:avLst/>
          </a:prstGeom>
          <a:solidFill>
            <a:srgbClr val="5A56E8"/>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4715408" y="4171950"/>
            <a:ext cx="297180" cy="297180"/>
          </a:xfrm>
          <a:prstGeom prst="rect">
            <a:avLst/>
          </a:prstGeom>
        </p:spPr>
      </p:pic>
      <p:sp>
        <p:nvSpPr>
          <p:cNvPr id="30" name="Text 23"/>
          <p:cNvSpPr txBox="1"/>
          <p:nvPr/>
        </p:nvSpPr>
        <p:spPr>
          <a:xfrm>
            <a:off x="5298338" y="402336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Mobile hand-off</a:t>
            </a:r>
            <a:endParaRPr lang="en-US" sz="1800" dirty="0"/>
          </a:p>
        </p:txBody>
      </p:sp>
      <p:sp>
        <p:nvSpPr>
          <p:cNvPr id="31" name="Text 24"/>
          <p:cNvSpPr txBox="1"/>
          <p:nvPr/>
        </p:nvSpPr>
        <p:spPr>
          <a:xfrm>
            <a:off x="4566818"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Start on your phone. It finishes in the cloud.</a:t>
            </a:r>
            <a:endParaRPr lang="en-US" sz="1500" dirty="0"/>
          </a:p>
        </p:txBody>
      </p:sp>
      <p:sp>
        <p:nvSpPr>
          <p:cNvPr id="32" name="Shape 25"/>
          <p:cNvSpPr/>
          <p:nvPr/>
        </p:nvSpPr>
        <p:spPr>
          <a:xfrm>
            <a:off x="8127797"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33" name="Shape 26"/>
          <p:cNvSpPr/>
          <p:nvPr/>
        </p:nvSpPr>
        <p:spPr>
          <a:xfrm>
            <a:off x="8356397" y="4023360"/>
            <a:ext cx="594360" cy="594360"/>
          </a:xfrm>
          <a:prstGeom prst="ellipse">
            <a:avLst/>
          </a:prstGeom>
          <a:solidFill>
            <a:srgbClr val="8C38E0"/>
          </a:solidFill>
          <a:ln/>
        </p:spPr>
        <p:txBody>
          <a:bodyPr/>
          <a:lstStyle/>
          <a:p>
            <a:endParaRPr lang="en-US"/>
          </a:p>
        </p:txBody>
      </p:sp>
      <p:pic>
        <p:nvPicPr>
          <p:cNvPr id="34" name="Image 5" descr="preencoded.png"/>
          <p:cNvPicPr>
            <a:picLocks noChangeAspect="1"/>
          </p:cNvPicPr>
          <p:nvPr/>
        </p:nvPicPr>
        <p:blipFill>
          <a:blip r:embed="rId8"/>
          <a:stretch>
            <a:fillRect/>
          </a:stretch>
        </p:blipFill>
        <p:spPr>
          <a:xfrm>
            <a:off x="8504987" y="4171950"/>
            <a:ext cx="297180" cy="297180"/>
          </a:xfrm>
          <a:prstGeom prst="rect">
            <a:avLst/>
          </a:prstGeom>
        </p:spPr>
      </p:pic>
      <p:sp>
        <p:nvSpPr>
          <p:cNvPr id="35" name="Text 27"/>
          <p:cNvSpPr txBox="1"/>
          <p:nvPr/>
        </p:nvSpPr>
        <p:spPr>
          <a:xfrm>
            <a:off x="9087917" y="4023360"/>
            <a:ext cx="2326538"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Cowork CLI</a:t>
            </a:r>
            <a:endParaRPr lang="en-US" sz="1800" dirty="0"/>
          </a:p>
        </p:txBody>
      </p:sp>
      <p:sp>
        <p:nvSpPr>
          <p:cNvPr id="36" name="Text 28"/>
          <p:cNvSpPr txBox="1"/>
          <p:nvPr/>
        </p:nvSpPr>
        <p:spPr>
          <a:xfrm>
            <a:off x="8356397"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Same runtime from your terminal. Script it, or run it as an MCP server.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3657600" cy="1371600"/>
          </a:xfrm>
          <a:prstGeom prst="rect">
            <a:avLst/>
          </a:prstGeom>
          <a:noFill/>
          <a:ln/>
        </p:spPr>
        <p:txBody>
          <a:bodyPr wrap="square" lIns="0" tIns="0" rIns="0" bIns="0" rtlCol="0" anchor="b"/>
          <a:lstStyle/>
          <a:p>
            <a:pPr marL="0" indent="0">
              <a:buNone/>
            </a:pPr>
            <a:r>
              <a:rPr lang="en-US" sz="8800" b="1" dirty="0">
                <a:solidFill>
                  <a:srgbClr val="FF5C9E"/>
                </a:solidFill>
                <a:latin typeface="Arial" pitchFamily="34" charset="0"/>
                <a:ea typeface="Arial" pitchFamily="34" charset="-122"/>
                <a:cs typeface="Arial" pitchFamily="34" charset="-120"/>
              </a:rPr>
              <a:t>04</a:t>
            </a:r>
            <a:endParaRPr lang="en-US" sz="8800" dirty="0"/>
          </a:p>
        </p:txBody>
      </p:sp>
      <p:sp>
        <p:nvSpPr>
          <p:cNvPr id="3" name="Text 0"/>
          <p:cNvSpPr>
            <a:spLocks noGrp="1"/>
          </p:cNvSpPr>
          <p:nvPr>
            <p:ph type="title" idx="101" hasCustomPrompt="1"/>
          </p:nvPr>
        </p:nvSpPr>
        <p:spPr>
          <a:xfrm>
            <a:off x="548640" y="2743200"/>
            <a:ext cx="8686800" cy="155448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Make it yours</a:t>
            </a:r>
            <a:endParaRPr lang="en-US" sz="4800" dirty="0"/>
          </a:p>
        </p:txBody>
      </p:sp>
      <p:sp>
        <p:nvSpPr>
          <p:cNvPr id="4" name="Text 0"/>
          <p:cNvSpPr>
            <a:spLocks noGrp="1"/>
          </p:cNvSpPr>
          <p:nvPr>
            <p:ph type="body" idx="102" hasCustomPrompt="1"/>
          </p:nvPr>
        </p:nvSpPr>
        <p:spPr>
          <a:xfrm>
            <a:off x="548640" y="4389120"/>
            <a:ext cx="8686800" cy="73152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Skills, plugins, and MCP</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A skill is a capability. A plugin is a container.</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Get this one relationship and the rest clicks</a:t>
            </a:r>
            <a:endParaRPr lang="en-US" sz="1800" dirty="0"/>
          </a:p>
        </p:txBody>
      </p:sp>
      <p:sp>
        <p:nvSpPr>
          <p:cNvPr id="4" name="Shape 2"/>
          <p:cNvSpPr/>
          <p:nvPr/>
        </p:nvSpPr>
        <p:spPr>
          <a:xfrm>
            <a:off x="548640" y="1783080"/>
            <a:ext cx="5029200" cy="3611880"/>
          </a:xfrm>
          <a:prstGeom prst="roundRect">
            <a:avLst>
              <a:gd name="adj" fmla="val 4557"/>
            </a:avLst>
          </a:prstGeom>
          <a:solidFill>
            <a:srgbClr val="1F0F38"/>
          </a:solidFill>
          <a:ln w="25400">
            <a:solidFill>
              <a:srgbClr val="3B74F0"/>
            </a:solidFill>
            <a:prstDash val="solid"/>
          </a:ln>
        </p:spPr>
        <p:txBody>
          <a:bodyPr/>
          <a:lstStyle/>
          <a:p>
            <a:endParaRPr lang="en-US"/>
          </a:p>
        </p:txBody>
      </p:sp>
      <p:sp>
        <p:nvSpPr>
          <p:cNvPr id="5" name="Shape 3"/>
          <p:cNvSpPr/>
          <p:nvPr/>
        </p:nvSpPr>
        <p:spPr>
          <a:xfrm>
            <a:off x="822960" y="201168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5840" y="2194560"/>
            <a:ext cx="365760" cy="365760"/>
          </a:xfrm>
          <a:prstGeom prst="rect">
            <a:avLst/>
          </a:prstGeom>
        </p:spPr>
      </p:pic>
      <p:sp>
        <p:nvSpPr>
          <p:cNvPr id="7" name="Text 4"/>
          <p:cNvSpPr txBox="1"/>
          <p:nvPr/>
        </p:nvSpPr>
        <p:spPr>
          <a:xfrm>
            <a:off x="1737360" y="2011680"/>
            <a:ext cx="2743200" cy="73152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Skills</a:t>
            </a:r>
            <a:endParaRPr lang="en-US" sz="2600" dirty="0"/>
          </a:p>
        </p:txBody>
      </p:sp>
      <p:sp>
        <p:nvSpPr>
          <p:cNvPr id="8" name="Text 5"/>
          <p:cNvSpPr txBox="1"/>
          <p:nvPr/>
        </p:nvSpPr>
        <p:spPr>
          <a:xfrm>
            <a:off x="868680" y="2926080"/>
            <a:ext cx="448056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Specific instructions on something Cowork can do</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 folder with a SKILL.md: when to use it, how to do it</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You make them: "save this as a skill"</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Up to 50 personal skills, and now shareable</a:t>
            </a:r>
            <a:endParaRPr lang="en-US" sz="1600" dirty="0"/>
          </a:p>
        </p:txBody>
      </p:sp>
      <p:sp>
        <p:nvSpPr>
          <p:cNvPr id="9" name="Shape 6"/>
          <p:cNvSpPr/>
          <p:nvPr/>
        </p:nvSpPr>
        <p:spPr>
          <a:xfrm>
            <a:off x="5715000" y="3566160"/>
            <a:ext cx="731520" cy="0"/>
          </a:xfrm>
          <a:prstGeom prst="line">
            <a:avLst/>
          </a:prstGeom>
          <a:noFill/>
          <a:ln w="25400">
            <a:solidFill>
              <a:srgbClr val="CFC8E0"/>
            </a:solidFill>
            <a:prstDash val="solid"/>
            <a:tailEnd type="triangle"/>
          </a:ln>
        </p:spPr>
        <p:txBody>
          <a:bodyPr/>
          <a:lstStyle/>
          <a:p>
            <a:endParaRPr lang="en-US"/>
          </a:p>
        </p:txBody>
      </p:sp>
      <p:sp>
        <p:nvSpPr>
          <p:cNvPr id="10" name="Text 7"/>
          <p:cNvSpPr txBox="1"/>
          <p:nvPr/>
        </p:nvSpPr>
        <p:spPr>
          <a:xfrm>
            <a:off x="5623560" y="3154680"/>
            <a:ext cx="914400" cy="320040"/>
          </a:xfrm>
          <a:prstGeom prst="rect">
            <a:avLst/>
          </a:prstGeom>
          <a:noFill/>
          <a:ln/>
        </p:spPr>
        <p:txBody>
          <a:bodyPr wrap="square" lIns="0" tIns="0" rIns="0" bIns="0" rtlCol="0" anchor="ctr"/>
          <a:lstStyle/>
          <a:p>
            <a:pPr marL="0" indent="0" algn="ctr">
              <a:buNone/>
            </a:pPr>
            <a:r>
              <a:rPr lang="en-US" sz="1300" dirty="0">
                <a:solidFill>
                  <a:srgbClr val="CFC8E0"/>
                </a:solidFill>
                <a:latin typeface="Arial" pitchFamily="34" charset="0"/>
                <a:ea typeface="Arial" pitchFamily="34" charset="-122"/>
                <a:cs typeface="Arial" pitchFamily="34" charset="-120"/>
              </a:rPr>
              <a:t>wraps</a:t>
            </a:r>
            <a:endParaRPr lang="en-US" sz="1300" dirty="0"/>
          </a:p>
        </p:txBody>
      </p:sp>
      <p:sp>
        <p:nvSpPr>
          <p:cNvPr id="11" name="Shape 8"/>
          <p:cNvSpPr/>
          <p:nvPr/>
        </p:nvSpPr>
        <p:spPr>
          <a:xfrm>
            <a:off x="6611112" y="1783080"/>
            <a:ext cx="5029200" cy="3611880"/>
          </a:xfrm>
          <a:prstGeom prst="roundRect">
            <a:avLst>
              <a:gd name="adj" fmla="val 4557"/>
            </a:avLst>
          </a:prstGeom>
          <a:solidFill>
            <a:srgbClr val="1F0F38"/>
          </a:solidFill>
          <a:ln w="25400">
            <a:solidFill>
              <a:srgbClr val="D42A6E"/>
            </a:solidFill>
            <a:prstDash val="solid"/>
          </a:ln>
        </p:spPr>
        <p:txBody>
          <a:bodyPr/>
          <a:lstStyle/>
          <a:p>
            <a:endParaRPr lang="en-US"/>
          </a:p>
        </p:txBody>
      </p:sp>
      <p:sp>
        <p:nvSpPr>
          <p:cNvPr id="12" name="Shape 9"/>
          <p:cNvSpPr/>
          <p:nvPr/>
        </p:nvSpPr>
        <p:spPr>
          <a:xfrm>
            <a:off x="6885432" y="2011680"/>
            <a:ext cx="731520" cy="731520"/>
          </a:xfrm>
          <a:prstGeom prst="ellipse">
            <a:avLst/>
          </a:prstGeom>
          <a:solidFill>
            <a:srgbClr val="D42A6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7068312" y="2194560"/>
            <a:ext cx="365760" cy="365760"/>
          </a:xfrm>
          <a:prstGeom prst="rect">
            <a:avLst/>
          </a:prstGeom>
        </p:spPr>
      </p:pic>
      <p:sp>
        <p:nvSpPr>
          <p:cNvPr id="14" name="Text 10"/>
          <p:cNvSpPr txBox="1"/>
          <p:nvPr/>
        </p:nvSpPr>
        <p:spPr>
          <a:xfrm>
            <a:off x="7799832" y="2011680"/>
            <a:ext cx="2743200" cy="73152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Plugins</a:t>
            </a:r>
            <a:endParaRPr lang="en-US" sz="2600" dirty="0"/>
          </a:p>
        </p:txBody>
      </p:sp>
      <p:sp>
        <p:nvSpPr>
          <p:cNvPr id="15" name="Text 11"/>
          <p:cNvSpPr txBox="1"/>
          <p:nvPr/>
        </p:nvSpPr>
        <p:spPr>
          <a:xfrm>
            <a:off x="6931152" y="2926080"/>
            <a:ext cx="448056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How new capabilities arrive</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Package skills + connectors in one M365 app .zip</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From partners, your IT team, or you</a:t>
            </a:r>
            <a:endParaRPr lang="en-US" sz="1600" dirty="0"/>
          </a:p>
          <a:p>
            <a:pPr marL="342900" indent="-342900">
              <a:spcAft>
                <a:spcPts val="600"/>
              </a:spcAft>
              <a:buSzPct val="100000"/>
              <a:buChar char="•"/>
            </a:pPr>
            <a:r>
              <a:rPr lang="en-US" sz="1600" dirty="0">
                <a:solidFill>
                  <a:srgbClr val="CFC8E0"/>
                </a:solidFill>
                <a:latin typeface="Arial" pitchFamily="34" charset="0"/>
                <a:ea typeface="Arial" pitchFamily="34" charset="-122"/>
                <a:cs typeface="Arial" pitchFamily="34" charset="-120"/>
              </a:rPr>
              <a:t>Admins manage them like apps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Anatomy of a custom skill</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Plain markdown in OneDrive. The same open format as PowerPoint, Excel, and Agent Builder.</a:t>
            </a:r>
            <a:endParaRPr lang="en-US" sz="1800" dirty="0"/>
          </a:p>
        </p:txBody>
      </p:sp>
      <p:sp>
        <p:nvSpPr>
          <p:cNvPr id="4" name="Shape 2"/>
          <p:cNvSpPr/>
          <p:nvPr/>
        </p:nvSpPr>
        <p:spPr>
          <a:xfrm>
            <a:off x="548640" y="1783080"/>
            <a:ext cx="5669280" cy="3611880"/>
          </a:xfrm>
          <a:prstGeom prst="roundRect">
            <a:avLst>
              <a:gd name="adj" fmla="val 4557"/>
            </a:avLst>
          </a:prstGeom>
          <a:solidFill>
            <a:srgbClr val="1F0F38"/>
          </a:solidFill>
          <a:ln w="19050">
            <a:solidFill>
              <a:srgbClr val="8C38E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22960" y="1965960"/>
            <a:ext cx="384048" cy="384048"/>
          </a:xfrm>
          <a:prstGeom prst="rect">
            <a:avLst/>
          </a:prstGeom>
        </p:spPr>
      </p:pic>
      <p:sp>
        <p:nvSpPr>
          <p:cNvPr id="6" name="Text 3"/>
          <p:cNvSpPr txBox="1"/>
          <p:nvPr/>
        </p:nvSpPr>
        <p:spPr>
          <a:xfrm>
            <a:off x="1325880" y="1920240"/>
            <a:ext cx="4754880" cy="457200"/>
          </a:xfrm>
          <a:prstGeom prst="rect">
            <a:avLst/>
          </a:prstGeom>
          <a:noFill/>
          <a:ln/>
        </p:spPr>
        <p:txBody>
          <a:bodyPr wrap="square" lIns="0" tIns="0" rIns="0" bIns="0"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Cowork/skills/vendor-brief/SKILL.md</a:t>
            </a:r>
            <a:endParaRPr lang="en-US" sz="1500" dirty="0"/>
          </a:p>
        </p:txBody>
      </p:sp>
      <p:sp>
        <p:nvSpPr>
          <p:cNvPr id="7" name="Text 4"/>
          <p:cNvSpPr txBox="1"/>
          <p:nvPr/>
        </p:nvSpPr>
        <p:spPr>
          <a:xfrm>
            <a:off x="868680" y="2514600"/>
            <a:ext cx="5212080" cy="2743200"/>
          </a:xfrm>
          <a:prstGeom prst="rect">
            <a:avLst/>
          </a:prstGeom>
          <a:noFill/>
          <a:ln/>
        </p:spPr>
        <p:txBody>
          <a:bodyPr wrap="square" lIns="0" tIns="0" rIns="0" bIns="0" rtlCol="0" anchor="t"/>
          <a:lstStyle/>
          <a:p>
            <a:pPr marL="0" indent="0">
              <a:buNone/>
            </a:pPr>
            <a:r>
              <a:rPr lang="en-US" sz="1400" dirty="0">
                <a:solidFill>
                  <a:srgbClr val="CFC8E0"/>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FF5C9E"/>
                </a:solidFill>
                <a:latin typeface="Courier New" pitchFamily="34" charset="0"/>
                <a:ea typeface="Courier New" pitchFamily="34" charset="-122"/>
                <a:cs typeface="Courier New" pitchFamily="34" charset="-120"/>
              </a:rPr>
              <a:t>name: </a:t>
            </a:r>
            <a:r>
              <a:rPr lang="en-US" sz="1400" dirty="0">
                <a:solidFill>
                  <a:srgbClr val="FFFFFF"/>
                </a:solidFill>
                <a:latin typeface="Courier New" pitchFamily="34" charset="0"/>
                <a:ea typeface="Courier New" pitchFamily="34" charset="-122"/>
                <a:cs typeface="Courier New" pitchFamily="34" charset="-120"/>
              </a:rPr>
              <a:t>vendor-brief</a:t>
            </a:r>
            <a:endParaRPr lang="en-US" sz="1400" dirty="0"/>
          </a:p>
          <a:p>
            <a:pPr marL="0" indent="0">
              <a:buNone/>
            </a:pPr>
            <a:r>
              <a:rPr lang="en-US" sz="1400" dirty="0">
                <a:solidFill>
                  <a:srgbClr val="FF5C9E"/>
                </a:solidFill>
                <a:latin typeface="Courier New" pitchFamily="34" charset="0"/>
                <a:ea typeface="Courier New" pitchFamily="34" charset="-122"/>
                <a:cs typeface="Courier New" pitchFamily="34" charset="-120"/>
              </a:rPr>
              <a:t>description: </a:t>
            </a:r>
            <a:r>
              <a:rPr lang="en-US" sz="1400" dirty="0">
                <a:solidFill>
                  <a:srgbClr val="FFFFFF"/>
                </a:solidFill>
                <a:latin typeface="Courier New" pitchFamily="34" charset="0"/>
                <a:ea typeface="Courier New" pitchFamily="34" charset="-122"/>
                <a:cs typeface="Courier New" pitchFamily="34" charset="-120"/>
              </a:rPr>
              <a:t>Prep a one-page brief</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before any vendor or label meeting.</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Use for "prep me for" + a vendor.</a:t>
            </a:r>
            <a:endParaRPr lang="en-US" sz="1400" dirty="0"/>
          </a:p>
          <a:p>
            <a:pPr marL="0" indent="0">
              <a:buNone/>
            </a:pPr>
            <a:r>
              <a:rPr lang="en-US" sz="1400" dirty="0">
                <a:solidFill>
                  <a:srgbClr val="CFC8E0"/>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1. Last 6 months of email + Teams</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2. Past orders from Vendor_Pipeline</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3. One page, 3 talking points</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4. Preview before creating files</a:t>
            </a:r>
            <a:endParaRPr lang="en-US" sz="1400" dirty="0"/>
          </a:p>
        </p:txBody>
      </p:sp>
      <p:sp>
        <p:nvSpPr>
          <p:cNvPr id="8" name="Shape 5"/>
          <p:cNvSpPr/>
          <p:nvPr/>
        </p:nvSpPr>
        <p:spPr>
          <a:xfrm>
            <a:off x="6492240" y="1783080"/>
            <a:ext cx="5148072" cy="1078992"/>
          </a:xfrm>
          <a:prstGeom prst="roundRect">
            <a:avLst>
              <a:gd name="adj" fmla="val 15254"/>
            </a:avLst>
          </a:prstGeom>
          <a:solidFill>
            <a:srgbClr val="1F0F38"/>
          </a:solidFill>
          <a:ln w="12700">
            <a:solidFill>
              <a:srgbClr val="3A2260"/>
            </a:solidFill>
            <a:prstDash val="solid"/>
          </a:ln>
        </p:spPr>
        <p:txBody>
          <a:bodyPr/>
          <a:lstStyle/>
          <a:p>
            <a:endParaRPr lang="en-US"/>
          </a:p>
        </p:txBody>
      </p:sp>
      <p:sp>
        <p:nvSpPr>
          <p:cNvPr id="9" name="Shape 6"/>
          <p:cNvSpPr/>
          <p:nvPr/>
        </p:nvSpPr>
        <p:spPr>
          <a:xfrm>
            <a:off x="6675120" y="2002536"/>
            <a:ext cx="640080" cy="640080"/>
          </a:xfrm>
          <a:prstGeom prst="ellipse">
            <a:avLst/>
          </a:prstGeom>
          <a:solidFill>
            <a:srgbClr val="3B74F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835140" y="2162556"/>
            <a:ext cx="320040" cy="320040"/>
          </a:xfrm>
          <a:prstGeom prst="rect">
            <a:avLst/>
          </a:prstGeom>
        </p:spPr>
      </p:pic>
      <p:sp>
        <p:nvSpPr>
          <p:cNvPr id="11" name="Text 7"/>
          <p:cNvSpPr txBox="1"/>
          <p:nvPr/>
        </p:nvSpPr>
        <p:spPr>
          <a:xfrm>
            <a:off x="7498080" y="1892808"/>
            <a:ext cx="402336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Folder name = skill name</a:t>
            </a:r>
            <a:endParaRPr lang="en-US" sz="1800" dirty="0"/>
          </a:p>
        </p:txBody>
      </p:sp>
      <p:sp>
        <p:nvSpPr>
          <p:cNvPr id="12" name="Text 8"/>
          <p:cNvSpPr txBox="1"/>
          <p:nvPr/>
        </p:nvSpPr>
        <p:spPr>
          <a:xfrm>
            <a:off x="7498080" y="2313432"/>
            <a:ext cx="4023360" cy="45720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The #1 reason a skill won't load</a:t>
            </a:r>
            <a:endParaRPr lang="en-US" sz="1500" dirty="0"/>
          </a:p>
        </p:txBody>
      </p:sp>
      <p:sp>
        <p:nvSpPr>
          <p:cNvPr id="13" name="Shape 9"/>
          <p:cNvSpPr/>
          <p:nvPr/>
        </p:nvSpPr>
        <p:spPr>
          <a:xfrm>
            <a:off x="6492240" y="3017520"/>
            <a:ext cx="5148072" cy="1078992"/>
          </a:xfrm>
          <a:prstGeom prst="roundRect">
            <a:avLst>
              <a:gd name="adj" fmla="val 15254"/>
            </a:avLst>
          </a:prstGeom>
          <a:solidFill>
            <a:srgbClr val="1F0F38"/>
          </a:solidFill>
          <a:ln w="12700">
            <a:solidFill>
              <a:srgbClr val="3A2260"/>
            </a:solidFill>
            <a:prstDash val="solid"/>
          </a:ln>
        </p:spPr>
        <p:txBody>
          <a:bodyPr/>
          <a:lstStyle/>
          <a:p>
            <a:endParaRPr lang="en-US"/>
          </a:p>
        </p:txBody>
      </p:sp>
      <p:sp>
        <p:nvSpPr>
          <p:cNvPr id="14" name="Shape 10"/>
          <p:cNvSpPr/>
          <p:nvPr/>
        </p:nvSpPr>
        <p:spPr>
          <a:xfrm>
            <a:off x="6675120" y="3236976"/>
            <a:ext cx="640080" cy="640080"/>
          </a:xfrm>
          <a:prstGeom prst="ellipse">
            <a:avLst/>
          </a:prstGeom>
          <a:solidFill>
            <a:srgbClr val="5A56E8"/>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835140" y="3396996"/>
            <a:ext cx="320040" cy="320040"/>
          </a:xfrm>
          <a:prstGeom prst="rect">
            <a:avLst/>
          </a:prstGeom>
        </p:spPr>
      </p:pic>
      <p:sp>
        <p:nvSpPr>
          <p:cNvPr id="16" name="Text 11"/>
          <p:cNvSpPr txBox="1"/>
          <p:nvPr/>
        </p:nvSpPr>
        <p:spPr>
          <a:xfrm>
            <a:off x="7498080" y="3127248"/>
            <a:ext cx="402336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The description is the trigger</a:t>
            </a:r>
            <a:endParaRPr lang="en-US" sz="1800" dirty="0"/>
          </a:p>
        </p:txBody>
      </p:sp>
      <p:sp>
        <p:nvSpPr>
          <p:cNvPr id="17" name="Text 12"/>
          <p:cNvSpPr txBox="1"/>
          <p:nvPr/>
        </p:nvSpPr>
        <p:spPr>
          <a:xfrm>
            <a:off x="7498080" y="3547872"/>
            <a:ext cx="4023360" cy="45720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Say exactly when to use it</a:t>
            </a:r>
            <a:endParaRPr lang="en-US" sz="1500" dirty="0"/>
          </a:p>
        </p:txBody>
      </p:sp>
      <p:sp>
        <p:nvSpPr>
          <p:cNvPr id="18" name="Shape 13"/>
          <p:cNvSpPr/>
          <p:nvPr/>
        </p:nvSpPr>
        <p:spPr>
          <a:xfrm>
            <a:off x="6492240" y="4251960"/>
            <a:ext cx="5148072" cy="1078992"/>
          </a:xfrm>
          <a:prstGeom prst="roundRect">
            <a:avLst>
              <a:gd name="adj" fmla="val 15254"/>
            </a:avLst>
          </a:prstGeom>
          <a:solidFill>
            <a:srgbClr val="1F0F38"/>
          </a:solidFill>
          <a:ln w="12700">
            <a:solidFill>
              <a:srgbClr val="3A2260"/>
            </a:solidFill>
            <a:prstDash val="solid"/>
          </a:ln>
        </p:spPr>
        <p:txBody>
          <a:bodyPr/>
          <a:lstStyle/>
          <a:p>
            <a:endParaRPr lang="en-US"/>
          </a:p>
        </p:txBody>
      </p:sp>
      <p:sp>
        <p:nvSpPr>
          <p:cNvPr id="19" name="Shape 14"/>
          <p:cNvSpPr/>
          <p:nvPr/>
        </p:nvSpPr>
        <p:spPr>
          <a:xfrm>
            <a:off x="6675120" y="4471416"/>
            <a:ext cx="640080" cy="640080"/>
          </a:xfrm>
          <a:prstGeom prst="ellipse">
            <a:avLst/>
          </a:prstGeom>
          <a:solidFill>
            <a:srgbClr val="D42A6E"/>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835140" y="4631436"/>
            <a:ext cx="320040" cy="320040"/>
          </a:xfrm>
          <a:prstGeom prst="rect">
            <a:avLst/>
          </a:prstGeom>
        </p:spPr>
      </p:pic>
      <p:sp>
        <p:nvSpPr>
          <p:cNvPr id="21" name="Text 15"/>
          <p:cNvSpPr txBox="1"/>
          <p:nvPr/>
        </p:nvSpPr>
        <p:spPr>
          <a:xfrm>
            <a:off x="7498080" y="4361688"/>
            <a:ext cx="402336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Share it with your team</a:t>
            </a:r>
            <a:endParaRPr lang="en-US" sz="1800" dirty="0"/>
          </a:p>
        </p:txBody>
      </p:sp>
      <p:sp>
        <p:nvSpPr>
          <p:cNvPr id="22" name="Text 16"/>
          <p:cNvSpPr txBox="1"/>
          <p:nvPr/>
        </p:nvSpPr>
        <p:spPr>
          <a:xfrm>
            <a:off x="7498080" y="4782312"/>
            <a:ext cx="4023360" cy="45720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New in September, from Customize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Don't start with a skill. Start with a task.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The fastest path from one good result to a reusable workflow</a:t>
            </a:r>
            <a:endParaRPr lang="en-US" sz="1800" dirty="0"/>
          </a:p>
        </p:txBody>
      </p:sp>
      <p:sp>
        <p:nvSpPr>
          <p:cNvPr id="4" name="Shape 2"/>
          <p:cNvSpPr/>
          <p:nvPr/>
        </p:nvSpPr>
        <p:spPr>
          <a:xfrm>
            <a:off x="548640" y="1783080"/>
            <a:ext cx="2464994" cy="3017520"/>
          </a:xfrm>
          <a:prstGeom prst="roundRect">
            <a:avLst>
              <a:gd name="adj" fmla="val 6677"/>
            </a:avLst>
          </a:prstGeom>
          <a:solidFill>
            <a:srgbClr val="1F0F38"/>
          </a:solidFill>
          <a:ln w="19050">
            <a:solidFill>
              <a:srgbClr val="3B74F0"/>
            </a:solidFill>
            <a:prstDash val="solid"/>
          </a:ln>
        </p:spPr>
        <p:txBody>
          <a:bodyPr/>
          <a:lstStyle/>
          <a:p>
            <a:endParaRPr lang="en-US"/>
          </a:p>
        </p:txBody>
      </p:sp>
      <p:sp>
        <p:nvSpPr>
          <p:cNvPr id="5" name="Shape 3"/>
          <p:cNvSpPr/>
          <p:nvPr/>
        </p:nvSpPr>
        <p:spPr>
          <a:xfrm>
            <a:off x="1415377" y="205740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598257" y="2240280"/>
            <a:ext cx="365760" cy="365760"/>
          </a:xfrm>
          <a:prstGeom prst="rect">
            <a:avLst/>
          </a:prstGeom>
        </p:spPr>
      </p:pic>
      <p:sp>
        <p:nvSpPr>
          <p:cNvPr id="7" name="Text 4"/>
          <p:cNvSpPr txBox="1"/>
          <p:nvPr/>
        </p:nvSpPr>
        <p:spPr>
          <a:xfrm>
            <a:off x="685800" y="2926080"/>
            <a:ext cx="2190674"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Do the task once</a:t>
            </a:r>
            <a:endParaRPr lang="en-US" sz="1700" dirty="0"/>
          </a:p>
        </p:txBody>
      </p:sp>
      <p:sp>
        <p:nvSpPr>
          <p:cNvPr id="8" name="Text 5"/>
          <p:cNvSpPr txBox="1"/>
          <p:nvPr/>
        </p:nvSpPr>
        <p:spPr>
          <a:xfrm>
            <a:off x="685800" y="3611880"/>
            <a:ext cx="2190674" cy="109728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Get a result you're happy with</a:t>
            </a:r>
            <a:endParaRPr lang="en-US" sz="1400" dirty="0"/>
          </a:p>
        </p:txBody>
      </p:sp>
      <p:sp>
        <p:nvSpPr>
          <p:cNvPr id="9" name="Shape 6"/>
          <p:cNvSpPr/>
          <p:nvPr/>
        </p:nvSpPr>
        <p:spPr>
          <a:xfrm>
            <a:off x="3059354" y="2423160"/>
            <a:ext cx="320040" cy="0"/>
          </a:xfrm>
          <a:prstGeom prst="line">
            <a:avLst/>
          </a:prstGeom>
          <a:noFill/>
          <a:ln w="25400">
            <a:solidFill>
              <a:srgbClr val="CFC8E0"/>
            </a:solidFill>
            <a:prstDash val="solid"/>
            <a:tailEnd type="triangle"/>
          </a:ln>
        </p:spPr>
        <p:txBody>
          <a:bodyPr/>
          <a:lstStyle/>
          <a:p>
            <a:endParaRPr lang="en-US"/>
          </a:p>
        </p:txBody>
      </p:sp>
      <p:sp>
        <p:nvSpPr>
          <p:cNvPr id="10" name="Shape 7"/>
          <p:cNvSpPr/>
          <p:nvPr/>
        </p:nvSpPr>
        <p:spPr>
          <a:xfrm>
            <a:off x="3425114" y="1783080"/>
            <a:ext cx="2464994" cy="3017520"/>
          </a:xfrm>
          <a:prstGeom prst="roundRect">
            <a:avLst>
              <a:gd name="adj" fmla="val 6677"/>
            </a:avLst>
          </a:prstGeom>
          <a:solidFill>
            <a:srgbClr val="1F0F38"/>
          </a:solidFill>
          <a:ln w="19050">
            <a:solidFill>
              <a:srgbClr val="8C38E0"/>
            </a:solidFill>
            <a:prstDash val="solid"/>
          </a:ln>
        </p:spPr>
        <p:txBody>
          <a:bodyPr/>
          <a:lstStyle/>
          <a:p>
            <a:endParaRPr lang="en-US"/>
          </a:p>
        </p:txBody>
      </p:sp>
      <p:sp>
        <p:nvSpPr>
          <p:cNvPr id="11" name="Shape 8"/>
          <p:cNvSpPr/>
          <p:nvPr/>
        </p:nvSpPr>
        <p:spPr>
          <a:xfrm>
            <a:off x="4291851" y="2057400"/>
            <a:ext cx="731520" cy="731520"/>
          </a:xfrm>
          <a:prstGeom prst="ellipse">
            <a:avLst/>
          </a:prstGeom>
          <a:solidFill>
            <a:srgbClr val="8C38E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474731" y="2240280"/>
            <a:ext cx="365760" cy="365760"/>
          </a:xfrm>
          <a:prstGeom prst="rect">
            <a:avLst/>
          </a:prstGeom>
        </p:spPr>
      </p:pic>
      <p:sp>
        <p:nvSpPr>
          <p:cNvPr id="13" name="Text 9"/>
          <p:cNvSpPr txBox="1"/>
          <p:nvPr/>
        </p:nvSpPr>
        <p:spPr>
          <a:xfrm>
            <a:off x="3562274" y="2926080"/>
            <a:ext cx="2190674"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"Save this as a skill"</a:t>
            </a:r>
            <a:endParaRPr lang="en-US" sz="1700" dirty="0"/>
          </a:p>
        </p:txBody>
      </p:sp>
      <p:sp>
        <p:nvSpPr>
          <p:cNvPr id="14" name="Text 10"/>
          <p:cNvSpPr txBox="1"/>
          <p:nvPr/>
        </p:nvSpPr>
        <p:spPr>
          <a:xfrm>
            <a:off x="3562274" y="3611880"/>
            <a:ext cx="2190674" cy="109728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Cowork writes the SKILL.md for you</a:t>
            </a:r>
            <a:endParaRPr lang="en-US" sz="1400" dirty="0"/>
          </a:p>
        </p:txBody>
      </p:sp>
      <p:sp>
        <p:nvSpPr>
          <p:cNvPr id="15" name="Shape 11"/>
          <p:cNvSpPr/>
          <p:nvPr/>
        </p:nvSpPr>
        <p:spPr>
          <a:xfrm>
            <a:off x="5935828" y="2423160"/>
            <a:ext cx="320040" cy="0"/>
          </a:xfrm>
          <a:prstGeom prst="line">
            <a:avLst/>
          </a:prstGeom>
          <a:noFill/>
          <a:ln w="25400">
            <a:solidFill>
              <a:srgbClr val="CFC8E0"/>
            </a:solidFill>
            <a:prstDash val="solid"/>
            <a:tailEnd type="triangle"/>
          </a:ln>
        </p:spPr>
        <p:txBody>
          <a:bodyPr/>
          <a:lstStyle/>
          <a:p>
            <a:endParaRPr lang="en-US"/>
          </a:p>
        </p:txBody>
      </p:sp>
      <p:sp>
        <p:nvSpPr>
          <p:cNvPr id="16" name="Shape 12"/>
          <p:cNvSpPr/>
          <p:nvPr/>
        </p:nvSpPr>
        <p:spPr>
          <a:xfrm>
            <a:off x="6301588" y="1783080"/>
            <a:ext cx="2464994" cy="3017520"/>
          </a:xfrm>
          <a:prstGeom prst="roundRect">
            <a:avLst>
              <a:gd name="adj" fmla="val 6677"/>
            </a:avLst>
          </a:prstGeom>
          <a:solidFill>
            <a:srgbClr val="1F0F38"/>
          </a:solidFill>
          <a:ln w="19050">
            <a:solidFill>
              <a:srgbClr val="B0339E"/>
            </a:solidFill>
            <a:prstDash val="solid"/>
          </a:ln>
        </p:spPr>
        <p:txBody>
          <a:bodyPr/>
          <a:lstStyle/>
          <a:p>
            <a:endParaRPr lang="en-US"/>
          </a:p>
        </p:txBody>
      </p:sp>
      <p:sp>
        <p:nvSpPr>
          <p:cNvPr id="17" name="Shape 13"/>
          <p:cNvSpPr/>
          <p:nvPr/>
        </p:nvSpPr>
        <p:spPr>
          <a:xfrm>
            <a:off x="7168325" y="2057400"/>
            <a:ext cx="731520" cy="731520"/>
          </a:xfrm>
          <a:prstGeom prst="ellipse">
            <a:avLst/>
          </a:prstGeom>
          <a:solidFill>
            <a:srgbClr val="B0339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7351205" y="2240280"/>
            <a:ext cx="365760" cy="365760"/>
          </a:xfrm>
          <a:prstGeom prst="rect">
            <a:avLst/>
          </a:prstGeom>
        </p:spPr>
      </p:pic>
      <p:sp>
        <p:nvSpPr>
          <p:cNvPr id="19" name="Text 14"/>
          <p:cNvSpPr txBox="1"/>
          <p:nvPr/>
        </p:nvSpPr>
        <p:spPr>
          <a:xfrm>
            <a:off x="6438748" y="2926080"/>
            <a:ext cx="2190674"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Make it an automation</a:t>
            </a:r>
            <a:endParaRPr lang="en-US" sz="1700" dirty="0"/>
          </a:p>
        </p:txBody>
      </p:sp>
      <p:sp>
        <p:nvSpPr>
          <p:cNvPr id="20" name="Text 15"/>
          <p:cNvSpPr txBox="1"/>
          <p:nvPr/>
        </p:nvSpPr>
        <p:spPr>
          <a:xfrm>
            <a:off x="6438748" y="3611880"/>
            <a:ext cx="2190674" cy="109728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Schedule it or trigger it</a:t>
            </a:r>
            <a:endParaRPr lang="en-US" sz="1400" dirty="0"/>
          </a:p>
        </p:txBody>
      </p:sp>
      <p:sp>
        <p:nvSpPr>
          <p:cNvPr id="21" name="Shape 16"/>
          <p:cNvSpPr/>
          <p:nvPr/>
        </p:nvSpPr>
        <p:spPr>
          <a:xfrm>
            <a:off x="8812301" y="2423160"/>
            <a:ext cx="320040" cy="0"/>
          </a:xfrm>
          <a:prstGeom prst="line">
            <a:avLst/>
          </a:prstGeom>
          <a:noFill/>
          <a:ln w="25400">
            <a:solidFill>
              <a:srgbClr val="CFC8E0"/>
            </a:solidFill>
            <a:prstDash val="solid"/>
            <a:tailEnd type="triangle"/>
          </a:ln>
        </p:spPr>
        <p:txBody>
          <a:bodyPr/>
          <a:lstStyle/>
          <a:p>
            <a:endParaRPr lang="en-US"/>
          </a:p>
        </p:txBody>
      </p:sp>
      <p:sp>
        <p:nvSpPr>
          <p:cNvPr id="22" name="Shape 17"/>
          <p:cNvSpPr/>
          <p:nvPr/>
        </p:nvSpPr>
        <p:spPr>
          <a:xfrm>
            <a:off x="9178061" y="1783080"/>
            <a:ext cx="2464994" cy="3017520"/>
          </a:xfrm>
          <a:prstGeom prst="roundRect">
            <a:avLst>
              <a:gd name="adj" fmla="val 6677"/>
            </a:avLst>
          </a:prstGeom>
          <a:solidFill>
            <a:srgbClr val="1F0F38"/>
          </a:solidFill>
          <a:ln w="19050">
            <a:solidFill>
              <a:srgbClr val="D42A6E"/>
            </a:solidFill>
            <a:prstDash val="solid"/>
          </a:ln>
        </p:spPr>
        <p:txBody>
          <a:bodyPr/>
          <a:lstStyle/>
          <a:p>
            <a:endParaRPr lang="en-US"/>
          </a:p>
        </p:txBody>
      </p:sp>
      <p:sp>
        <p:nvSpPr>
          <p:cNvPr id="23" name="Shape 18"/>
          <p:cNvSpPr/>
          <p:nvPr/>
        </p:nvSpPr>
        <p:spPr>
          <a:xfrm>
            <a:off x="10044798" y="2057400"/>
            <a:ext cx="731520" cy="731520"/>
          </a:xfrm>
          <a:prstGeom prst="ellipse">
            <a:avLst/>
          </a:prstGeom>
          <a:solidFill>
            <a:srgbClr val="D42A6E"/>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227678" y="2240280"/>
            <a:ext cx="365760" cy="365760"/>
          </a:xfrm>
          <a:prstGeom prst="rect">
            <a:avLst/>
          </a:prstGeom>
        </p:spPr>
      </p:pic>
      <p:sp>
        <p:nvSpPr>
          <p:cNvPr id="25" name="Text 19"/>
          <p:cNvSpPr txBox="1"/>
          <p:nvPr/>
        </p:nvSpPr>
        <p:spPr>
          <a:xfrm>
            <a:off x="9315221" y="2926080"/>
            <a:ext cx="2190674" cy="68580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Share it</a:t>
            </a:r>
            <a:endParaRPr lang="en-US" sz="1700" dirty="0"/>
          </a:p>
        </p:txBody>
      </p:sp>
      <p:sp>
        <p:nvSpPr>
          <p:cNvPr id="26" name="Text 20"/>
          <p:cNvSpPr txBox="1"/>
          <p:nvPr/>
        </p:nvSpPr>
        <p:spPr>
          <a:xfrm>
            <a:off x="9315221" y="3611880"/>
            <a:ext cx="2190674" cy="1097280"/>
          </a:xfrm>
          <a:prstGeom prst="rect">
            <a:avLst/>
          </a:prstGeom>
          <a:noFill/>
          <a:ln/>
        </p:spPr>
        <p:txBody>
          <a:bodyPr wrap="square" lIns="0" tIns="0" rIns="0" bIns="0" rtlCol="0" anchor="t"/>
          <a:lstStyle/>
          <a:p>
            <a:pPr marL="0" indent="0" algn="ctr">
              <a:buNone/>
            </a:pPr>
            <a:r>
              <a:rPr lang="en-US" sz="1400" dirty="0">
                <a:solidFill>
                  <a:srgbClr val="CFC8E0"/>
                </a:solidFill>
                <a:latin typeface="Arial" pitchFamily="34" charset="0"/>
                <a:ea typeface="Arial" pitchFamily="34" charset="-122"/>
                <a:cs typeface="Arial" pitchFamily="34" charset="-120"/>
              </a:rPr>
              <a:t>Generalize it for your team first</a:t>
            </a:r>
            <a:endParaRPr lang="en-US" sz="1400" dirty="0"/>
          </a:p>
        </p:txBody>
      </p:sp>
      <p:sp>
        <p:nvSpPr>
          <p:cNvPr id="27" name="Text 21"/>
          <p:cNvSpPr txBox="1"/>
          <p:nvPr/>
        </p:nvSpPr>
        <p:spPr>
          <a:xfrm>
            <a:off x="548640" y="5074920"/>
            <a:ext cx="9144000" cy="365760"/>
          </a:xfrm>
          <a:prstGeom prst="rect">
            <a:avLst/>
          </a:prstGeom>
          <a:noFill/>
          <a:ln/>
        </p:spPr>
        <p:txBody>
          <a:bodyPr wrap="square" lIns="0" tIns="0" rIns="0" bIns="0" rtlCol="0" anchor="ctr"/>
          <a:lstStyle/>
          <a:p>
            <a:pPr marL="0" indent="0">
              <a:buNone/>
            </a:pPr>
            <a:r>
              <a:rPr lang="en-US" sz="1500" i="1" dirty="0">
                <a:solidFill>
                  <a:srgbClr val="CFC8E0"/>
                </a:solidFill>
                <a:latin typeface="Arial" pitchFamily="34" charset="0"/>
                <a:ea typeface="Arial" pitchFamily="34" charset="-122"/>
                <a:cs typeface="Arial" pitchFamily="34" charset="-120"/>
              </a:rPr>
              <a:t>Heads up: authoring and testing skills uses Copilot Credits.</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Three kinds of connectors. One works in Cowork.</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Know which one you're talking about</a:t>
            </a:r>
            <a:endParaRPr lang="en-US" sz="1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2103120"/>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0">
                <a:tc>
                  <a:txBody>
                    <a:bodyPr/>
                    <a:lstStyle/>
                    <a:p>
                      <a:pPr marL="0" indent="0">
                        <a:buNone/>
                      </a:pP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Copilot connectors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Cowork connectors (MCP)</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Power Platform connectors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3A2260"/>
                    </a:solidFill>
                  </a:tcPr>
                </a:tc>
                <a:extLst>
                  <a:ext uri="{0D108BD9-81ED-4DB2-BD59-A6C34878D82A}">
                    <a16:rowId xmlns:a16="http://schemas.microsoft.com/office/drawing/2014/main" val="10000"/>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What it does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Indexes external data into Microsoft 365</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Live data and actions via a remote MCP server</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1,400+ prebuilt actions and triggers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1"/>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Real time?</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2"/>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Can take action?</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Read only</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Read or read/write</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3"/>
                  </a:ext>
                </a:extLst>
              </a:tr>
              <a:tr h="0">
                <a:tc>
                  <a:txBody>
                    <a:bodyPr/>
                    <a:lstStyle/>
                    <a:p>
                      <a:pPr marL="0" indent="0">
                        <a:buNone/>
                      </a:pPr>
                      <a:r>
                        <a:rPr lang="en-US" sz="1500" dirty="0">
                          <a:solidFill>
                            <a:srgbClr val="CFC8E0"/>
                          </a:solidFill>
                          <a:latin typeface="Arial" pitchFamily="34" charset="0"/>
                          <a:ea typeface="Arial" pitchFamily="34" charset="-122"/>
                          <a:cs typeface="Arial" pitchFamily="34" charset="-120"/>
                        </a:rPr>
                        <a:t>Works in Cowork?</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Not directly</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Yes, packaged in a plugin</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tc>
                  <a:txBody>
                    <a:bodyPr/>
                    <a:lstStyle/>
                    <a:p>
                      <a:pPr marL="0" indent="0">
                        <a:buNone/>
                      </a:pPr>
                      <a:r>
                        <a:rPr lang="en-US" sz="1500" dirty="0">
                          <a:solidFill>
                            <a:srgbClr val="CFC8E0"/>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3152" marR="73152" marT="73152" marB="73152" anchor="ctr">
                    <a:lnL w="12700" cap="flat" cmpd="sng" algn="ctr">
                      <a:solidFill>
                        <a:srgbClr val="11011D"/>
                      </a:solidFill>
                      <a:prstDash val="solid"/>
                      <a:round/>
                      <a:headEnd type="none" w="med" len="med"/>
                      <a:tailEnd type="none" w="med" len="med"/>
                    </a:lnL>
                    <a:lnR w="12700" cap="flat" cmpd="sng" algn="ctr">
                      <a:solidFill>
                        <a:srgbClr val="11011D"/>
                      </a:solidFill>
                      <a:prstDash val="solid"/>
                      <a:round/>
                      <a:headEnd type="none" w="med" len="med"/>
                      <a:tailEnd type="none" w="med" len="med"/>
                    </a:lnR>
                    <a:lnT w="12700" cap="flat" cmpd="sng" algn="ctr">
                      <a:solidFill>
                        <a:srgbClr val="11011D"/>
                      </a:solidFill>
                      <a:prstDash val="solid"/>
                      <a:round/>
                      <a:headEnd type="none" w="med" len="med"/>
                      <a:tailEnd type="none" w="med" len="med"/>
                    </a:lnT>
                    <a:lnB w="12700" cap="flat" cmpd="sng" algn="ctr">
                      <a:solidFill>
                        <a:srgbClr val="11011D"/>
                      </a:solidFill>
                      <a:prstDash val="solid"/>
                      <a:round/>
                      <a:headEnd type="none" w="med" len="med"/>
                      <a:tailEnd type="none" w="med" len="med"/>
                    </a:lnB>
                    <a:solidFill>
                      <a:srgbClr val="1F0F3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Inside a plugin, and why MCP matters</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Standard M365 app packaging on top of open standards</a:t>
            </a:r>
            <a:endParaRPr lang="en-US" sz="1800" dirty="0"/>
          </a:p>
        </p:txBody>
      </p:sp>
      <p:sp>
        <p:nvSpPr>
          <p:cNvPr id="4" name="Shape 2"/>
          <p:cNvSpPr/>
          <p:nvPr/>
        </p:nvSpPr>
        <p:spPr>
          <a:xfrm>
            <a:off x="548640" y="1783080"/>
            <a:ext cx="5120640" cy="3611880"/>
          </a:xfrm>
          <a:prstGeom prst="roundRect">
            <a:avLst>
              <a:gd name="adj" fmla="val 4557"/>
            </a:avLst>
          </a:prstGeom>
          <a:solidFill>
            <a:srgbClr val="1F0F38"/>
          </a:solidFill>
          <a:ln w="19050">
            <a:solidFill>
              <a:srgbClr val="8C38E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22960" y="1965960"/>
            <a:ext cx="384048" cy="384048"/>
          </a:xfrm>
          <a:prstGeom prst="rect">
            <a:avLst/>
          </a:prstGeom>
        </p:spPr>
      </p:pic>
      <p:sp>
        <p:nvSpPr>
          <p:cNvPr id="6" name="Text 3"/>
          <p:cNvSpPr txBox="1"/>
          <p:nvPr/>
        </p:nvSpPr>
        <p:spPr>
          <a:xfrm>
            <a:off x="1325880" y="1920240"/>
            <a:ext cx="4114800" cy="457200"/>
          </a:xfrm>
          <a:prstGeom prst="rect">
            <a:avLst/>
          </a:prstGeom>
          <a:noFill/>
          <a:ln/>
        </p:spPr>
        <p:txBody>
          <a:bodyPr wrap="square" lIns="0" tIns="0" rIns="0" bIns="0"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analog-ops-plugin.zip</a:t>
            </a:r>
            <a:endParaRPr lang="en-US" sz="1600" dirty="0"/>
          </a:p>
        </p:txBody>
      </p:sp>
      <p:sp>
        <p:nvSpPr>
          <p:cNvPr id="7" name="Text 4"/>
          <p:cNvSpPr txBox="1"/>
          <p:nvPr/>
        </p:nvSpPr>
        <p:spPr>
          <a:xfrm>
            <a:off x="868680" y="2560320"/>
            <a:ext cx="4572000" cy="2377440"/>
          </a:xfrm>
          <a:prstGeom prst="rect">
            <a:avLst/>
          </a:prstGeom>
          <a:noFill/>
          <a:ln/>
        </p:spPr>
        <p:txBody>
          <a:bodyPr wrap="square" lIns="0" tIns="0" rIns="0" bIns="0" rtlCol="0" anchor="t"/>
          <a:lstStyle/>
          <a:p>
            <a:pPr marL="0" indent="0">
              <a:buNone/>
            </a:pPr>
            <a:r>
              <a:rPr lang="en-US" sz="1500" dirty="0">
                <a:solidFill>
                  <a:srgbClr val="FFFFFF"/>
                </a:solidFill>
                <a:latin typeface="Courier New" pitchFamily="34" charset="0"/>
                <a:ea typeface="Courier New" pitchFamily="34" charset="-122"/>
                <a:cs typeface="Courier New" pitchFamily="34" charset="-120"/>
              </a:rPr>
              <a:t>manifest.json</a:t>
            </a:r>
            <a:endParaRPr lang="en-US" sz="1500" dirty="0"/>
          </a:p>
          <a:p>
            <a:pPr marL="0" indent="0">
              <a:buNone/>
            </a:pPr>
            <a:r>
              <a:rPr lang="en-US" sz="1500" dirty="0">
                <a:solidFill>
                  <a:srgbClr val="FFFFFF"/>
                </a:solidFill>
                <a:latin typeface="Courier New" pitchFamily="34" charset="0"/>
                <a:ea typeface="Courier New" pitchFamily="34" charset="-122"/>
                <a:cs typeface="Courier New" pitchFamily="34" charset="-120"/>
              </a:rPr>
              <a:t>color.png  outline.png</a:t>
            </a:r>
            <a:endParaRPr lang="en-US" sz="1500" dirty="0"/>
          </a:p>
          <a:p>
            <a:pPr marL="0" indent="0">
              <a:buNone/>
            </a:pPr>
            <a:r>
              <a:rPr lang="en-US" sz="1500" dirty="0">
                <a:solidFill>
                  <a:srgbClr val="FF5C9E"/>
                </a:solidFill>
                <a:latin typeface="Courier New" pitchFamily="34" charset="0"/>
                <a:ea typeface="Courier New" pitchFamily="34" charset="-122"/>
                <a:cs typeface="Courier New" pitchFamily="34" charset="-120"/>
              </a:rPr>
              <a:t>skills/</a:t>
            </a:r>
            <a:endParaRPr lang="en-US" sz="1500" dirty="0"/>
          </a:p>
          <a:p>
            <a:pPr marL="0" indent="0">
              <a:buNone/>
            </a:pPr>
            <a:r>
              <a:rPr lang="en-US" sz="1500" dirty="0">
                <a:solidFill>
                  <a:srgbClr val="FFFFFF"/>
                </a:solidFill>
                <a:latin typeface="Courier New" pitchFamily="34" charset="0"/>
                <a:ea typeface="Courier New" pitchFamily="34" charset="-122"/>
                <a:cs typeface="Courier New" pitchFamily="34" charset="-120"/>
              </a:rPr>
              <a:t>  vendor-brief/SKILL.md</a:t>
            </a:r>
            <a:endParaRPr lang="en-US" sz="1500" dirty="0"/>
          </a:p>
          <a:p>
            <a:pPr marL="0" indent="0">
              <a:buNone/>
            </a:pPr>
            <a:r>
              <a:rPr lang="en-US" sz="1500" dirty="0">
                <a:solidFill>
                  <a:srgbClr val="FFFFFF"/>
                </a:solidFill>
                <a:latin typeface="Courier New" pitchFamily="34" charset="0"/>
                <a:ea typeface="Courier New" pitchFamily="34" charset="-122"/>
                <a:cs typeface="Courier New" pitchFamily="34" charset="-120"/>
              </a:rPr>
              <a:t>  setlist-builder/SKILL.md</a:t>
            </a:r>
            <a:endParaRPr lang="en-US" sz="1500" dirty="0"/>
          </a:p>
          <a:p>
            <a:pPr marL="0" indent="0">
              <a:buNone/>
            </a:pPr>
            <a:r>
              <a:rPr lang="en-US" sz="1500" dirty="0">
                <a:solidFill>
                  <a:srgbClr val="FF5C9E"/>
                </a:solidFill>
                <a:latin typeface="Courier New" pitchFamily="34" charset="0"/>
                <a:ea typeface="Courier New" pitchFamily="34" charset="-122"/>
                <a:cs typeface="Courier New" pitchFamily="34" charset="-120"/>
              </a:rPr>
              <a:t>connector -&gt; remote MCP server</a:t>
            </a:r>
            <a:endParaRPr lang="en-US" sz="1500" dirty="0"/>
          </a:p>
        </p:txBody>
      </p:sp>
      <p:sp>
        <p:nvSpPr>
          <p:cNvPr id="8" name="Shape 5"/>
          <p:cNvSpPr/>
          <p:nvPr/>
        </p:nvSpPr>
        <p:spPr>
          <a:xfrm>
            <a:off x="5943600" y="1783080"/>
            <a:ext cx="5696712" cy="1078992"/>
          </a:xfrm>
          <a:prstGeom prst="roundRect">
            <a:avLst>
              <a:gd name="adj" fmla="val 15254"/>
            </a:avLst>
          </a:prstGeom>
          <a:solidFill>
            <a:srgbClr val="1F0F38"/>
          </a:solidFill>
          <a:ln w="12700">
            <a:solidFill>
              <a:srgbClr val="3A2260"/>
            </a:solidFill>
            <a:prstDash val="solid"/>
          </a:ln>
        </p:spPr>
        <p:txBody>
          <a:bodyPr/>
          <a:lstStyle/>
          <a:p>
            <a:endParaRPr lang="en-US"/>
          </a:p>
        </p:txBody>
      </p:sp>
      <p:sp>
        <p:nvSpPr>
          <p:cNvPr id="9" name="Shape 6"/>
          <p:cNvSpPr/>
          <p:nvPr/>
        </p:nvSpPr>
        <p:spPr>
          <a:xfrm>
            <a:off x="6126480" y="2002536"/>
            <a:ext cx="640080" cy="640080"/>
          </a:xfrm>
          <a:prstGeom prst="ellipse">
            <a:avLst/>
          </a:prstGeom>
          <a:solidFill>
            <a:srgbClr val="3B74F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286500" y="2162556"/>
            <a:ext cx="320040" cy="320040"/>
          </a:xfrm>
          <a:prstGeom prst="rect">
            <a:avLst/>
          </a:prstGeom>
        </p:spPr>
      </p:pic>
      <p:sp>
        <p:nvSpPr>
          <p:cNvPr id="11" name="Text 7"/>
          <p:cNvSpPr txBox="1"/>
          <p:nvPr/>
        </p:nvSpPr>
        <p:spPr>
          <a:xfrm>
            <a:off x="6949440" y="1892808"/>
            <a:ext cx="457200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MCP is the open standard</a:t>
            </a:r>
            <a:endParaRPr lang="en-US" sz="1800" dirty="0"/>
          </a:p>
        </p:txBody>
      </p:sp>
      <p:sp>
        <p:nvSpPr>
          <p:cNvPr id="12" name="Text 8"/>
          <p:cNvSpPr txBox="1"/>
          <p:nvPr/>
        </p:nvSpPr>
        <p:spPr>
          <a:xfrm>
            <a:off x="6949440" y="2313432"/>
            <a:ext cx="4572000" cy="502920"/>
          </a:xfrm>
          <a:prstGeom prst="rect">
            <a:avLst/>
          </a:prstGeom>
          <a:noFill/>
          <a:ln/>
        </p:spPr>
        <p:txBody>
          <a:bodyPr wrap="square" lIns="0" tIns="0" rIns="0" bIns="0" rtlCol="0" anchor="t"/>
          <a:lstStyle/>
          <a:p>
            <a:pPr marL="0" indent="0">
              <a:buNone/>
            </a:pPr>
            <a:r>
              <a:rPr lang="en-US" sz="1400" dirty="0">
                <a:solidFill>
                  <a:srgbClr val="CFC8E0"/>
                </a:solidFill>
                <a:latin typeface="Arial" pitchFamily="34" charset="0"/>
                <a:ea typeface="Arial" pitchFamily="34" charset="-122"/>
                <a:cs typeface="Arial" pitchFamily="34" charset="-120"/>
              </a:rPr>
              <a:t>Every Cowork connector is a remote MCP server. Build once, reuse across AI tools.</a:t>
            </a:r>
            <a:endParaRPr lang="en-US" sz="1400" dirty="0"/>
          </a:p>
        </p:txBody>
      </p:sp>
      <p:sp>
        <p:nvSpPr>
          <p:cNvPr id="13" name="Shape 9"/>
          <p:cNvSpPr/>
          <p:nvPr/>
        </p:nvSpPr>
        <p:spPr>
          <a:xfrm>
            <a:off x="5943600" y="3017520"/>
            <a:ext cx="5696712" cy="1078992"/>
          </a:xfrm>
          <a:prstGeom prst="roundRect">
            <a:avLst>
              <a:gd name="adj" fmla="val 15254"/>
            </a:avLst>
          </a:prstGeom>
          <a:solidFill>
            <a:srgbClr val="1F0F38"/>
          </a:solidFill>
          <a:ln w="12700">
            <a:solidFill>
              <a:srgbClr val="3A2260"/>
            </a:solidFill>
            <a:prstDash val="solid"/>
          </a:ln>
        </p:spPr>
        <p:txBody>
          <a:bodyPr/>
          <a:lstStyle/>
          <a:p>
            <a:endParaRPr lang="en-US"/>
          </a:p>
        </p:txBody>
      </p:sp>
      <p:sp>
        <p:nvSpPr>
          <p:cNvPr id="14" name="Shape 10"/>
          <p:cNvSpPr/>
          <p:nvPr/>
        </p:nvSpPr>
        <p:spPr>
          <a:xfrm>
            <a:off x="6126480" y="3236976"/>
            <a:ext cx="640080" cy="640080"/>
          </a:xfrm>
          <a:prstGeom prst="ellipse">
            <a:avLst/>
          </a:prstGeom>
          <a:solidFill>
            <a:srgbClr val="8C38E0"/>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286500" y="3396996"/>
            <a:ext cx="320040" cy="320040"/>
          </a:xfrm>
          <a:prstGeom prst="rect">
            <a:avLst/>
          </a:prstGeom>
        </p:spPr>
      </p:pic>
      <p:sp>
        <p:nvSpPr>
          <p:cNvPr id="16" name="Text 11"/>
          <p:cNvSpPr txBox="1"/>
          <p:nvPr/>
        </p:nvSpPr>
        <p:spPr>
          <a:xfrm>
            <a:off x="6949440" y="3127248"/>
            <a:ext cx="457200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MCP apps = live widgets</a:t>
            </a:r>
            <a:endParaRPr lang="en-US" sz="1800" dirty="0"/>
          </a:p>
        </p:txBody>
      </p:sp>
      <p:sp>
        <p:nvSpPr>
          <p:cNvPr id="17" name="Text 12"/>
          <p:cNvSpPr txBox="1"/>
          <p:nvPr/>
        </p:nvSpPr>
        <p:spPr>
          <a:xfrm>
            <a:off x="6949440" y="3547872"/>
            <a:ext cx="4572000" cy="502920"/>
          </a:xfrm>
          <a:prstGeom prst="rect">
            <a:avLst/>
          </a:prstGeom>
          <a:noFill/>
          <a:ln/>
        </p:spPr>
        <p:txBody>
          <a:bodyPr wrap="square" lIns="0" tIns="0" rIns="0" bIns="0" rtlCol="0" anchor="t"/>
          <a:lstStyle/>
          <a:p>
            <a:pPr marL="0" indent="0">
              <a:buNone/>
            </a:pPr>
            <a:r>
              <a:rPr lang="en-US" sz="1400" dirty="0">
                <a:solidFill>
                  <a:srgbClr val="CFC8E0"/>
                </a:solidFill>
                <a:latin typeface="Arial" pitchFamily="34" charset="0"/>
                <a:ea typeface="Arial" pitchFamily="34" charset="-122"/>
                <a:cs typeface="Arial" pitchFamily="34" charset="-120"/>
              </a:rPr>
              <a:t>Plugins can render dashboards, pickers, and forms right in the conversation</a:t>
            </a:r>
            <a:endParaRPr lang="en-US" sz="1400" dirty="0"/>
          </a:p>
        </p:txBody>
      </p:sp>
      <p:sp>
        <p:nvSpPr>
          <p:cNvPr id="18" name="Shape 13"/>
          <p:cNvSpPr/>
          <p:nvPr/>
        </p:nvSpPr>
        <p:spPr>
          <a:xfrm>
            <a:off x="5943600" y="4251960"/>
            <a:ext cx="5696712" cy="1078992"/>
          </a:xfrm>
          <a:prstGeom prst="roundRect">
            <a:avLst>
              <a:gd name="adj" fmla="val 15254"/>
            </a:avLst>
          </a:prstGeom>
          <a:solidFill>
            <a:srgbClr val="1F0F38"/>
          </a:solidFill>
          <a:ln w="12700">
            <a:solidFill>
              <a:srgbClr val="3A2260"/>
            </a:solidFill>
            <a:prstDash val="solid"/>
          </a:ln>
        </p:spPr>
        <p:txBody>
          <a:bodyPr/>
          <a:lstStyle/>
          <a:p>
            <a:endParaRPr lang="en-US"/>
          </a:p>
        </p:txBody>
      </p:sp>
      <p:sp>
        <p:nvSpPr>
          <p:cNvPr id="19" name="Shape 14"/>
          <p:cNvSpPr/>
          <p:nvPr/>
        </p:nvSpPr>
        <p:spPr>
          <a:xfrm>
            <a:off x="6126480" y="4471416"/>
            <a:ext cx="640080" cy="640080"/>
          </a:xfrm>
          <a:prstGeom prst="ellipse">
            <a:avLst/>
          </a:prstGeom>
          <a:solidFill>
            <a:srgbClr val="D42A6E"/>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286500" y="4631436"/>
            <a:ext cx="320040" cy="320040"/>
          </a:xfrm>
          <a:prstGeom prst="rect">
            <a:avLst/>
          </a:prstGeom>
        </p:spPr>
      </p:pic>
      <p:sp>
        <p:nvSpPr>
          <p:cNvPr id="21" name="Text 15"/>
          <p:cNvSpPr txBox="1"/>
          <p:nvPr/>
        </p:nvSpPr>
        <p:spPr>
          <a:xfrm>
            <a:off x="6949440" y="4361688"/>
            <a:ext cx="457200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Already have a Claude plugin?</a:t>
            </a:r>
            <a:endParaRPr lang="en-US" sz="1800" dirty="0"/>
          </a:p>
        </p:txBody>
      </p:sp>
      <p:sp>
        <p:nvSpPr>
          <p:cNvPr id="22" name="Text 16"/>
          <p:cNvSpPr txBox="1"/>
          <p:nvPr/>
        </p:nvSpPr>
        <p:spPr>
          <a:xfrm>
            <a:off x="6949440" y="4782312"/>
            <a:ext cx="4572000" cy="502920"/>
          </a:xfrm>
          <a:prstGeom prst="rect">
            <a:avLst/>
          </a:prstGeom>
          <a:noFill/>
          <a:ln/>
        </p:spPr>
        <p:txBody>
          <a:bodyPr wrap="square" lIns="0" tIns="0" rIns="0" bIns="0" rtlCol="0" anchor="t"/>
          <a:lstStyle/>
          <a:p>
            <a:pPr marL="0" indent="0">
              <a:buNone/>
            </a:pPr>
            <a:r>
              <a:rPr lang="en-US" sz="1400" dirty="0">
                <a:solidFill>
                  <a:srgbClr val="CFC8E0"/>
                </a:solidFill>
                <a:latin typeface="Arial" pitchFamily="34" charset="0"/>
                <a:ea typeface="Arial" pitchFamily="34" charset="-122"/>
                <a:cs typeface="Arial" pitchFamily="34" charset="-120"/>
              </a:rPr>
              <a:t>A conversion script turns it into a Cowork plugin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The plugin catalog is growing fast</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Install a plugin and Cowork becomes a specialist in that system</a:t>
            </a:r>
            <a:endParaRPr lang="en-US" sz="1800" dirty="0"/>
          </a:p>
        </p:txBody>
      </p:sp>
      <p:sp>
        <p:nvSpPr>
          <p:cNvPr id="4" name="Shape 2"/>
          <p:cNvSpPr/>
          <p:nvPr/>
        </p:nvSpPr>
        <p:spPr>
          <a:xfrm>
            <a:off x="548640" y="1783080"/>
            <a:ext cx="2602154" cy="3383280"/>
          </a:xfrm>
          <a:prstGeom prst="roundRect">
            <a:avLst>
              <a:gd name="adj" fmla="val 6325"/>
            </a:avLst>
          </a:prstGeom>
          <a:solidFill>
            <a:srgbClr val="1F0F38"/>
          </a:solidFill>
          <a:ln w="19050">
            <a:solidFill>
              <a:srgbClr val="3B74F0"/>
            </a:solidFill>
            <a:prstDash val="solid"/>
          </a:ln>
        </p:spPr>
        <p:txBody>
          <a:bodyPr/>
          <a:lstStyle/>
          <a:p>
            <a:endParaRPr lang="en-US"/>
          </a:p>
        </p:txBody>
      </p:sp>
      <p:sp>
        <p:nvSpPr>
          <p:cNvPr id="5" name="Text 3"/>
          <p:cNvSpPr txBox="1"/>
          <p:nvPr/>
        </p:nvSpPr>
        <p:spPr>
          <a:xfrm>
            <a:off x="777240" y="1965960"/>
            <a:ext cx="2144954" cy="457200"/>
          </a:xfrm>
          <a:prstGeom prst="rect">
            <a:avLst/>
          </a:prstGeom>
          <a:noFill/>
          <a:ln/>
        </p:spPr>
        <p:txBody>
          <a:bodyPr wrap="square" lIns="0" tIns="0" rIns="0" bIns="0" rtlCol="0" anchor="ctr"/>
          <a:lstStyle/>
          <a:p>
            <a:pPr marL="0" indent="0">
              <a:buNone/>
            </a:pPr>
            <a:r>
              <a:rPr lang="en-US" sz="1800" b="1" dirty="0">
                <a:solidFill>
                  <a:srgbClr val="5B8CF5"/>
                </a:solidFill>
                <a:latin typeface="Arial" pitchFamily="34" charset="0"/>
                <a:ea typeface="Arial" pitchFamily="34" charset="-122"/>
                <a:cs typeface="Arial" pitchFamily="34" charset="-120"/>
              </a:rPr>
              <a:t>Microsoft</a:t>
            </a:r>
            <a:endParaRPr lang="en-US" sz="1800" dirty="0"/>
          </a:p>
        </p:txBody>
      </p:sp>
      <p:sp>
        <p:nvSpPr>
          <p:cNvPr id="6" name="Shape 4"/>
          <p:cNvSpPr/>
          <p:nvPr/>
        </p:nvSpPr>
        <p:spPr>
          <a:xfrm>
            <a:off x="777240" y="2606040"/>
            <a:ext cx="2144954" cy="475488"/>
          </a:xfrm>
          <a:prstGeom prst="roundRect">
            <a:avLst>
              <a:gd name="adj" fmla="val 19231"/>
            </a:avLst>
          </a:prstGeom>
          <a:solidFill>
            <a:srgbClr val="2A1650"/>
          </a:solidFill>
          <a:ln/>
        </p:spPr>
        <p:txBody>
          <a:bodyPr/>
          <a:lstStyle/>
          <a:p>
            <a:endParaRPr lang="en-US"/>
          </a:p>
        </p:txBody>
      </p:sp>
      <p:sp>
        <p:nvSpPr>
          <p:cNvPr id="7" name="Text 5"/>
          <p:cNvSpPr txBox="1"/>
          <p:nvPr/>
        </p:nvSpPr>
        <p:spPr>
          <a:xfrm>
            <a:off x="914400" y="2606040"/>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Dynamics 365 Sales</a:t>
            </a:r>
            <a:endParaRPr lang="en-US" sz="1500" dirty="0"/>
          </a:p>
        </p:txBody>
      </p:sp>
      <p:sp>
        <p:nvSpPr>
          <p:cNvPr id="8" name="Shape 6"/>
          <p:cNvSpPr/>
          <p:nvPr/>
        </p:nvSpPr>
        <p:spPr>
          <a:xfrm>
            <a:off x="777240" y="3227832"/>
            <a:ext cx="2144954" cy="475488"/>
          </a:xfrm>
          <a:prstGeom prst="roundRect">
            <a:avLst>
              <a:gd name="adj" fmla="val 19231"/>
            </a:avLst>
          </a:prstGeom>
          <a:solidFill>
            <a:srgbClr val="2A1650"/>
          </a:solidFill>
          <a:ln/>
        </p:spPr>
        <p:txBody>
          <a:bodyPr/>
          <a:lstStyle/>
          <a:p>
            <a:endParaRPr lang="en-US"/>
          </a:p>
        </p:txBody>
      </p:sp>
      <p:sp>
        <p:nvSpPr>
          <p:cNvPr id="9" name="Text 7"/>
          <p:cNvSpPr txBox="1"/>
          <p:nvPr/>
        </p:nvSpPr>
        <p:spPr>
          <a:xfrm>
            <a:off x="914400" y="3227832"/>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D365 Customer Service</a:t>
            </a:r>
            <a:endParaRPr lang="en-US" sz="1500" dirty="0"/>
          </a:p>
        </p:txBody>
      </p:sp>
      <p:sp>
        <p:nvSpPr>
          <p:cNvPr id="10" name="Shape 8"/>
          <p:cNvSpPr/>
          <p:nvPr/>
        </p:nvSpPr>
        <p:spPr>
          <a:xfrm>
            <a:off x="777240" y="3849624"/>
            <a:ext cx="2144954" cy="475488"/>
          </a:xfrm>
          <a:prstGeom prst="roundRect">
            <a:avLst>
              <a:gd name="adj" fmla="val 19231"/>
            </a:avLst>
          </a:prstGeom>
          <a:solidFill>
            <a:srgbClr val="2A1650"/>
          </a:solidFill>
          <a:ln/>
        </p:spPr>
        <p:txBody>
          <a:bodyPr/>
          <a:lstStyle/>
          <a:p>
            <a:endParaRPr lang="en-US"/>
          </a:p>
        </p:txBody>
      </p:sp>
      <p:sp>
        <p:nvSpPr>
          <p:cNvPr id="11" name="Text 9"/>
          <p:cNvSpPr txBox="1"/>
          <p:nvPr/>
        </p:nvSpPr>
        <p:spPr>
          <a:xfrm>
            <a:off x="914400" y="3849624"/>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D365 Finance + Ops</a:t>
            </a:r>
            <a:endParaRPr lang="en-US" sz="1500" dirty="0"/>
          </a:p>
        </p:txBody>
      </p:sp>
      <p:sp>
        <p:nvSpPr>
          <p:cNvPr id="12" name="Shape 10"/>
          <p:cNvSpPr/>
          <p:nvPr/>
        </p:nvSpPr>
        <p:spPr>
          <a:xfrm>
            <a:off x="777240" y="4471416"/>
            <a:ext cx="2144954" cy="475488"/>
          </a:xfrm>
          <a:prstGeom prst="roundRect">
            <a:avLst>
              <a:gd name="adj" fmla="val 19231"/>
            </a:avLst>
          </a:prstGeom>
          <a:solidFill>
            <a:srgbClr val="2A1650"/>
          </a:solidFill>
          <a:ln/>
        </p:spPr>
        <p:txBody>
          <a:bodyPr/>
          <a:lstStyle/>
          <a:p>
            <a:endParaRPr lang="en-US"/>
          </a:p>
        </p:txBody>
      </p:sp>
      <p:sp>
        <p:nvSpPr>
          <p:cNvPr id="13" name="Text 11"/>
          <p:cNvSpPr txBox="1"/>
          <p:nvPr/>
        </p:nvSpPr>
        <p:spPr>
          <a:xfrm>
            <a:off x="914400" y="4471416"/>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Fabric + Power BI</a:t>
            </a:r>
            <a:endParaRPr lang="en-US" sz="1500" dirty="0"/>
          </a:p>
        </p:txBody>
      </p:sp>
      <p:sp>
        <p:nvSpPr>
          <p:cNvPr id="14" name="Shape 12"/>
          <p:cNvSpPr/>
          <p:nvPr/>
        </p:nvSpPr>
        <p:spPr>
          <a:xfrm>
            <a:off x="3379394" y="1783080"/>
            <a:ext cx="2602154" cy="3383280"/>
          </a:xfrm>
          <a:prstGeom prst="roundRect">
            <a:avLst>
              <a:gd name="adj" fmla="val 6325"/>
            </a:avLst>
          </a:prstGeom>
          <a:solidFill>
            <a:srgbClr val="1F0F38"/>
          </a:solidFill>
          <a:ln w="19050">
            <a:solidFill>
              <a:srgbClr val="8C38E0"/>
            </a:solidFill>
            <a:prstDash val="solid"/>
          </a:ln>
        </p:spPr>
        <p:txBody>
          <a:bodyPr/>
          <a:lstStyle/>
          <a:p>
            <a:endParaRPr lang="en-US"/>
          </a:p>
        </p:txBody>
      </p:sp>
      <p:sp>
        <p:nvSpPr>
          <p:cNvPr id="15" name="Text 13"/>
          <p:cNvSpPr txBox="1"/>
          <p:nvPr/>
        </p:nvSpPr>
        <p:spPr>
          <a:xfrm>
            <a:off x="3607994" y="1965960"/>
            <a:ext cx="2144954" cy="457200"/>
          </a:xfrm>
          <a:prstGeom prst="rect">
            <a:avLst/>
          </a:prstGeom>
          <a:noFill/>
          <a:ln/>
        </p:spPr>
        <p:txBody>
          <a:bodyPr wrap="square" lIns="0" tIns="0" rIns="0" bIns="0" rtlCol="0" anchor="ctr"/>
          <a:lstStyle/>
          <a:p>
            <a:pPr marL="0" indent="0">
              <a:buNone/>
            </a:pPr>
            <a:r>
              <a:rPr lang="en-US" sz="1800" b="1" dirty="0">
                <a:solidFill>
                  <a:srgbClr val="B06CF5"/>
                </a:solidFill>
                <a:latin typeface="Arial" pitchFamily="34" charset="0"/>
                <a:ea typeface="Arial" pitchFamily="34" charset="-122"/>
                <a:cs typeface="Arial" pitchFamily="34" charset="-120"/>
              </a:rPr>
              <a:t>Productivity + design</a:t>
            </a:r>
            <a:endParaRPr lang="en-US" sz="1800" dirty="0"/>
          </a:p>
        </p:txBody>
      </p:sp>
      <p:sp>
        <p:nvSpPr>
          <p:cNvPr id="16" name="Shape 14"/>
          <p:cNvSpPr/>
          <p:nvPr/>
        </p:nvSpPr>
        <p:spPr>
          <a:xfrm>
            <a:off x="3607994" y="2606040"/>
            <a:ext cx="2144954" cy="475488"/>
          </a:xfrm>
          <a:prstGeom prst="roundRect">
            <a:avLst>
              <a:gd name="adj" fmla="val 19231"/>
            </a:avLst>
          </a:prstGeom>
          <a:solidFill>
            <a:srgbClr val="2A1650"/>
          </a:solidFill>
          <a:ln/>
        </p:spPr>
        <p:txBody>
          <a:bodyPr/>
          <a:lstStyle/>
          <a:p>
            <a:endParaRPr lang="en-US"/>
          </a:p>
        </p:txBody>
      </p:sp>
      <p:sp>
        <p:nvSpPr>
          <p:cNvPr id="17" name="Text 15"/>
          <p:cNvSpPr txBox="1"/>
          <p:nvPr/>
        </p:nvSpPr>
        <p:spPr>
          <a:xfrm>
            <a:off x="3745154" y="2606040"/>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Miro</a:t>
            </a:r>
            <a:endParaRPr lang="en-US" sz="1500" dirty="0"/>
          </a:p>
        </p:txBody>
      </p:sp>
      <p:sp>
        <p:nvSpPr>
          <p:cNvPr id="18" name="Shape 16"/>
          <p:cNvSpPr/>
          <p:nvPr/>
        </p:nvSpPr>
        <p:spPr>
          <a:xfrm>
            <a:off x="3607994" y="3227832"/>
            <a:ext cx="2144954" cy="475488"/>
          </a:xfrm>
          <a:prstGeom prst="roundRect">
            <a:avLst>
              <a:gd name="adj" fmla="val 19231"/>
            </a:avLst>
          </a:prstGeom>
          <a:solidFill>
            <a:srgbClr val="2A1650"/>
          </a:solidFill>
          <a:ln/>
        </p:spPr>
        <p:txBody>
          <a:bodyPr/>
          <a:lstStyle/>
          <a:p>
            <a:endParaRPr lang="en-US"/>
          </a:p>
        </p:txBody>
      </p:sp>
      <p:sp>
        <p:nvSpPr>
          <p:cNvPr id="19" name="Text 17"/>
          <p:cNvSpPr txBox="1"/>
          <p:nvPr/>
        </p:nvSpPr>
        <p:spPr>
          <a:xfrm>
            <a:off x="3745154" y="3227832"/>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monday.com</a:t>
            </a:r>
            <a:endParaRPr lang="en-US" sz="1500" dirty="0"/>
          </a:p>
        </p:txBody>
      </p:sp>
      <p:sp>
        <p:nvSpPr>
          <p:cNvPr id="20" name="Shape 18"/>
          <p:cNvSpPr/>
          <p:nvPr/>
        </p:nvSpPr>
        <p:spPr>
          <a:xfrm>
            <a:off x="3607994" y="3849624"/>
            <a:ext cx="2144954" cy="475488"/>
          </a:xfrm>
          <a:prstGeom prst="roundRect">
            <a:avLst>
              <a:gd name="adj" fmla="val 19231"/>
            </a:avLst>
          </a:prstGeom>
          <a:solidFill>
            <a:srgbClr val="2A1650"/>
          </a:solidFill>
          <a:ln/>
        </p:spPr>
        <p:txBody>
          <a:bodyPr/>
          <a:lstStyle/>
          <a:p>
            <a:endParaRPr lang="en-US"/>
          </a:p>
        </p:txBody>
      </p:sp>
      <p:sp>
        <p:nvSpPr>
          <p:cNvPr id="21" name="Text 19"/>
          <p:cNvSpPr txBox="1"/>
          <p:nvPr/>
        </p:nvSpPr>
        <p:spPr>
          <a:xfrm>
            <a:off x="3745154" y="3849624"/>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Box</a:t>
            </a:r>
            <a:endParaRPr lang="en-US" sz="1500" dirty="0"/>
          </a:p>
        </p:txBody>
      </p:sp>
      <p:sp>
        <p:nvSpPr>
          <p:cNvPr id="22" name="Shape 20"/>
          <p:cNvSpPr/>
          <p:nvPr/>
        </p:nvSpPr>
        <p:spPr>
          <a:xfrm>
            <a:off x="3607994" y="4471416"/>
            <a:ext cx="2144954" cy="475488"/>
          </a:xfrm>
          <a:prstGeom prst="roundRect">
            <a:avLst>
              <a:gd name="adj" fmla="val 19231"/>
            </a:avLst>
          </a:prstGeom>
          <a:solidFill>
            <a:srgbClr val="2A1650"/>
          </a:solidFill>
          <a:ln/>
        </p:spPr>
        <p:txBody>
          <a:bodyPr/>
          <a:lstStyle/>
          <a:p>
            <a:endParaRPr lang="en-US"/>
          </a:p>
        </p:txBody>
      </p:sp>
      <p:sp>
        <p:nvSpPr>
          <p:cNvPr id="23" name="Text 21"/>
          <p:cNvSpPr txBox="1"/>
          <p:nvPr/>
        </p:nvSpPr>
        <p:spPr>
          <a:xfrm>
            <a:off x="3745154" y="4471416"/>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Canva</a:t>
            </a:r>
            <a:endParaRPr lang="en-US" sz="1500" dirty="0"/>
          </a:p>
        </p:txBody>
      </p:sp>
      <p:sp>
        <p:nvSpPr>
          <p:cNvPr id="24" name="Shape 22"/>
          <p:cNvSpPr/>
          <p:nvPr/>
        </p:nvSpPr>
        <p:spPr>
          <a:xfrm>
            <a:off x="6210148" y="1783080"/>
            <a:ext cx="2602154" cy="3383280"/>
          </a:xfrm>
          <a:prstGeom prst="roundRect">
            <a:avLst>
              <a:gd name="adj" fmla="val 6325"/>
            </a:avLst>
          </a:prstGeom>
          <a:solidFill>
            <a:srgbClr val="1F0F38"/>
          </a:solidFill>
          <a:ln w="19050">
            <a:solidFill>
              <a:srgbClr val="B0339E"/>
            </a:solidFill>
            <a:prstDash val="solid"/>
          </a:ln>
        </p:spPr>
        <p:txBody>
          <a:bodyPr/>
          <a:lstStyle/>
          <a:p>
            <a:endParaRPr lang="en-US"/>
          </a:p>
        </p:txBody>
      </p:sp>
      <p:sp>
        <p:nvSpPr>
          <p:cNvPr id="25" name="Text 23"/>
          <p:cNvSpPr txBox="1"/>
          <p:nvPr/>
        </p:nvSpPr>
        <p:spPr>
          <a:xfrm>
            <a:off x="6438748" y="1965960"/>
            <a:ext cx="2144954" cy="457200"/>
          </a:xfrm>
          <a:prstGeom prst="rect">
            <a:avLst/>
          </a:prstGeom>
          <a:noFill/>
          <a:ln/>
        </p:spPr>
        <p:txBody>
          <a:bodyPr wrap="square" lIns="0" tIns="0" rIns="0" bIns="0" rtlCol="0" anchor="ctr"/>
          <a:lstStyle/>
          <a:p>
            <a:pPr marL="0" indent="0">
              <a:buNone/>
            </a:pPr>
            <a:r>
              <a:rPr lang="en-US" sz="1800" b="1" dirty="0">
                <a:solidFill>
                  <a:srgbClr val="E07AD0"/>
                </a:solidFill>
                <a:latin typeface="Arial" pitchFamily="34" charset="0"/>
                <a:ea typeface="Arial" pitchFamily="34" charset="-122"/>
                <a:cs typeface="Arial" pitchFamily="34" charset="-120"/>
              </a:rPr>
              <a:t>Industry data</a:t>
            </a:r>
            <a:endParaRPr lang="en-US" sz="1800" dirty="0"/>
          </a:p>
        </p:txBody>
      </p:sp>
      <p:sp>
        <p:nvSpPr>
          <p:cNvPr id="26" name="Shape 24"/>
          <p:cNvSpPr/>
          <p:nvPr/>
        </p:nvSpPr>
        <p:spPr>
          <a:xfrm>
            <a:off x="6438748" y="2606040"/>
            <a:ext cx="2144954" cy="475488"/>
          </a:xfrm>
          <a:prstGeom prst="roundRect">
            <a:avLst>
              <a:gd name="adj" fmla="val 19231"/>
            </a:avLst>
          </a:prstGeom>
          <a:solidFill>
            <a:srgbClr val="2A1650"/>
          </a:solidFill>
          <a:ln/>
        </p:spPr>
        <p:txBody>
          <a:bodyPr/>
          <a:lstStyle/>
          <a:p>
            <a:endParaRPr lang="en-US"/>
          </a:p>
        </p:txBody>
      </p:sp>
      <p:sp>
        <p:nvSpPr>
          <p:cNvPr id="27" name="Text 25"/>
          <p:cNvSpPr txBox="1"/>
          <p:nvPr/>
        </p:nvSpPr>
        <p:spPr>
          <a:xfrm>
            <a:off x="6575908" y="2606040"/>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LSEG</a:t>
            </a:r>
            <a:endParaRPr lang="en-US" sz="1500" dirty="0"/>
          </a:p>
        </p:txBody>
      </p:sp>
      <p:sp>
        <p:nvSpPr>
          <p:cNvPr id="28" name="Shape 26"/>
          <p:cNvSpPr/>
          <p:nvPr/>
        </p:nvSpPr>
        <p:spPr>
          <a:xfrm>
            <a:off x="6438748" y="3227832"/>
            <a:ext cx="2144954" cy="475488"/>
          </a:xfrm>
          <a:prstGeom prst="roundRect">
            <a:avLst>
              <a:gd name="adj" fmla="val 19231"/>
            </a:avLst>
          </a:prstGeom>
          <a:solidFill>
            <a:srgbClr val="2A1650"/>
          </a:solidFill>
          <a:ln/>
        </p:spPr>
        <p:txBody>
          <a:bodyPr/>
          <a:lstStyle/>
          <a:p>
            <a:endParaRPr lang="en-US"/>
          </a:p>
        </p:txBody>
      </p:sp>
      <p:sp>
        <p:nvSpPr>
          <p:cNvPr id="29" name="Text 27"/>
          <p:cNvSpPr txBox="1"/>
          <p:nvPr/>
        </p:nvSpPr>
        <p:spPr>
          <a:xfrm>
            <a:off x="6575908" y="3227832"/>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Moody's</a:t>
            </a:r>
            <a:endParaRPr lang="en-US" sz="1500" dirty="0"/>
          </a:p>
        </p:txBody>
      </p:sp>
      <p:sp>
        <p:nvSpPr>
          <p:cNvPr id="30" name="Shape 28"/>
          <p:cNvSpPr/>
          <p:nvPr/>
        </p:nvSpPr>
        <p:spPr>
          <a:xfrm>
            <a:off x="6438748" y="3849624"/>
            <a:ext cx="2144954" cy="475488"/>
          </a:xfrm>
          <a:prstGeom prst="roundRect">
            <a:avLst>
              <a:gd name="adj" fmla="val 19231"/>
            </a:avLst>
          </a:prstGeom>
          <a:solidFill>
            <a:srgbClr val="2A1650"/>
          </a:solidFill>
          <a:ln/>
        </p:spPr>
        <p:txBody>
          <a:bodyPr/>
          <a:lstStyle/>
          <a:p>
            <a:endParaRPr lang="en-US"/>
          </a:p>
        </p:txBody>
      </p:sp>
      <p:sp>
        <p:nvSpPr>
          <p:cNvPr id="31" name="Text 29"/>
          <p:cNvSpPr txBox="1"/>
          <p:nvPr/>
        </p:nvSpPr>
        <p:spPr>
          <a:xfrm>
            <a:off x="6575908" y="3849624"/>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Morningstar</a:t>
            </a:r>
            <a:endParaRPr lang="en-US" sz="1500" dirty="0"/>
          </a:p>
        </p:txBody>
      </p:sp>
      <p:sp>
        <p:nvSpPr>
          <p:cNvPr id="32" name="Shape 30"/>
          <p:cNvSpPr/>
          <p:nvPr/>
        </p:nvSpPr>
        <p:spPr>
          <a:xfrm>
            <a:off x="6438748" y="4471416"/>
            <a:ext cx="2144954" cy="475488"/>
          </a:xfrm>
          <a:prstGeom prst="roundRect">
            <a:avLst>
              <a:gd name="adj" fmla="val 19231"/>
            </a:avLst>
          </a:prstGeom>
          <a:solidFill>
            <a:srgbClr val="2A1650"/>
          </a:solidFill>
          <a:ln/>
        </p:spPr>
        <p:txBody>
          <a:bodyPr/>
          <a:lstStyle/>
          <a:p>
            <a:endParaRPr lang="en-US"/>
          </a:p>
        </p:txBody>
      </p:sp>
      <p:sp>
        <p:nvSpPr>
          <p:cNvPr id="33" name="Text 31"/>
          <p:cNvSpPr txBox="1"/>
          <p:nvPr/>
        </p:nvSpPr>
        <p:spPr>
          <a:xfrm>
            <a:off x="6575908" y="4471416"/>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S&amp;P Global Energy</a:t>
            </a:r>
            <a:endParaRPr lang="en-US" sz="1500" dirty="0"/>
          </a:p>
        </p:txBody>
      </p:sp>
      <p:sp>
        <p:nvSpPr>
          <p:cNvPr id="34" name="Shape 32"/>
          <p:cNvSpPr/>
          <p:nvPr/>
        </p:nvSpPr>
        <p:spPr>
          <a:xfrm>
            <a:off x="9040901" y="1783080"/>
            <a:ext cx="2602154" cy="3383280"/>
          </a:xfrm>
          <a:prstGeom prst="roundRect">
            <a:avLst>
              <a:gd name="adj" fmla="val 6325"/>
            </a:avLst>
          </a:prstGeom>
          <a:solidFill>
            <a:srgbClr val="1F0F38"/>
          </a:solidFill>
          <a:ln w="19050">
            <a:solidFill>
              <a:srgbClr val="D42A6E"/>
            </a:solidFill>
            <a:prstDash val="solid"/>
          </a:ln>
        </p:spPr>
        <p:txBody>
          <a:bodyPr/>
          <a:lstStyle/>
          <a:p>
            <a:endParaRPr lang="en-US"/>
          </a:p>
        </p:txBody>
      </p:sp>
      <p:sp>
        <p:nvSpPr>
          <p:cNvPr id="35" name="Text 33"/>
          <p:cNvSpPr txBox="1"/>
          <p:nvPr/>
        </p:nvSpPr>
        <p:spPr>
          <a:xfrm>
            <a:off x="9269501" y="1965960"/>
            <a:ext cx="2144954" cy="457200"/>
          </a:xfrm>
          <a:prstGeom prst="rect">
            <a:avLst/>
          </a:prstGeom>
          <a:noFill/>
          <a:ln/>
        </p:spPr>
        <p:txBody>
          <a:bodyPr wrap="square" lIns="0" tIns="0" rIns="0" bIns="0" rtlCol="0" anchor="ctr"/>
          <a:lstStyle/>
          <a:p>
            <a:pPr marL="0" indent="0">
              <a:buNone/>
            </a:pPr>
            <a:r>
              <a:rPr lang="en-US" sz="1800" b="1" dirty="0">
                <a:solidFill>
                  <a:srgbClr val="FF5C9E"/>
                </a:solidFill>
                <a:latin typeface="Arial" pitchFamily="34" charset="0"/>
                <a:ea typeface="Arial" pitchFamily="34" charset="-122"/>
                <a:cs typeface="Arial" pitchFamily="34" charset="-120"/>
              </a:rPr>
              <a:t>Specialists</a:t>
            </a:r>
            <a:endParaRPr lang="en-US" sz="1800" dirty="0"/>
          </a:p>
        </p:txBody>
      </p:sp>
      <p:sp>
        <p:nvSpPr>
          <p:cNvPr id="36" name="Shape 34"/>
          <p:cNvSpPr/>
          <p:nvPr/>
        </p:nvSpPr>
        <p:spPr>
          <a:xfrm>
            <a:off x="9269501" y="2606040"/>
            <a:ext cx="2144954" cy="475488"/>
          </a:xfrm>
          <a:prstGeom prst="roundRect">
            <a:avLst>
              <a:gd name="adj" fmla="val 19231"/>
            </a:avLst>
          </a:prstGeom>
          <a:solidFill>
            <a:srgbClr val="2A1650"/>
          </a:solidFill>
          <a:ln/>
        </p:spPr>
        <p:txBody>
          <a:bodyPr/>
          <a:lstStyle/>
          <a:p>
            <a:endParaRPr lang="en-US"/>
          </a:p>
        </p:txBody>
      </p:sp>
      <p:sp>
        <p:nvSpPr>
          <p:cNvPr id="37" name="Text 35"/>
          <p:cNvSpPr txBox="1"/>
          <p:nvPr/>
        </p:nvSpPr>
        <p:spPr>
          <a:xfrm>
            <a:off x="9406661" y="2606040"/>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Harvey (legal)</a:t>
            </a:r>
            <a:endParaRPr lang="en-US" sz="1500" dirty="0"/>
          </a:p>
        </p:txBody>
      </p:sp>
      <p:sp>
        <p:nvSpPr>
          <p:cNvPr id="38" name="Shape 36"/>
          <p:cNvSpPr/>
          <p:nvPr/>
        </p:nvSpPr>
        <p:spPr>
          <a:xfrm>
            <a:off x="9269501" y="3227832"/>
            <a:ext cx="2144954" cy="475488"/>
          </a:xfrm>
          <a:prstGeom prst="roundRect">
            <a:avLst>
              <a:gd name="adj" fmla="val 19231"/>
            </a:avLst>
          </a:prstGeom>
          <a:solidFill>
            <a:srgbClr val="2A1650"/>
          </a:solidFill>
          <a:ln/>
        </p:spPr>
        <p:txBody>
          <a:bodyPr/>
          <a:lstStyle/>
          <a:p>
            <a:endParaRPr lang="en-US"/>
          </a:p>
        </p:txBody>
      </p:sp>
      <p:sp>
        <p:nvSpPr>
          <p:cNvPr id="39" name="Text 37"/>
          <p:cNvSpPr txBox="1"/>
          <p:nvPr/>
        </p:nvSpPr>
        <p:spPr>
          <a:xfrm>
            <a:off x="9406661" y="3227832"/>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enosix (SAP)</a:t>
            </a:r>
            <a:endParaRPr lang="en-US" sz="1500" dirty="0"/>
          </a:p>
        </p:txBody>
      </p:sp>
      <p:sp>
        <p:nvSpPr>
          <p:cNvPr id="40" name="Shape 38"/>
          <p:cNvSpPr/>
          <p:nvPr/>
        </p:nvSpPr>
        <p:spPr>
          <a:xfrm>
            <a:off x="9269501" y="3849624"/>
            <a:ext cx="2144954" cy="475488"/>
          </a:xfrm>
          <a:prstGeom prst="roundRect">
            <a:avLst>
              <a:gd name="adj" fmla="val 19231"/>
            </a:avLst>
          </a:prstGeom>
          <a:solidFill>
            <a:srgbClr val="2A1650"/>
          </a:solidFill>
          <a:ln/>
        </p:spPr>
        <p:txBody>
          <a:bodyPr/>
          <a:lstStyle/>
          <a:p>
            <a:endParaRPr lang="en-US"/>
          </a:p>
        </p:txBody>
      </p:sp>
      <p:sp>
        <p:nvSpPr>
          <p:cNvPr id="41" name="Text 39"/>
          <p:cNvSpPr txBox="1"/>
          <p:nvPr/>
        </p:nvSpPr>
        <p:spPr>
          <a:xfrm>
            <a:off x="9406661" y="3849624"/>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TeamsMaestro</a:t>
            </a:r>
            <a:endParaRPr lang="en-US" sz="1500" dirty="0"/>
          </a:p>
        </p:txBody>
      </p:sp>
      <p:sp>
        <p:nvSpPr>
          <p:cNvPr id="42" name="Shape 40"/>
          <p:cNvSpPr/>
          <p:nvPr/>
        </p:nvSpPr>
        <p:spPr>
          <a:xfrm>
            <a:off x="9269501" y="4471416"/>
            <a:ext cx="2144954" cy="475488"/>
          </a:xfrm>
          <a:prstGeom prst="roundRect">
            <a:avLst>
              <a:gd name="adj" fmla="val 19231"/>
            </a:avLst>
          </a:prstGeom>
          <a:solidFill>
            <a:srgbClr val="2A1650"/>
          </a:solidFill>
          <a:ln/>
        </p:spPr>
        <p:txBody>
          <a:bodyPr/>
          <a:lstStyle/>
          <a:p>
            <a:endParaRPr lang="en-US"/>
          </a:p>
        </p:txBody>
      </p:sp>
      <p:sp>
        <p:nvSpPr>
          <p:cNvPr id="43" name="Text 41"/>
          <p:cNvSpPr txBox="1"/>
          <p:nvPr/>
        </p:nvSpPr>
        <p:spPr>
          <a:xfrm>
            <a:off x="9406661" y="4471416"/>
            <a:ext cx="1870634" cy="475488"/>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 your own</a:t>
            </a:r>
            <a:endParaRPr lang="en-US" sz="1500" dirty="0"/>
          </a:p>
        </p:txBody>
      </p:sp>
      <p:sp>
        <p:nvSpPr>
          <p:cNvPr id="44" name="Text 42"/>
          <p:cNvSpPr txBox="1"/>
          <p:nvPr/>
        </p:nvSpPr>
        <p:spPr>
          <a:xfrm>
            <a:off x="548640" y="5349240"/>
            <a:ext cx="9144000" cy="365760"/>
          </a:xfrm>
          <a:prstGeom prst="rect">
            <a:avLst/>
          </a:prstGeom>
          <a:noFill/>
          <a:ln/>
        </p:spPr>
        <p:txBody>
          <a:bodyPr wrap="square" lIns="0" tIns="0" rIns="0" bIns="0" rtlCol="0" anchor="ctr"/>
          <a:lstStyle/>
          <a:p>
            <a:pPr marL="0" indent="0">
              <a:buNone/>
            </a:pPr>
            <a:r>
              <a:rPr lang="en-US" sz="1400" i="1" dirty="0">
                <a:solidFill>
                  <a:srgbClr val="CFC8E0"/>
                </a:solidFill>
                <a:latin typeface="Arial" pitchFamily="34" charset="0"/>
                <a:ea typeface="Arial" pitchFamily="34" charset="-122"/>
                <a:cs typeface="Arial" pitchFamily="34" charset="-120"/>
              </a:rPr>
              <a:t>Availability varies by plugin and region. Check the catalog in your tenant.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468880"/>
            <a:ext cx="9144000" cy="173736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One job, multiple apps</a:t>
            </a:r>
            <a:endParaRPr lang="en-US" sz="4800" dirty="0"/>
          </a:p>
        </p:txBody>
      </p:sp>
      <p:sp>
        <p:nvSpPr>
          <p:cNvPr id="3" name="Text 1"/>
          <p:cNvSpPr>
            <a:spLocks noGrp="1"/>
          </p:cNvSpPr>
          <p:nvPr>
            <p:ph type="body" idx="102" hasCustomPrompt="1"/>
          </p:nvPr>
        </p:nvSpPr>
        <p:spPr>
          <a:xfrm>
            <a:off x="548640" y="4297680"/>
            <a:ext cx="9144000" cy="109728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Connect to a plugin, send emails, and calendar holds, in one ask</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3657600" cy="1371600"/>
          </a:xfrm>
          <a:prstGeom prst="rect">
            <a:avLst/>
          </a:prstGeom>
          <a:noFill/>
          <a:ln/>
        </p:spPr>
        <p:txBody>
          <a:bodyPr wrap="square" lIns="0" tIns="0" rIns="0" bIns="0" rtlCol="0" anchor="b"/>
          <a:lstStyle/>
          <a:p>
            <a:pPr marL="0" indent="0">
              <a:buNone/>
            </a:pPr>
            <a:r>
              <a:rPr lang="en-US" sz="8800" b="1" dirty="0">
                <a:solidFill>
                  <a:srgbClr val="FF5C9E"/>
                </a:solidFill>
                <a:latin typeface="Arial" pitchFamily="34" charset="0"/>
                <a:ea typeface="Arial" pitchFamily="34" charset="-122"/>
                <a:cs typeface="Arial" pitchFamily="34" charset="-120"/>
              </a:rPr>
              <a:t>05</a:t>
            </a:r>
            <a:endParaRPr lang="en-US" sz="8800" dirty="0"/>
          </a:p>
        </p:txBody>
      </p:sp>
      <p:sp>
        <p:nvSpPr>
          <p:cNvPr id="3" name="Text 0"/>
          <p:cNvSpPr>
            <a:spLocks noGrp="1"/>
          </p:cNvSpPr>
          <p:nvPr>
            <p:ph type="title" idx="101" hasCustomPrompt="1"/>
          </p:nvPr>
        </p:nvSpPr>
        <p:spPr>
          <a:xfrm>
            <a:off x="548640" y="2743200"/>
            <a:ext cx="8686800" cy="155448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Run it like a pro</a:t>
            </a:r>
            <a:endParaRPr lang="en-US" sz="4800" dirty="0"/>
          </a:p>
        </p:txBody>
      </p:sp>
      <p:sp>
        <p:nvSpPr>
          <p:cNvPr id="4" name="Text 0"/>
          <p:cNvSpPr>
            <a:spLocks noGrp="1"/>
          </p:cNvSpPr>
          <p:nvPr>
            <p:ph type="body" idx="102" hasCustomPrompt="1"/>
          </p:nvPr>
        </p:nvSpPr>
        <p:spPr>
          <a:xfrm>
            <a:off x="548640" y="4389120"/>
            <a:ext cx="8686800" cy="731520"/>
          </a:xfrm>
          <a:prstGeom prst="rect">
            <a:avLst/>
          </a:prstGeom>
          <a:noFill/>
          <a:ln/>
        </p:spPr>
        <p:txBody>
          <a:bodyPr wrap="square" lIns="0" tIns="0" rIns="0" bIns="0" rtlCol="0" anchor="t"/>
          <a:lstStyle/>
          <a:p>
            <a:pPr marL="0" indent="0">
              <a:buNone/>
            </a:pPr>
            <a:r>
              <a:rPr lang="en-US" sz="2000" dirty="0">
                <a:solidFill>
                  <a:srgbClr val="CFC8E0"/>
                </a:solidFill>
                <a:latin typeface="Arial" pitchFamily="34" charset="0"/>
                <a:ea typeface="Arial" pitchFamily="34" charset="-122"/>
                <a:cs typeface="Arial" pitchFamily="34" charset="-120"/>
              </a:rPr>
              <a:t>Prompts, cost, and governance</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Anatomy of a great Cowork request</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Four parts turn a vague ask into a reliable result</a:t>
            </a:r>
            <a:endParaRPr lang="en-US" sz="1800" dirty="0"/>
          </a:p>
        </p:txBody>
      </p:sp>
      <p:sp>
        <p:nvSpPr>
          <p:cNvPr id="4" name="Shape 2"/>
          <p:cNvSpPr/>
          <p:nvPr/>
        </p:nvSpPr>
        <p:spPr>
          <a:xfrm>
            <a:off x="548640" y="1783080"/>
            <a:ext cx="1737360" cy="621792"/>
          </a:xfrm>
          <a:prstGeom prst="roundRect">
            <a:avLst>
              <a:gd name="adj" fmla="val 22059"/>
            </a:avLst>
          </a:prstGeom>
          <a:solidFill>
            <a:srgbClr val="3B74F0"/>
          </a:solidFill>
          <a:ln/>
        </p:spPr>
        <p:txBody>
          <a:bodyPr/>
          <a:lstStyle/>
          <a:p>
            <a:endParaRPr lang="en-US"/>
          </a:p>
        </p:txBody>
      </p:sp>
      <p:sp>
        <p:nvSpPr>
          <p:cNvPr id="5" name="Text 3"/>
          <p:cNvSpPr txBox="1"/>
          <p:nvPr/>
        </p:nvSpPr>
        <p:spPr>
          <a:xfrm>
            <a:off x="548640" y="1783080"/>
            <a:ext cx="173736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Goal</a:t>
            </a:r>
            <a:endParaRPr lang="en-US" sz="1800" dirty="0"/>
          </a:p>
        </p:txBody>
      </p:sp>
      <p:sp>
        <p:nvSpPr>
          <p:cNvPr id="6" name="Text 4"/>
          <p:cNvSpPr txBox="1"/>
          <p:nvPr/>
        </p:nvSpPr>
        <p:spPr>
          <a:xfrm>
            <a:off x="2468880" y="1783080"/>
            <a:ext cx="3108960" cy="621792"/>
          </a:xfrm>
          <a:prstGeom prst="rect">
            <a:avLst/>
          </a:prstGeom>
          <a:noFill/>
          <a:ln/>
        </p:spPr>
        <p:txBody>
          <a:bodyPr wrap="square" lIns="0" tIns="0" rIns="0" bIns="0" rtlCol="0" anchor="ctr"/>
          <a:lstStyle/>
          <a:p>
            <a:pPr marL="0" indent="0">
              <a:buNone/>
            </a:pPr>
            <a:r>
              <a:rPr lang="en-US" sz="1500" dirty="0">
                <a:solidFill>
                  <a:srgbClr val="CFC8E0"/>
                </a:solidFill>
                <a:latin typeface="Arial" pitchFamily="34" charset="0"/>
                <a:ea typeface="Arial" pitchFamily="34" charset="-122"/>
                <a:cs typeface="Arial" pitchFamily="34" charset="-120"/>
              </a:rPr>
              <a:t>The outcome, in one line</a:t>
            </a:r>
            <a:endParaRPr lang="en-US" sz="1500" dirty="0"/>
          </a:p>
        </p:txBody>
      </p:sp>
      <p:sp>
        <p:nvSpPr>
          <p:cNvPr id="7" name="Shape 5"/>
          <p:cNvSpPr/>
          <p:nvPr/>
        </p:nvSpPr>
        <p:spPr>
          <a:xfrm>
            <a:off x="548640" y="2560320"/>
            <a:ext cx="1737360" cy="621792"/>
          </a:xfrm>
          <a:prstGeom prst="roundRect">
            <a:avLst>
              <a:gd name="adj" fmla="val 22059"/>
            </a:avLst>
          </a:prstGeom>
          <a:solidFill>
            <a:srgbClr val="5A56E8"/>
          </a:solidFill>
          <a:ln/>
        </p:spPr>
        <p:txBody>
          <a:bodyPr/>
          <a:lstStyle/>
          <a:p>
            <a:endParaRPr lang="en-US"/>
          </a:p>
        </p:txBody>
      </p:sp>
      <p:sp>
        <p:nvSpPr>
          <p:cNvPr id="8" name="Text 6"/>
          <p:cNvSpPr txBox="1"/>
          <p:nvPr/>
        </p:nvSpPr>
        <p:spPr>
          <a:xfrm>
            <a:off x="548640" y="2560320"/>
            <a:ext cx="173736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Sources</a:t>
            </a:r>
            <a:endParaRPr lang="en-US" sz="1800" dirty="0"/>
          </a:p>
        </p:txBody>
      </p:sp>
      <p:sp>
        <p:nvSpPr>
          <p:cNvPr id="9" name="Text 7"/>
          <p:cNvSpPr txBox="1"/>
          <p:nvPr/>
        </p:nvSpPr>
        <p:spPr>
          <a:xfrm>
            <a:off x="2468880" y="2560320"/>
            <a:ext cx="3108960" cy="621792"/>
          </a:xfrm>
          <a:prstGeom prst="rect">
            <a:avLst/>
          </a:prstGeom>
          <a:noFill/>
          <a:ln/>
        </p:spPr>
        <p:txBody>
          <a:bodyPr wrap="square" lIns="0" tIns="0" rIns="0" bIns="0" rtlCol="0" anchor="ctr"/>
          <a:lstStyle/>
          <a:p>
            <a:pPr marL="0" indent="0">
              <a:buNone/>
            </a:pPr>
            <a:r>
              <a:rPr lang="en-US" sz="1500" dirty="0">
                <a:solidFill>
                  <a:srgbClr val="CFC8E0"/>
                </a:solidFill>
                <a:latin typeface="Arial" pitchFamily="34" charset="0"/>
                <a:ea typeface="Arial" pitchFamily="34" charset="-122"/>
                <a:cs typeface="Arial" pitchFamily="34" charset="-120"/>
              </a:rPr>
              <a:t>Files, people, or date range to use</a:t>
            </a:r>
            <a:endParaRPr lang="en-US" sz="1500" dirty="0"/>
          </a:p>
        </p:txBody>
      </p:sp>
      <p:sp>
        <p:nvSpPr>
          <p:cNvPr id="10" name="Shape 8"/>
          <p:cNvSpPr/>
          <p:nvPr/>
        </p:nvSpPr>
        <p:spPr>
          <a:xfrm>
            <a:off x="548640" y="3337560"/>
            <a:ext cx="1737360" cy="621792"/>
          </a:xfrm>
          <a:prstGeom prst="roundRect">
            <a:avLst>
              <a:gd name="adj" fmla="val 22059"/>
            </a:avLst>
          </a:prstGeom>
          <a:solidFill>
            <a:srgbClr val="8C38E0"/>
          </a:solidFill>
          <a:ln/>
        </p:spPr>
        <p:txBody>
          <a:bodyPr/>
          <a:lstStyle/>
          <a:p>
            <a:endParaRPr lang="en-US"/>
          </a:p>
        </p:txBody>
      </p:sp>
      <p:sp>
        <p:nvSpPr>
          <p:cNvPr id="11" name="Text 9"/>
          <p:cNvSpPr txBox="1"/>
          <p:nvPr/>
        </p:nvSpPr>
        <p:spPr>
          <a:xfrm>
            <a:off x="548640" y="3337560"/>
            <a:ext cx="173736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Format</a:t>
            </a:r>
            <a:endParaRPr lang="en-US" sz="1800" dirty="0"/>
          </a:p>
        </p:txBody>
      </p:sp>
      <p:sp>
        <p:nvSpPr>
          <p:cNvPr id="12" name="Text 10"/>
          <p:cNvSpPr txBox="1"/>
          <p:nvPr/>
        </p:nvSpPr>
        <p:spPr>
          <a:xfrm>
            <a:off x="2468880" y="3337560"/>
            <a:ext cx="3108960" cy="621792"/>
          </a:xfrm>
          <a:prstGeom prst="rect">
            <a:avLst/>
          </a:prstGeom>
          <a:noFill/>
          <a:ln/>
        </p:spPr>
        <p:txBody>
          <a:bodyPr wrap="square" lIns="0" tIns="0" rIns="0" bIns="0" rtlCol="0" anchor="ctr"/>
          <a:lstStyle/>
          <a:p>
            <a:pPr marL="0" indent="0">
              <a:buNone/>
            </a:pPr>
            <a:r>
              <a:rPr lang="en-US" sz="1500" dirty="0">
                <a:solidFill>
                  <a:srgbClr val="CFC8E0"/>
                </a:solidFill>
                <a:latin typeface="Arial" pitchFamily="34" charset="0"/>
                <a:ea typeface="Arial" pitchFamily="34" charset="-122"/>
                <a:cs typeface="Arial" pitchFamily="34" charset="-120"/>
              </a:rPr>
              <a:t>Length, structure, tone, where to save</a:t>
            </a:r>
            <a:endParaRPr lang="en-US" sz="1500" dirty="0"/>
          </a:p>
        </p:txBody>
      </p:sp>
      <p:sp>
        <p:nvSpPr>
          <p:cNvPr id="13" name="Shape 11"/>
          <p:cNvSpPr/>
          <p:nvPr/>
        </p:nvSpPr>
        <p:spPr>
          <a:xfrm>
            <a:off x="548640" y="4114800"/>
            <a:ext cx="1737360" cy="621792"/>
          </a:xfrm>
          <a:prstGeom prst="roundRect">
            <a:avLst>
              <a:gd name="adj" fmla="val 22059"/>
            </a:avLst>
          </a:prstGeom>
          <a:solidFill>
            <a:srgbClr val="D42A6E"/>
          </a:solidFill>
          <a:ln/>
        </p:spPr>
        <p:txBody>
          <a:bodyPr/>
          <a:lstStyle/>
          <a:p>
            <a:endParaRPr lang="en-US"/>
          </a:p>
        </p:txBody>
      </p:sp>
      <p:sp>
        <p:nvSpPr>
          <p:cNvPr id="14" name="Text 12"/>
          <p:cNvSpPr txBox="1"/>
          <p:nvPr/>
        </p:nvSpPr>
        <p:spPr>
          <a:xfrm>
            <a:off x="548640" y="4114800"/>
            <a:ext cx="173736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Boundary</a:t>
            </a:r>
            <a:endParaRPr lang="en-US" sz="1800" dirty="0"/>
          </a:p>
        </p:txBody>
      </p:sp>
      <p:sp>
        <p:nvSpPr>
          <p:cNvPr id="15" name="Text 13"/>
          <p:cNvSpPr txBox="1"/>
          <p:nvPr/>
        </p:nvSpPr>
        <p:spPr>
          <a:xfrm>
            <a:off x="2468880" y="4114800"/>
            <a:ext cx="3108960" cy="621792"/>
          </a:xfrm>
          <a:prstGeom prst="rect">
            <a:avLst/>
          </a:prstGeom>
          <a:noFill/>
          <a:ln/>
        </p:spPr>
        <p:txBody>
          <a:bodyPr wrap="square" lIns="0" tIns="0" rIns="0" bIns="0" rtlCol="0" anchor="ctr"/>
          <a:lstStyle/>
          <a:p>
            <a:pPr marL="0" indent="0">
              <a:buNone/>
            </a:pPr>
            <a:r>
              <a:rPr lang="en-US" sz="1500" dirty="0">
                <a:solidFill>
                  <a:srgbClr val="CFC8E0"/>
                </a:solidFill>
                <a:latin typeface="Arial" pitchFamily="34" charset="0"/>
                <a:ea typeface="Arial" pitchFamily="34" charset="-122"/>
                <a:cs typeface="Arial" pitchFamily="34" charset="-120"/>
              </a:rPr>
              <a:t>What to preview, when to ask you</a:t>
            </a:r>
            <a:endParaRPr lang="en-US" sz="1500" dirty="0"/>
          </a:p>
        </p:txBody>
      </p:sp>
      <p:sp>
        <p:nvSpPr>
          <p:cNvPr id="16" name="Shape 14"/>
          <p:cNvSpPr/>
          <p:nvPr/>
        </p:nvSpPr>
        <p:spPr>
          <a:xfrm>
            <a:off x="5760720" y="1783080"/>
            <a:ext cx="5879592" cy="2971800"/>
          </a:xfrm>
          <a:prstGeom prst="roundRect">
            <a:avLst>
              <a:gd name="adj" fmla="val 5538"/>
            </a:avLst>
          </a:prstGeom>
          <a:solidFill>
            <a:srgbClr val="1F0F38"/>
          </a:solidFill>
          <a:ln w="19050">
            <a:solidFill>
              <a:srgbClr val="8C38E0"/>
            </a:solidFill>
            <a:prstDash val="solid"/>
          </a:ln>
        </p:spPr>
        <p:txBody>
          <a:bodyPr/>
          <a:lstStyle/>
          <a:p>
            <a:endParaRPr lang="en-US"/>
          </a:p>
        </p:txBody>
      </p:sp>
      <p:sp>
        <p:nvSpPr>
          <p:cNvPr id="17" name="Text 15"/>
          <p:cNvSpPr txBox="1"/>
          <p:nvPr/>
        </p:nvSpPr>
        <p:spPr>
          <a:xfrm>
            <a:off x="6035040" y="1920240"/>
            <a:ext cx="4572000" cy="411480"/>
          </a:xfrm>
          <a:prstGeom prst="rect">
            <a:avLst/>
          </a:prstGeom>
          <a:noFill/>
          <a:ln/>
        </p:spPr>
        <p:txBody>
          <a:bodyPr wrap="square" lIns="0" tIns="0" rIns="0" bIns="0" rtlCol="0" anchor="ctr"/>
          <a:lstStyle/>
          <a:p>
            <a:pPr marL="0" indent="0">
              <a:buNone/>
            </a:pPr>
            <a:r>
              <a:rPr lang="en-US" sz="1800" b="1" dirty="0">
                <a:solidFill>
                  <a:srgbClr val="B06CF5"/>
                </a:solidFill>
                <a:latin typeface="Arial" pitchFamily="34" charset="0"/>
                <a:ea typeface="Arial" pitchFamily="34" charset="-122"/>
                <a:cs typeface="Arial" pitchFamily="34" charset="-120"/>
              </a:rPr>
              <a:t>Real example</a:t>
            </a:r>
            <a:endParaRPr lang="en-US" sz="1800" dirty="0"/>
          </a:p>
        </p:txBody>
      </p:sp>
      <p:sp>
        <p:nvSpPr>
          <p:cNvPr id="18" name="Text 16"/>
          <p:cNvSpPr txBox="1"/>
          <p:nvPr/>
        </p:nvSpPr>
        <p:spPr>
          <a:xfrm>
            <a:off x="6035040" y="2377440"/>
            <a:ext cx="5394960" cy="2194560"/>
          </a:xfrm>
          <a:prstGeom prst="rect">
            <a:avLst/>
          </a:prstGeom>
          <a:noFill/>
          <a:ln/>
        </p:spPr>
        <p:txBody>
          <a:bodyPr wrap="square" lIns="0" tIns="0" rIns="0" bIns="0" rtlCol="0" anchor="t"/>
          <a:lstStyle/>
          <a:p>
            <a:pPr marL="0" indent="0">
              <a:buNone/>
            </a:pPr>
            <a:r>
              <a:rPr lang="en-US" sz="1700" dirty="0">
                <a:solidFill>
                  <a:srgbClr val="5B8CF5"/>
                </a:solidFill>
                <a:latin typeface="Arial" pitchFamily="34" charset="0"/>
                <a:ea typeface="Arial" pitchFamily="34" charset="-122"/>
                <a:cs typeface="Arial" pitchFamily="34" charset="-120"/>
              </a:rPr>
              <a:t>Build a briefing packet for my 10am with Crate &amp; Needle Records. </a:t>
            </a:r>
            <a:r>
              <a:rPr lang="en-US" sz="1700" dirty="0">
                <a:solidFill>
                  <a:srgbClr val="8F8CFF"/>
                </a:solidFill>
                <a:latin typeface="Arial" pitchFamily="34" charset="0"/>
                <a:ea typeface="Arial" pitchFamily="34" charset="-122"/>
                <a:cs typeface="Arial" pitchFamily="34" charset="-120"/>
              </a:rPr>
              <a:t>Use the last 6 months of email with them and their orders in Vendor_Pipeline.xlsx. </a:t>
            </a:r>
            <a:r>
              <a:rPr lang="en-US" sz="1700" dirty="0">
                <a:solidFill>
                  <a:srgbClr val="B06CF5"/>
                </a:solidFill>
                <a:latin typeface="Arial" pitchFamily="34" charset="0"/>
                <a:ea typeface="Arial" pitchFamily="34" charset="-122"/>
                <a:cs typeface="Arial" pitchFamily="34" charset="-120"/>
              </a:rPr>
              <a:t>One page, 3 talking points, saved as Word in /Meetings/. </a:t>
            </a:r>
            <a:r>
              <a:rPr lang="en-US" sz="1700" dirty="0">
                <a:solidFill>
                  <a:srgbClr val="FF5C9E"/>
                </a:solidFill>
                <a:latin typeface="Arial" pitchFamily="34" charset="0"/>
                <a:ea typeface="Arial" pitchFamily="34" charset="-122"/>
                <a:cs typeface="Arial" pitchFamily="34" charset="-120"/>
              </a:rPr>
              <a:t>Preview before you create anything.</a:t>
            </a:r>
            <a:endParaRPr lang="en-US" sz="1700" dirty="0"/>
          </a:p>
        </p:txBody>
      </p:sp>
      <p:sp>
        <p:nvSpPr>
          <p:cNvPr id="19" name="Text 17"/>
          <p:cNvSpPr txBox="1"/>
          <p:nvPr/>
        </p:nvSpPr>
        <p:spPr>
          <a:xfrm>
            <a:off x="548640" y="5074920"/>
            <a:ext cx="11094415" cy="411480"/>
          </a:xfrm>
          <a:prstGeom prst="rect">
            <a:avLst/>
          </a:prstGeom>
          <a:noFill/>
          <a:ln/>
        </p:spPr>
        <p:txBody>
          <a:bodyPr wrap="square" lIns="0" tIns="0" rIns="0" bIns="0" rtlCol="0" anchor="ctr"/>
          <a:lstStyle/>
          <a:p>
            <a:pPr marL="0" indent="0">
              <a:buNone/>
            </a:pPr>
            <a:r>
              <a:rPr lang="en-US" sz="1500" i="1" dirty="0">
                <a:solidFill>
                  <a:srgbClr val="CFC8E0"/>
                </a:solidFill>
                <a:latin typeface="Arial" pitchFamily="34" charset="0"/>
                <a:ea typeface="Arial" pitchFamily="34" charset="-122"/>
                <a:cs typeface="Arial" pitchFamily="34" charset="-120"/>
              </a:rPr>
              <a:t>One topic per thread. Fresh thread for a new task keeps context clean and credits down.</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What does it cost?</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Cowork runs on Copilot Credits on top of your M365 Copilot license</a:t>
            </a:r>
            <a:endParaRPr lang="en-US" sz="1800" dirty="0"/>
          </a:p>
        </p:txBody>
      </p:sp>
      <p:sp>
        <p:nvSpPr>
          <p:cNvPr id="4" name="Shape 2"/>
          <p:cNvSpPr/>
          <p:nvPr/>
        </p:nvSpPr>
        <p:spPr>
          <a:xfrm>
            <a:off x="548640" y="1783080"/>
            <a:ext cx="3515258" cy="2331720"/>
          </a:xfrm>
          <a:prstGeom prst="roundRect">
            <a:avLst>
              <a:gd name="adj" fmla="val 7059"/>
            </a:avLst>
          </a:prstGeom>
          <a:solidFill>
            <a:srgbClr val="1F0F38"/>
          </a:solidFill>
          <a:ln w="25400">
            <a:solidFill>
              <a:srgbClr val="3B74F0"/>
            </a:solidFill>
            <a:prstDash val="solid"/>
          </a:ln>
        </p:spPr>
        <p:txBody>
          <a:bodyPr/>
          <a:lstStyle/>
          <a:p>
            <a:endParaRPr lang="en-US"/>
          </a:p>
        </p:txBody>
      </p:sp>
      <p:sp>
        <p:nvSpPr>
          <p:cNvPr id="5" name="Text 3"/>
          <p:cNvSpPr txBox="1"/>
          <p:nvPr/>
        </p:nvSpPr>
        <p:spPr>
          <a:xfrm>
            <a:off x="822960" y="1965960"/>
            <a:ext cx="2966618" cy="457200"/>
          </a:xfrm>
          <a:prstGeom prst="rect">
            <a:avLst/>
          </a:prstGeom>
          <a:noFill/>
          <a:ln/>
        </p:spPr>
        <p:txBody>
          <a:bodyPr wrap="square" lIns="0" tIns="0" rIns="0" bIns="0" rtlCol="0" anchor="ctr"/>
          <a:lstStyle/>
          <a:p>
            <a:pPr marL="0" indent="0">
              <a:buNone/>
            </a:pPr>
            <a:r>
              <a:rPr lang="en-US" sz="2200" b="1" dirty="0">
                <a:solidFill>
                  <a:srgbClr val="5B8CF5"/>
                </a:solidFill>
                <a:latin typeface="Arial" pitchFamily="34" charset="0"/>
                <a:ea typeface="Arial" pitchFamily="34" charset="-122"/>
                <a:cs typeface="Arial" pitchFamily="34" charset="-120"/>
              </a:rPr>
              <a:t>Light</a:t>
            </a:r>
            <a:endParaRPr lang="en-US" sz="2200" dirty="0"/>
          </a:p>
        </p:txBody>
      </p:sp>
      <p:sp>
        <p:nvSpPr>
          <p:cNvPr id="6" name="Text 4"/>
          <p:cNvSpPr txBox="1"/>
          <p:nvPr/>
        </p:nvSpPr>
        <p:spPr>
          <a:xfrm>
            <a:off x="822960" y="2423160"/>
            <a:ext cx="2966618"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~$1-3</a:t>
            </a:r>
            <a:endParaRPr lang="en-US" sz="3600" dirty="0"/>
          </a:p>
        </p:txBody>
      </p:sp>
      <p:sp>
        <p:nvSpPr>
          <p:cNvPr id="7" name="Text 5"/>
          <p:cNvSpPr txBox="1"/>
          <p:nvPr/>
        </p:nvSpPr>
        <p:spPr>
          <a:xfrm>
            <a:off x="822960" y="3200400"/>
            <a:ext cx="2966618" cy="82296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100-300 credits. A lookup, a summary, one action</a:t>
            </a:r>
            <a:endParaRPr lang="en-US" sz="1500" dirty="0"/>
          </a:p>
        </p:txBody>
      </p:sp>
      <p:sp>
        <p:nvSpPr>
          <p:cNvPr id="8" name="Shape 6"/>
          <p:cNvSpPr/>
          <p:nvPr/>
        </p:nvSpPr>
        <p:spPr>
          <a:xfrm>
            <a:off x="4338218" y="1783080"/>
            <a:ext cx="3515258" cy="2331720"/>
          </a:xfrm>
          <a:prstGeom prst="roundRect">
            <a:avLst>
              <a:gd name="adj" fmla="val 7059"/>
            </a:avLst>
          </a:prstGeom>
          <a:solidFill>
            <a:srgbClr val="1F0F38"/>
          </a:solidFill>
          <a:ln w="25400">
            <a:solidFill>
              <a:srgbClr val="8C38E0"/>
            </a:solidFill>
            <a:prstDash val="solid"/>
          </a:ln>
        </p:spPr>
        <p:txBody>
          <a:bodyPr/>
          <a:lstStyle/>
          <a:p>
            <a:endParaRPr lang="en-US"/>
          </a:p>
        </p:txBody>
      </p:sp>
      <p:sp>
        <p:nvSpPr>
          <p:cNvPr id="9" name="Text 7"/>
          <p:cNvSpPr txBox="1"/>
          <p:nvPr/>
        </p:nvSpPr>
        <p:spPr>
          <a:xfrm>
            <a:off x="4612538" y="1965960"/>
            <a:ext cx="2966618" cy="457200"/>
          </a:xfrm>
          <a:prstGeom prst="rect">
            <a:avLst/>
          </a:prstGeom>
          <a:noFill/>
          <a:ln/>
        </p:spPr>
        <p:txBody>
          <a:bodyPr wrap="square" lIns="0" tIns="0" rIns="0" bIns="0" rtlCol="0" anchor="ctr"/>
          <a:lstStyle/>
          <a:p>
            <a:pPr marL="0" indent="0">
              <a:buNone/>
            </a:pPr>
            <a:r>
              <a:rPr lang="en-US" sz="2200" b="1" dirty="0">
                <a:solidFill>
                  <a:srgbClr val="B06CF5"/>
                </a:solidFill>
                <a:latin typeface="Arial" pitchFamily="34" charset="0"/>
                <a:ea typeface="Arial" pitchFamily="34" charset="-122"/>
                <a:cs typeface="Arial" pitchFamily="34" charset="-120"/>
              </a:rPr>
              <a:t>Medium</a:t>
            </a:r>
            <a:endParaRPr lang="en-US" sz="2200" dirty="0"/>
          </a:p>
        </p:txBody>
      </p:sp>
      <p:sp>
        <p:nvSpPr>
          <p:cNvPr id="10" name="Text 8"/>
          <p:cNvSpPr txBox="1"/>
          <p:nvPr/>
        </p:nvSpPr>
        <p:spPr>
          <a:xfrm>
            <a:off x="4612538" y="2423160"/>
            <a:ext cx="2966618"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~$3-7</a:t>
            </a:r>
            <a:endParaRPr lang="en-US" sz="3600" dirty="0"/>
          </a:p>
        </p:txBody>
      </p:sp>
      <p:sp>
        <p:nvSpPr>
          <p:cNvPr id="11" name="Text 9"/>
          <p:cNvSpPr txBox="1"/>
          <p:nvPr/>
        </p:nvSpPr>
        <p:spPr>
          <a:xfrm>
            <a:off x="4612538" y="3200400"/>
            <a:ext cx="2966618" cy="82296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300-700 credits. Several sources, a couple of outputs</a:t>
            </a:r>
            <a:endParaRPr lang="en-US" sz="1500" dirty="0"/>
          </a:p>
        </p:txBody>
      </p:sp>
      <p:sp>
        <p:nvSpPr>
          <p:cNvPr id="12" name="Shape 10"/>
          <p:cNvSpPr/>
          <p:nvPr/>
        </p:nvSpPr>
        <p:spPr>
          <a:xfrm>
            <a:off x="8127797" y="1783080"/>
            <a:ext cx="3515258" cy="2331720"/>
          </a:xfrm>
          <a:prstGeom prst="roundRect">
            <a:avLst>
              <a:gd name="adj" fmla="val 7059"/>
            </a:avLst>
          </a:prstGeom>
          <a:solidFill>
            <a:srgbClr val="1F0F38"/>
          </a:solidFill>
          <a:ln w="25400">
            <a:solidFill>
              <a:srgbClr val="D42A6E"/>
            </a:solidFill>
            <a:prstDash val="solid"/>
          </a:ln>
        </p:spPr>
        <p:txBody>
          <a:bodyPr/>
          <a:lstStyle/>
          <a:p>
            <a:endParaRPr lang="en-US"/>
          </a:p>
        </p:txBody>
      </p:sp>
      <p:sp>
        <p:nvSpPr>
          <p:cNvPr id="13" name="Text 11"/>
          <p:cNvSpPr txBox="1"/>
          <p:nvPr/>
        </p:nvSpPr>
        <p:spPr>
          <a:xfrm>
            <a:off x="8402117" y="1965960"/>
            <a:ext cx="2966618" cy="457200"/>
          </a:xfrm>
          <a:prstGeom prst="rect">
            <a:avLst/>
          </a:prstGeom>
          <a:noFill/>
          <a:ln/>
        </p:spPr>
        <p:txBody>
          <a:bodyPr wrap="square" lIns="0" tIns="0" rIns="0" bIns="0" rtlCol="0" anchor="ctr"/>
          <a:lstStyle/>
          <a:p>
            <a:pPr marL="0" indent="0">
              <a:buNone/>
            </a:pPr>
            <a:r>
              <a:rPr lang="en-US" sz="2200" b="1" dirty="0">
                <a:solidFill>
                  <a:srgbClr val="FF5C9E"/>
                </a:solidFill>
                <a:latin typeface="Arial" pitchFamily="34" charset="0"/>
                <a:ea typeface="Arial" pitchFamily="34" charset="-122"/>
                <a:cs typeface="Arial" pitchFamily="34" charset="-120"/>
              </a:rPr>
              <a:t>Heavy</a:t>
            </a:r>
            <a:endParaRPr lang="en-US" sz="2200" dirty="0"/>
          </a:p>
        </p:txBody>
      </p:sp>
      <p:sp>
        <p:nvSpPr>
          <p:cNvPr id="14" name="Text 12"/>
          <p:cNvSpPr txBox="1"/>
          <p:nvPr/>
        </p:nvSpPr>
        <p:spPr>
          <a:xfrm>
            <a:off x="8402117" y="2423160"/>
            <a:ext cx="2966618"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$7+</a:t>
            </a:r>
            <a:endParaRPr lang="en-US" sz="3600" dirty="0"/>
          </a:p>
        </p:txBody>
      </p:sp>
      <p:sp>
        <p:nvSpPr>
          <p:cNvPr id="15" name="Text 13"/>
          <p:cNvSpPr txBox="1"/>
          <p:nvPr/>
        </p:nvSpPr>
        <p:spPr>
          <a:xfrm>
            <a:off x="8402117" y="3200400"/>
            <a:ext cx="2966618" cy="82296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700+ credits. Deep research, big data, many outputs</a:t>
            </a:r>
            <a:endParaRPr lang="en-US" sz="1500" dirty="0"/>
          </a:p>
        </p:txBody>
      </p:sp>
      <p:sp>
        <p:nvSpPr>
          <p:cNvPr id="16" name="Shape 14"/>
          <p:cNvSpPr/>
          <p:nvPr/>
        </p:nvSpPr>
        <p:spPr>
          <a:xfrm>
            <a:off x="548640" y="4297680"/>
            <a:ext cx="3515258" cy="1188720"/>
          </a:xfrm>
          <a:prstGeom prst="roundRect">
            <a:avLst>
              <a:gd name="adj" fmla="val 13846"/>
            </a:avLst>
          </a:prstGeom>
          <a:solidFill>
            <a:srgbClr val="1F0F38"/>
          </a:solidFill>
          <a:ln w="12700">
            <a:solidFill>
              <a:srgbClr val="3A2260"/>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777240" y="4572000"/>
            <a:ext cx="384048" cy="384048"/>
          </a:xfrm>
          <a:prstGeom prst="rect">
            <a:avLst/>
          </a:prstGeom>
        </p:spPr>
      </p:pic>
      <p:sp>
        <p:nvSpPr>
          <p:cNvPr id="18" name="Text 15"/>
          <p:cNvSpPr txBox="1"/>
          <p:nvPr/>
        </p:nvSpPr>
        <p:spPr>
          <a:xfrm>
            <a:off x="1325880" y="4407408"/>
            <a:ext cx="2555138"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About $0.01 per credit</a:t>
            </a:r>
            <a:endParaRPr lang="en-US" sz="1600" dirty="0"/>
          </a:p>
        </p:txBody>
      </p:sp>
      <p:sp>
        <p:nvSpPr>
          <p:cNvPr id="19" name="Text 16"/>
          <p:cNvSpPr txBox="1"/>
          <p:nvPr/>
        </p:nvSpPr>
        <p:spPr>
          <a:xfrm>
            <a:off x="1325880" y="4864608"/>
            <a:ext cx="2555138" cy="502920"/>
          </a:xfrm>
          <a:prstGeom prst="rect">
            <a:avLst/>
          </a:prstGeom>
          <a:noFill/>
          <a:ln/>
        </p:spPr>
        <p:txBody>
          <a:bodyPr wrap="square" lIns="0" tIns="0" rIns="0" bIns="0" rtlCol="0" anchor="t"/>
          <a:lstStyle/>
          <a:p>
            <a:pPr marL="0" indent="0">
              <a:buNone/>
            </a:pPr>
            <a:r>
              <a:rPr lang="en-US" sz="1400" dirty="0">
                <a:solidFill>
                  <a:srgbClr val="CFC8E0"/>
                </a:solidFill>
                <a:latin typeface="Arial" pitchFamily="34" charset="0"/>
                <a:ea typeface="Arial" pitchFamily="34" charset="-122"/>
                <a:cs typeface="Arial" pitchFamily="34" charset="-120"/>
              </a:rPr>
              <a:t>Pay as you go, or prepaid packs</a:t>
            </a:r>
            <a:endParaRPr lang="en-US" sz="1400" dirty="0"/>
          </a:p>
        </p:txBody>
      </p:sp>
      <p:sp>
        <p:nvSpPr>
          <p:cNvPr id="20" name="Shape 17"/>
          <p:cNvSpPr/>
          <p:nvPr/>
        </p:nvSpPr>
        <p:spPr>
          <a:xfrm>
            <a:off x="4338218" y="4297680"/>
            <a:ext cx="3515258" cy="1188720"/>
          </a:xfrm>
          <a:prstGeom prst="roundRect">
            <a:avLst>
              <a:gd name="adj" fmla="val 13846"/>
            </a:avLst>
          </a:prstGeom>
          <a:solidFill>
            <a:srgbClr val="1F0F38"/>
          </a:solidFill>
          <a:ln w="12700">
            <a:solidFill>
              <a:srgbClr val="3A2260"/>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4566818" y="4572000"/>
            <a:ext cx="384048" cy="384048"/>
          </a:xfrm>
          <a:prstGeom prst="rect">
            <a:avLst/>
          </a:prstGeom>
        </p:spPr>
      </p:pic>
      <p:sp>
        <p:nvSpPr>
          <p:cNvPr id="22" name="Text 18"/>
          <p:cNvSpPr txBox="1"/>
          <p:nvPr/>
        </p:nvSpPr>
        <p:spPr>
          <a:xfrm>
            <a:off x="5115458" y="4407408"/>
            <a:ext cx="2555138"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Reading data is the hidden cost</a:t>
            </a:r>
            <a:endParaRPr lang="en-US" sz="1600" dirty="0"/>
          </a:p>
        </p:txBody>
      </p:sp>
      <p:sp>
        <p:nvSpPr>
          <p:cNvPr id="23" name="Text 19"/>
          <p:cNvSpPr txBox="1"/>
          <p:nvPr/>
        </p:nvSpPr>
        <p:spPr>
          <a:xfrm>
            <a:off x="5115458" y="4864608"/>
            <a:ext cx="2555138" cy="502920"/>
          </a:xfrm>
          <a:prstGeom prst="rect">
            <a:avLst/>
          </a:prstGeom>
          <a:noFill/>
          <a:ln/>
        </p:spPr>
        <p:txBody>
          <a:bodyPr wrap="square" lIns="0" tIns="0" rIns="0" bIns="0" rtlCol="0" anchor="t"/>
          <a:lstStyle/>
          <a:p>
            <a:pPr marL="0" indent="0">
              <a:buNone/>
            </a:pPr>
            <a:r>
              <a:rPr lang="en-US" sz="1400" dirty="0">
                <a:solidFill>
                  <a:srgbClr val="CFC8E0"/>
                </a:solidFill>
                <a:latin typeface="Arial" pitchFamily="34" charset="0"/>
                <a:ea typeface="Arial" pitchFamily="34" charset="-122"/>
                <a:cs typeface="Arial" pitchFamily="34" charset="-120"/>
              </a:rPr>
              <a:t>Scope tasks to the sources they need</a:t>
            </a:r>
            <a:endParaRPr lang="en-US" sz="1400" dirty="0"/>
          </a:p>
        </p:txBody>
      </p:sp>
      <p:sp>
        <p:nvSpPr>
          <p:cNvPr id="24" name="Shape 20"/>
          <p:cNvSpPr/>
          <p:nvPr/>
        </p:nvSpPr>
        <p:spPr>
          <a:xfrm>
            <a:off x="8127797" y="4297680"/>
            <a:ext cx="3515258" cy="1188720"/>
          </a:xfrm>
          <a:prstGeom prst="roundRect">
            <a:avLst>
              <a:gd name="adj" fmla="val 13846"/>
            </a:avLst>
          </a:prstGeom>
          <a:solidFill>
            <a:srgbClr val="1F0F38"/>
          </a:solidFill>
          <a:ln w="12700">
            <a:solidFill>
              <a:srgbClr val="3A2260"/>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8356397" y="4572000"/>
            <a:ext cx="384048" cy="384048"/>
          </a:xfrm>
          <a:prstGeom prst="rect">
            <a:avLst/>
          </a:prstGeom>
        </p:spPr>
      </p:pic>
      <p:sp>
        <p:nvSpPr>
          <p:cNvPr id="26" name="Text 21"/>
          <p:cNvSpPr txBox="1"/>
          <p:nvPr/>
        </p:nvSpPr>
        <p:spPr>
          <a:xfrm>
            <a:off x="8905037" y="4407408"/>
            <a:ext cx="2555138"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Check before you schedule</a:t>
            </a:r>
            <a:endParaRPr lang="en-US" sz="1600" dirty="0"/>
          </a:p>
        </p:txBody>
      </p:sp>
      <p:sp>
        <p:nvSpPr>
          <p:cNvPr id="27" name="Text 22"/>
          <p:cNvSpPr txBox="1"/>
          <p:nvPr/>
        </p:nvSpPr>
        <p:spPr>
          <a:xfrm>
            <a:off x="8905037" y="4864608"/>
            <a:ext cx="2555138" cy="502920"/>
          </a:xfrm>
          <a:prstGeom prst="rect">
            <a:avLst/>
          </a:prstGeom>
          <a:noFill/>
          <a:ln/>
        </p:spPr>
        <p:txBody>
          <a:bodyPr wrap="square" lIns="0" tIns="0" rIns="0" bIns="0" rtlCol="0" anchor="t"/>
          <a:lstStyle/>
          <a:p>
            <a:pPr marL="0" indent="0">
              <a:buNone/>
            </a:pPr>
            <a:r>
              <a:rPr lang="en-US" sz="1400" dirty="0">
                <a:solidFill>
                  <a:srgbClr val="CFC8E0"/>
                </a:solidFill>
                <a:latin typeface="Arial" pitchFamily="34" charset="0"/>
                <a:ea typeface="Arial" pitchFamily="34" charset="-122"/>
                <a:cs typeface="Arial" pitchFamily="34" charset="-120"/>
              </a:rPr>
              <a:t>Run /cost, then multiply by frequency</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Is it secure? The questions IT always asks</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Straight from the Microsoft docs</a:t>
            </a:r>
            <a:endParaRPr lang="en-US" sz="1800" dirty="0"/>
          </a:p>
        </p:txBody>
      </p:sp>
      <p:sp>
        <p:nvSpPr>
          <p:cNvPr id="4" name="Shape 2"/>
          <p:cNvSpPr/>
          <p:nvPr/>
        </p:nvSpPr>
        <p:spPr>
          <a:xfrm>
            <a:off x="548640"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777240" y="2011680"/>
            <a:ext cx="594360" cy="59436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25830" y="2160270"/>
            <a:ext cx="297180" cy="297180"/>
          </a:xfrm>
          <a:prstGeom prst="rect">
            <a:avLst/>
          </a:prstGeom>
        </p:spPr>
      </p:pic>
      <p:sp>
        <p:nvSpPr>
          <p:cNvPr id="7" name="Text 4"/>
          <p:cNvSpPr txBox="1"/>
          <p:nvPr/>
        </p:nvSpPr>
        <p:spPr>
          <a:xfrm>
            <a:off x="1508760" y="2011680"/>
            <a:ext cx="2326538" cy="5943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Your permissions, nothing more</a:t>
            </a:r>
            <a:endParaRPr lang="en-US" sz="1700" dirty="0"/>
          </a:p>
        </p:txBody>
      </p:sp>
      <p:sp>
        <p:nvSpPr>
          <p:cNvPr id="8" name="Text 5"/>
          <p:cNvSpPr txBox="1"/>
          <p:nvPr/>
        </p:nvSpPr>
        <p:spPr>
          <a:xfrm>
            <a:off x="777240"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It can only touch what you can. Sensitivity labels are respected.</a:t>
            </a:r>
            <a:endParaRPr lang="en-US" sz="1500" dirty="0"/>
          </a:p>
        </p:txBody>
      </p:sp>
      <p:sp>
        <p:nvSpPr>
          <p:cNvPr id="9" name="Shape 6"/>
          <p:cNvSpPr/>
          <p:nvPr/>
        </p:nvSpPr>
        <p:spPr>
          <a:xfrm>
            <a:off x="4338218"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10" name="Shape 7"/>
          <p:cNvSpPr/>
          <p:nvPr/>
        </p:nvSpPr>
        <p:spPr>
          <a:xfrm>
            <a:off x="4566818" y="2011680"/>
            <a:ext cx="594360" cy="594360"/>
          </a:xfrm>
          <a:prstGeom prst="ellipse">
            <a:avLst/>
          </a:prstGeom>
          <a:solidFill>
            <a:srgbClr val="5A56E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715408" y="2160270"/>
            <a:ext cx="297180" cy="297180"/>
          </a:xfrm>
          <a:prstGeom prst="rect">
            <a:avLst/>
          </a:prstGeom>
        </p:spPr>
      </p:pic>
      <p:sp>
        <p:nvSpPr>
          <p:cNvPr id="12" name="Text 8"/>
          <p:cNvSpPr txBox="1"/>
          <p:nvPr/>
        </p:nvSpPr>
        <p:spPr>
          <a:xfrm>
            <a:off x="5298338" y="2011680"/>
            <a:ext cx="2326538" cy="5943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Approval before it acts</a:t>
            </a:r>
            <a:endParaRPr lang="en-US" sz="1700" dirty="0"/>
          </a:p>
        </p:txBody>
      </p:sp>
      <p:sp>
        <p:nvSpPr>
          <p:cNvPr id="13" name="Text 9"/>
          <p:cNvSpPr txBox="1"/>
          <p:nvPr/>
        </p:nvSpPr>
        <p:spPr>
          <a:xfrm>
            <a:off x="4566818"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Previews before it sends, posts, schedules, or shares</a:t>
            </a:r>
            <a:endParaRPr lang="en-US" sz="1500" dirty="0"/>
          </a:p>
        </p:txBody>
      </p:sp>
      <p:sp>
        <p:nvSpPr>
          <p:cNvPr id="14" name="Shape 10"/>
          <p:cNvSpPr/>
          <p:nvPr/>
        </p:nvSpPr>
        <p:spPr>
          <a:xfrm>
            <a:off x="8127797" y="178308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15" name="Shape 11"/>
          <p:cNvSpPr/>
          <p:nvPr/>
        </p:nvSpPr>
        <p:spPr>
          <a:xfrm>
            <a:off x="8356397" y="2011680"/>
            <a:ext cx="594360" cy="594360"/>
          </a:xfrm>
          <a:prstGeom prst="ellipse">
            <a:avLst/>
          </a:prstGeom>
          <a:solidFill>
            <a:srgbClr val="8C38E0"/>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504987" y="2160270"/>
            <a:ext cx="297180" cy="297180"/>
          </a:xfrm>
          <a:prstGeom prst="rect">
            <a:avLst/>
          </a:prstGeom>
        </p:spPr>
      </p:pic>
      <p:sp>
        <p:nvSpPr>
          <p:cNvPr id="17" name="Text 12"/>
          <p:cNvSpPr txBox="1"/>
          <p:nvPr/>
        </p:nvSpPr>
        <p:spPr>
          <a:xfrm>
            <a:off x="9087917" y="2011680"/>
            <a:ext cx="2326538" cy="5943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Admins stay in control</a:t>
            </a:r>
            <a:endParaRPr lang="en-US" sz="1700" dirty="0"/>
          </a:p>
        </p:txBody>
      </p:sp>
      <p:sp>
        <p:nvSpPr>
          <p:cNvPr id="18" name="Text 13"/>
          <p:cNvSpPr txBox="1"/>
          <p:nvPr/>
        </p:nvSpPr>
        <p:spPr>
          <a:xfrm>
            <a:off x="8356397" y="269748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Turn Cowork on or off, choose models, govern plugins and apps</a:t>
            </a:r>
            <a:endParaRPr lang="en-US" sz="1500" dirty="0"/>
          </a:p>
        </p:txBody>
      </p:sp>
      <p:sp>
        <p:nvSpPr>
          <p:cNvPr id="19" name="Shape 14"/>
          <p:cNvSpPr/>
          <p:nvPr/>
        </p:nvSpPr>
        <p:spPr>
          <a:xfrm>
            <a:off x="548640"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20" name="Shape 15"/>
          <p:cNvSpPr/>
          <p:nvPr/>
        </p:nvSpPr>
        <p:spPr>
          <a:xfrm>
            <a:off x="777240" y="4023360"/>
            <a:ext cx="594360" cy="594360"/>
          </a:xfrm>
          <a:prstGeom prst="ellipse">
            <a:avLst/>
          </a:prstGeom>
          <a:solidFill>
            <a:srgbClr val="3B74F0"/>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25830" y="4171950"/>
            <a:ext cx="297180" cy="297180"/>
          </a:xfrm>
          <a:prstGeom prst="rect">
            <a:avLst/>
          </a:prstGeom>
        </p:spPr>
      </p:pic>
      <p:sp>
        <p:nvSpPr>
          <p:cNvPr id="22" name="Text 16"/>
          <p:cNvSpPr txBox="1"/>
          <p:nvPr/>
        </p:nvSpPr>
        <p:spPr>
          <a:xfrm>
            <a:off x="1508760" y="4023360"/>
            <a:ext cx="2326538" cy="5943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Spend limits</a:t>
            </a:r>
            <a:endParaRPr lang="en-US" sz="1700" dirty="0"/>
          </a:p>
        </p:txBody>
      </p:sp>
      <p:sp>
        <p:nvSpPr>
          <p:cNvPr id="23" name="Text 17"/>
          <p:cNvSpPr txBox="1"/>
          <p:nvPr/>
        </p:nvSpPr>
        <p:spPr>
          <a:xfrm>
            <a:off x="777240"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Caps and alerts by tenant, group, or user</a:t>
            </a:r>
            <a:endParaRPr lang="en-US" sz="1500" dirty="0"/>
          </a:p>
        </p:txBody>
      </p:sp>
      <p:sp>
        <p:nvSpPr>
          <p:cNvPr id="24" name="Shape 18"/>
          <p:cNvSpPr/>
          <p:nvPr/>
        </p:nvSpPr>
        <p:spPr>
          <a:xfrm>
            <a:off x="4338218"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25" name="Shape 19"/>
          <p:cNvSpPr/>
          <p:nvPr/>
        </p:nvSpPr>
        <p:spPr>
          <a:xfrm>
            <a:off x="4566818" y="4023360"/>
            <a:ext cx="594360" cy="594360"/>
          </a:xfrm>
          <a:prstGeom prst="ellipse">
            <a:avLst/>
          </a:prstGeom>
          <a:solidFill>
            <a:srgbClr val="5A56E8"/>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715408" y="4171950"/>
            <a:ext cx="297180" cy="297180"/>
          </a:xfrm>
          <a:prstGeom prst="rect">
            <a:avLst/>
          </a:prstGeom>
        </p:spPr>
      </p:pic>
      <p:sp>
        <p:nvSpPr>
          <p:cNvPr id="27" name="Text 20"/>
          <p:cNvSpPr txBox="1"/>
          <p:nvPr/>
        </p:nvSpPr>
        <p:spPr>
          <a:xfrm>
            <a:off x="5298338" y="4023360"/>
            <a:ext cx="2326538" cy="5943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Purview is expanding</a:t>
            </a:r>
            <a:endParaRPr lang="en-US" sz="1700" dirty="0"/>
          </a:p>
        </p:txBody>
      </p:sp>
      <p:sp>
        <p:nvSpPr>
          <p:cNvPr id="28" name="Text 21"/>
          <p:cNvSpPr txBox="1"/>
          <p:nvPr/>
        </p:nvSpPr>
        <p:spPr>
          <a:xfrm>
            <a:off x="4566818"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More Purview controls are rolling out for Cowork</a:t>
            </a:r>
            <a:endParaRPr lang="en-US" sz="1500" dirty="0"/>
          </a:p>
        </p:txBody>
      </p:sp>
      <p:sp>
        <p:nvSpPr>
          <p:cNvPr id="29" name="Shape 22"/>
          <p:cNvSpPr/>
          <p:nvPr/>
        </p:nvSpPr>
        <p:spPr>
          <a:xfrm>
            <a:off x="8127797" y="3794760"/>
            <a:ext cx="3515258" cy="1783080"/>
          </a:xfrm>
          <a:prstGeom prst="roundRect">
            <a:avLst>
              <a:gd name="adj" fmla="val 9231"/>
            </a:avLst>
          </a:prstGeom>
          <a:solidFill>
            <a:srgbClr val="1F0F38"/>
          </a:solidFill>
          <a:ln w="12700">
            <a:solidFill>
              <a:srgbClr val="3A2260"/>
            </a:solidFill>
            <a:prstDash val="solid"/>
          </a:ln>
        </p:spPr>
        <p:txBody>
          <a:bodyPr/>
          <a:lstStyle/>
          <a:p>
            <a:endParaRPr lang="en-US"/>
          </a:p>
        </p:txBody>
      </p:sp>
      <p:sp>
        <p:nvSpPr>
          <p:cNvPr id="30" name="Shape 23"/>
          <p:cNvSpPr/>
          <p:nvPr/>
        </p:nvSpPr>
        <p:spPr>
          <a:xfrm>
            <a:off x="8356397" y="4023360"/>
            <a:ext cx="594360" cy="594360"/>
          </a:xfrm>
          <a:prstGeom prst="ellipse">
            <a:avLst/>
          </a:prstGeom>
          <a:solidFill>
            <a:srgbClr val="8C38E0"/>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504987" y="4171950"/>
            <a:ext cx="297180" cy="297180"/>
          </a:xfrm>
          <a:prstGeom prst="rect">
            <a:avLst/>
          </a:prstGeom>
        </p:spPr>
      </p:pic>
      <p:sp>
        <p:nvSpPr>
          <p:cNvPr id="32" name="Text 24"/>
          <p:cNvSpPr txBox="1"/>
          <p:nvPr/>
        </p:nvSpPr>
        <p:spPr>
          <a:xfrm>
            <a:off x="9087917" y="4023360"/>
            <a:ext cx="2326538" cy="5943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Know the boundary</a:t>
            </a:r>
            <a:endParaRPr lang="en-US" sz="1700" dirty="0"/>
          </a:p>
        </p:txBody>
      </p:sp>
      <p:sp>
        <p:nvSpPr>
          <p:cNvPr id="33" name="Text 25"/>
          <p:cNvSpPr txBox="1"/>
          <p:nvPr/>
        </p:nvSpPr>
        <p:spPr>
          <a:xfrm>
            <a:off x="8356397" y="4709160"/>
            <a:ext cx="3058058" cy="777240"/>
          </a:xfrm>
          <a:prstGeom prst="rect">
            <a:avLst/>
          </a:prstGeom>
          <a:noFill/>
          <a:ln/>
        </p:spPr>
        <p:txBody>
          <a:bodyPr wrap="square" lIns="0" tIns="0" rIns="0" bIns="0" rtlCol="0" anchor="t"/>
          <a:lstStyle/>
          <a:p>
            <a:pPr marL="0" indent="0">
              <a:buNone/>
            </a:pPr>
            <a:r>
              <a:rPr lang="en-US" sz="1500" dirty="0">
                <a:solidFill>
                  <a:srgbClr val="CFC8E0"/>
                </a:solidFill>
                <a:latin typeface="Arial" pitchFamily="34" charset="0"/>
                <a:ea typeface="Arial" pitchFamily="34" charset="-122"/>
                <a:cs typeface="Arial" pitchFamily="34" charset="-120"/>
              </a:rPr>
              <a:t>Anthropic models are a subprocessor. Check the EU Data Boundary notes.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Three Cowork jobs to start wit</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Each one is something plain Copilot can't do</a:t>
            </a:r>
            <a:endParaRPr lang="en-US" sz="1800" dirty="0"/>
          </a:p>
        </p:txBody>
      </p:sp>
      <p:sp>
        <p:nvSpPr>
          <p:cNvPr id="4" name="Shape 2"/>
          <p:cNvSpPr/>
          <p:nvPr/>
        </p:nvSpPr>
        <p:spPr>
          <a:xfrm>
            <a:off x="548640" y="1783080"/>
            <a:ext cx="3332378" cy="3291840"/>
          </a:xfrm>
          <a:prstGeom prst="roundRect">
            <a:avLst>
              <a:gd name="adj" fmla="val 5000"/>
            </a:avLst>
          </a:prstGeom>
          <a:solidFill>
            <a:srgbClr val="1F0F38"/>
          </a:solidFill>
          <a:ln w="19050">
            <a:solidFill>
              <a:srgbClr val="3B74F0"/>
            </a:solidFill>
            <a:prstDash val="solid"/>
          </a:ln>
        </p:spPr>
        <p:txBody>
          <a:bodyPr/>
          <a:lstStyle/>
          <a:p>
            <a:endParaRPr lang="en-US"/>
          </a:p>
        </p:txBody>
      </p:sp>
      <p:sp>
        <p:nvSpPr>
          <p:cNvPr id="5" name="Shape 3"/>
          <p:cNvSpPr/>
          <p:nvPr/>
        </p:nvSpPr>
        <p:spPr>
          <a:xfrm>
            <a:off x="1849069" y="2057400"/>
            <a:ext cx="731520" cy="73152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2031949" y="2240280"/>
            <a:ext cx="365760" cy="365760"/>
          </a:xfrm>
          <a:prstGeom prst="rect">
            <a:avLst/>
          </a:prstGeom>
        </p:spPr>
      </p:pic>
      <p:sp>
        <p:nvSpPr>
          <p:cNvPr id="7" name="Text 4"/>
          <p:cNvSpPr txBox="1"/>
          <p:nvPr/>
        </p:nvSpPr>
        <p:spPr>
          <a:xfrm>
            <a:off x="685800" y="2926080"/>
            <a:ext cx="3058058" cy="68580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Trigger your most annoying email</a:t>
            </a:r>
            <a:endParaRPr lang="en-US" sz="2000" dirty="0"/>
          </a:p>
        </p:txBody>
      </p:sp>
      <p:sp>
        <p:nvSpPr>
          <p:cNvPr id="8" name="Text 5"/>
          <p:cNvSpPr txBox="1"/>
          <p:nvPr/>
        </p:nvSpPr>
        <p:spPr>
          <a:xfrm>
            <a:off x="685800" y="3611880"/>
            <a:ext cx="3058058" cy="1371600"/>
          </a:xfrm>
          <a:prstGeom prst="rect">
            <a:avLst/>
          </a:prstGeom>
          <a:noFill/>
          <a:ln/>
        </p:spPr>
        <p:txBody>
          <a:bodyPr wrap="square" lIns="0" tIns="0" rIns="0" bIns="0" rtlCol="0" anchor="t"/>
          <a:lstStyle/>
          <a:p>
            <a:pPr marL="0" indent="0" algn="ctr">
              <a:buNone/>
            </a:pPr>
            <a:r>
              <a:rPr lang="en-US" sz="1600" dirty="0">
                <a:solidFill>
                  <a:srgbClr val="CFC8E0"/>
                </a:solidFill>
                <a:latin typeface="Arial" pitchFamily="34" charset="0"/>
                <a:ea typeface="Arial" pitchFamily="34" charset="-122"/>
                <a:cs typeface="Arial" pitchFamily="34" charset="-120"/>
              </a:rPr>
              <a:t>The one you answer the same way every week. Let it draft the reply the moment it lands.</a:t>
            </a:r>
            <a:endParaRPr lang="en-US" sz="1600" dirty="0"/>
          </a:p>
        </p:txBody>
      </p:sp>
      <p:sp>
        <p:nvSpPr>
          <p:cNvPr id="9" name="Shape 6"/>
          <p:cNvSpPr/>
          <p:nvPr/>
        </p:nvSpPr>
        <p:spPr>
          <a:xfrm>
            <a:off x="3881018" y="3439700"/>
            <a:ext cx="457200" cy="0"/>
          </a:xfrm>
          <a:prstGeom prst="line">
            <a:avLst/>
          </a:prstGeom>
          <a:noFill/>
          <a:ln w="25400">
            <a:solidFill>
              <a:srgbClr val="CFC8E0"/>
            </a:solidFill>
            <a:prstDash val="solid"/>
            <a:tailEnd type="triangle"/>
          </a:ln>
        </p:spPr>
        <p:txBody>
          <a:bodyPr/>
          <a:lstStyle/>
          <a:p>
            <a:endParaRPr lang="en-US"/>
          </a:p>
        </p:txBody>
      </p:sp>
      <p:sp>
        <p:nvSpPr>
          <p:cNvPr id="10" name="Shape 7"/>
          <p:cNvSpPr/>
          <p:nvPr/>
        </p:nvSpPr>
        <p:spPr>
          <a:xfrm>
            <a:off x="4429658" y="1783080"/>
            <a:ext cx="3332378" cy="3291840"/>
          </a:xfrm>
          <a:prstGeom prst="roundRect">
            <a:avLst>
              <a:gd name="adj" fmla="val 5000"/>
            </a:avLst>
          </a:prstGeom>
          <a:solidFill>
            <a:srgbClr val="1F0F38"/>
          </a:solidFill>
          <a:ln w="19050">
            <a:solidFill>
              <a:srgbClr val="8C38E0"/>
            </a:solidFill>
            <a:prstDash val="solid"/>
          </a:ln>
        </p:spPr>
        <p:txBody>
          <a:bodyPr/>
          <a:lstStyle/>
          <a:p>
            <a:endParaRPr lang="en-US"/>
          </a:p>
        </p:txBody>
      </p:sp>
      <p:sp>
        <p:nvSpPr>
          <p:cNvPr id="11" name="Shape 8"/>
          <p:cNvSpPr/>
          <p:nvPr/>
        </p:nvSpPr>
        <p:spPr>
          <a:xfrm>
            <a:off x="5730088" y="2057400"/>
            <a:ext cx="731520" cy="731520"/>
          </a:xfrm>
          <a:prstGeom prst="ellipse">
            <a:avLst/>
          </a:prstGeom>
          <a:solidFill>
            <a:srgbClr val="8C38E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912968" y="2240280"/>
            <a:ext cx="365760" cy="365760"/>
          </a:xfrm>
          <a:prstGeom prst="rect">
            <a:avLst/>
          </a:prstGeom>
        </p:spPr>
      </p:pic>
      <p:sp>
        <p:nvSpPr>
          <p:cNvPr id="13" name="Text 9"/>
          <p:cNvSpPr txBox="1"/>
          <p:nvPr/>
        </p:nvSpPr>
        <p:spPr>
          <a:xfrm>
            <a:off x="4566818" y="2926080"/>
            <a:ext cx="3058058" cy="68580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Clear your inbox, for real</a:t>
            </a:r>
            <a:endParaRPr lang="en-US" sz="2000" dirty="0"/>
          </a:p>
        </p:txBody>
      </p:sp>
      <p:sp>
        <p:nvSpPr>
          <p:cNvPr id="14" name="Text 10"/>
          <p:cNvSpPr txBox="1"/>
          <p:nvPr/>
        </p:nvSpPr>
        <p:spPr>
          <a:xfrm>
            <a:off x="4566818" y="3611880"/>
            <a:ext cx="3058058" cy="1371600"/>
          </a:xfrm>
          <a:prstGeom prst="rect">
            <a:avLst/>
          </a:prstGeom>
          <a:noFill/>
          <a:ln/>
        </p:spPr>
        <p:txBody>
          <a:bodyPr wrap="square" lIns="0" tIns="0" rIns="0" bIns="0" rtlCol="0" anchor="t"/>
          <a:lstStyle/>
          <a:p>
            <a:pPr marL="0" indent="0" algn="ctr">
              <a:buNone/>
            </a:pPr>
            <a:r>
              <a:rPr lang="en-US" sz="1600" dirty="0">
                <a:solidFill>
                  <a:srgbClr val="CFC8E0"/>
                </a:solidFill>
                <a:latin typeface="Arial" pitchFamily="34" charset="0"/>
                <a:ea typeface="Arial" pitchFamily="34" charset="-122"/>
                <a:cs typeface="Arial" pitchFamily="34" charset="-120"/>
              </a:rPr>
              <a:t>Replies sent after you approve, holds booked, a rule for the noise</a:t>
            </a:r>
            <a:endParaRPr lang="en-US" sz="1600" dirty="0"/>
          </a:p>
        </p:txBody>
      </p:sp>
      <p:sp>
        <p:nvSpPr>
          <p:cNvPr id="15" name="Shape 11"/>
          <p:cNvSpPr/>
          <p:nvPr/>
        </p:nvSpPr>
        <p:spPr>
          <a:xfrm>
            <a:off x="7762036" y="3440673"/>
            <a:ext cx="457200" cy="0"/>
          </a:xfrm>
          <a:prstGeom prst="line">
            <a:avLst/>
          </a:prstGeom>
          <a:noFill/>
          <a:ln w="25400">
            <a:solidFill>
              <a:srgbClr val="CFC8E0"/>
            </a:solidFill>
            <a:prstDash val="solid"/>
            <a:tailEnd type="triangle"/>
          </a:ln>
        </p:spPr>
        <p:txBody>
          <a:bodyPr/>
          <a:lstStyle/>
          <a:p>
            <a:endParaRPr lang="en-US"/>
          </a:p>
        </p:txBody>
      </p:sp>
      <p:sp>
        <p:nvSpPr>
          <p:cNvPr id="16" name="Shape 12"/>
          <p:cNvSpPr/>
          <p:nvPr/>
        </p:nvSpPr>
        <p:spPr>
          <a:xfrm>
            <a:off x="8310677" y="1783080"/>
            <a:ext cx="3332378" cy="3291840"/>
          </a:xfrm>
          <a:prstGeom prst="roundRect">
            <a:avLst>
              <a:gd name="adj" fmla="val 5000"/>
            </a:avLst>
          </a:prstGeom>
          <a:solidFill>
            <a:srgbClr val="1F0F38"/>
          </a:solidFill>
          <a:ln w="19050">
            <a:solidFill>
              <a:srgbClr val="D42A6E"/>
            </a:solidFill>
            <a:prstDash val="solid"/>
          </a:ln>
        </p:spPr>
        <p:txBody>
          <a:bodyPr/>
          <a:lstStyle/>
          <a:p>
            <a:endParaRPr lang="en-US"/>
          </a:p>
        </p:txBody>
      </p:sp>
      <p:sp>
        <p:nvSpPr>
          <p:cNvPr id="17" name="Shape 13"/>
          <p:cNvSpPr/>
          <p:nvPr/>
        </p:nvSpPr>
        <p:spPr>
          <a:xfrm>
            <a:off x="9611106" y="2057400"/>
            <a:ext cx="731520" cy="731520"/>
          </a:xfrm>
          <a:prstGeom prst="ellipse">
            <a:avLst/>
          </a:prstGeom>
          <a:solidFill>
            <a:srgbClr val="D42A6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793986" y="2240280"/>
            <a:ext cx="365760" cy="365760"/>
          </a:xfrm>
          <a:prstGeom prst="rect">
            <a:avLst/>
          </a:prstGeom>
        </p:spPr>
      </p:pic>
      <p:sp>
        <p:nvSpPr>
          <p:cNvPr id="19" name="Text 14"/>
          <p:cNvSpPr txBox="1"/>
          <p:nvPr/>
        </p:nvSpPr>
        <p:spPr>
          <a:xfrm>
            <a:off x="8447837" y="2926080"/>
            <a:ext cx="3058058" cy="68580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One job your team keeps doing by hand</a:t>
            </a:r>
            <a:endParaRPr lang="en-US" sz="2000" dirty="0"/>
          </a:p>
        </p:txBody>
      </p:sp>
      <p:sp>
        <p:nvSpPr>
          <p:cNvPr id="20" name="Text 15"/>
          <p:cNvSpPr txBox="1"/>
          <p:nvPr/>
        </p:nvSpPr>
        <p:spPr>
          <a:xfrm>
            <a:off x="8447837" y="3611880"/>
            <a:ext cx="3058058" cy="1371600"/>
          </a:xfrm>
          <a:prstGeom prst="rect">
            <a:avLst/>
          </a:prstGeom>
          <a:noFill/>
          <a:ln/>
        </p:spPr>
        <p:txBody>
          <a:bodyPr wrap="square" lIns="0" tIns="0" rIns="0" bIns="0" rtlCol="0" anchor="t"/>
          <a:lstStyle/>
          <a:p>
            <a:pPr marL="0" indent="0" algn="ctr">
              <a:buNone/>
            </a:pPr>
            <a:r>
              <a:rPr lang="en-US" sz="1600" dirty="0">
                <a:solidFill>
                  <a:srgbClr val="CFC8E0"/>
                </a:solidFill>
                <a:latin typeface="Arial" pitchFamily="34" charset="0"/>
                <a:ea typeface="Arial" pitchFamily="34" charset="-122"/>
                <a:cs typeface="Arial" pitchFamily="34" charset="-120"/>
              </a:rPr>
              <a:t>Outreach, follow-ups, a list to update. Do it once, then save it as a skill.</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Keep going</a:t>
            </a:r>
            <a:endParaRPr lang="en-US" sz="3600" dirty="0"/>
          </a:p>
        </p:txBody>
      </p:sp>
      <p:sp>
        <p:nvSpPr>
          <p:cNvPr id="3" name="Text 0"/>
          <p:cNvSpPr>
            <a:spLocks noGrp="1"/>
          </p:cNvSpPr>
          <p:nvPr>
            <p:ph type="body" idx="101" hasCustomPrompt="1"/>
          </p:nvPr>
        </p:nvSpPr>
        <p:spPr>
          <a:xfrm>
            <a:off x="548640" y="1143000"/>
            <a:ext cx="11094415" cy="411480"/>
          </a:xfrm>
          <a:prstGeom prst="rect">
            <a:avLst/>
          </a:prstGeom>
          <a:noFill/>
          <a:ln/>
        </p:spPr>
        <p:txBody>
          <a:bodyPr wrap="square" lIns="0" tIns="0" rIns="0" bIns="0" rtlCol="0" anchor="t"/>
          <a:lstStyle/>
          <a:p>
            <a:pPr marL="0" indent="0">
              <a:buNone/>
            </a:pPr>
            <a:r>
              <a:rPr lang="en-US" sz="1800" dirty="0">
                <a:solidFill>
                  <a:srgbClr val="CFC8E0"/>
                </a:solidFill>
                <a:latin typeface="Arial" pitchFamily="34" charset="0"/>
                <a:ea typeface="Arial" pitchFamily="34" charset="-122"/>
                <a:cs typeface="Arial" pitchFamily="34" charset="-120"/>
              </a:rPr>
              <a:t>Everything from today, in one place</a:t>
            </a:r>
            <a:endParaRPr lang="en-US" sz="1800" dirty="0"/>
          </a:p>
        </p:txBody>
      </p:sp>
      <p:sp>
        <p:nvSpPr>
          <p:cNvPr id="4" name="Shape 2"/>
          <p:cNvSpPr/>
          <p:nvPr/>
        </p:nvSpPr>
        <p:spPr>
          <a:xfrm>
            <a:off x="548640" y="1828800"/>
            <a:ext cx="3515258" cy="1737360"/>
          </a:xfrm>
          <a:prstGeom prst="roundRect">
            <a:avLst>
              <a:gd name="adj" fmla="val 9474"/>
            </a:avLst>
          </a:prstGeom>
          <a:solidFill>
            <a:srgbClr val="1F0F38"/>
          </a:solidFill>
          <a:ln w="12700">
            <a:solidFill>
              <a:srgbClr val="3A2260"/>
            </a:solidFill>
            <a:prstDash val="solid"/>
          </a:ln>
        </p:spPr>
        <p:txBody>
          <a:bodyPr/>
          <a:lstStyle/>
          <a:p>
            <a:endParaRPr lang="en-US"/>
          </a:p>
        </p:txBody>
      </p:sp>
      <p:sp>
        <p:nvSpPr>
          <p:cNvPr id="5" name="Shape 3"/>
          <p:cNvSpPr/>
          <p:nvPr/>
        </p:nvSpPr>
        <p:spPr>
          <a:xfrm>
            <a:off x="822960" y="2103120"/>
            <a:ext cx="640080" cy="640080"/>
          </a:xfrm>
          <a:prstGeom prst="ellipse">
            <a:avLst/>
          </a:prstGeom>
          <a:solidFill>
            <a:srgbClr val="3B74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82980" y="2263140"/>
            <a:ext cx="320040" cy="320040"/>
          </a:xfrm>
          <a:prstGeom prst="rect">
            <a:avLst/>
          </a:prstGeom>
        </p:spPr>
      </p:pic>
      <p:sp>
        <p:nvSpPr>
          <p:cNvPr id="7" name="Text 4"/>
          <p:cNvSpPr txBox="1"/>
          <p:nvPr/>
        </p:nvSpPr>
        <p:spPr>
          <a:xfrm>
            <a:off x="822960" y="2788920"/>
            <a:ext cx="2966618"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Cowork docs</a:t>
            </a:r>
            <a:endParaRPr lang="en-US" sz="1800" dirty="0"/>
          </a:p>
        </p:txBody>
      </p:sp>
      <p:sp>
        <p:nvSpPr>
          <p:cNvPr id="8" name="Text 5"/>
          <p:cNvSpPr txBox="1"/>
          <p:nvPr/>
        </p:nvSpPr>
        <p:spPr>
          <a:xfrm>
            <a:off x="822960" y="3154680"/>
            <a:ext cx="2966618" cy="320040"/>
          </a:xfrm>
          <a:prstGeom prst="rect">
            <a:avLst/>
          </a:prstGeom>
          <a:noFill/>
          <a:ln/>
        </p:spPr>
        <p:txBody>
          <a:bodyPr wrap="square" lIns="0" tIns="0" rIns="0" bIns="0" rtlCol="0" anchor="ctr"/>
          <a:lstStyle/>
          <a:p>
            <a:pPr marL="0" indent="0">
              <a:buNone/>
            </a:pPr>
            <a:r>
              <a:rPr lang="en-US" u="sng" dirty="0">
                <a:solidFill>
                  <a:srgbClr val="5B8CF5"/>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learn.microsoft.com</a:t>
            </a:r>
            <a:endParaRPr lang="en-US" dirty="0"/>
          </a:p>
        </p:txBody>
      </p:sp>
      <p:sp>
        <p:nvSpPr>
          <p:cNvPr id="9" name="Shape 6"/>
          <p:cNvSpPr/>
          <p:nvPr/>
        </p:nvSpPr>
        <p:spPr>
          <a:xfrm>
            <a:off x="4338218" y="1828800"/>
            <a:ext cx="3515258" cy="1737360"/>
          </a:xfrm>
          <a:prstGeom prst="roundRect">
            <a:avLst>
              <a:gd name="adj" fmla="val 9474"/>
            </a:avLst>
          </a:prstGeom>
          <a:solidFill>
            <a:srgbClr val="1F0F38"/>
          </a:solidFill>
          <a:ln w="12700">
            <a:solidFill>
              <a:srgbClr val="3A2260"/>
            </a:solidFill>
            <a:prstDash val="solid"/>
          </a:ln>
        </p:spPr>
        <p:txBody>
          <a:bodyPr/>
          <a:lstStyle/>
          <a:p>
            <a:endParaRPr lang="en-US"/>
          </a:p>
        </p:txBody>
      </p:sp>
      <p:sp>
        <p:nvSpPr>
          <p:cNvPr id="10" name="Shape 7"/>
          <p:cNvSpPr/>
          <p:nvPr/>
        </p:nvSpPr>
        <p:spPr>
          <a:xfrm>
            <a:off x="4612538" y="2103120"/>
            <a:ext cx="640080" cy="640080"/>
          </a:xfrm>
          <a:prstGeom prst="ellipse">
            <a:avLst/>
          </a:prstGeom>
          <a:solidFill>
            <a:srgbClr val="5A56E8"/>
          </a:solidFill>
          <a:ln/>
        </p:spPr>
        <p:txBody>
          <a:bodyPr/>
          <a:lstStyle/>
          <a:p>
            <a:endParaRPr lang="en-US"/>
          </a:p>
        </p:txBody>
      </p:sp>
      <p:pic>
        <p:nvPicPr>
          <p:cNvPr id="11" name="Image 1" descr="preencoded.png"/>
          <p:cNvPicPr>
            <a:picLocks noChangeAspect="1"/>
          </p:cNvPicPr>
          <p:nvPr/>
        </p:nvPicPr>
        <p:blipFill>
          <a:blip r:embed="rId5"/>
          <a:stretch>
            <a:fillRect/>
          </a:stretch>
        </p:blipFill>
        <p:spPr>
          <a:xfrm>
            <a:off x="4772558" y="2263140"/>
            <a:ext cx="320040" cy="320040"/>
          </a:xfrm>
          <a:prstGeom prst="rect">
            <a:avLst/>
          </a:prstGeom>
        </p:spPr>
      </p:pic>
      <p:sp>
        <p:nvSpPr>
          <p:cNvPr id="12" name="Text 8"/>
          <p:cNvSpPr txBox="1"/>
          <p:nvPr/>
        </p:nvSpPr>
        <p:spPr>
          <a:xfrm>
            <a:off x="4612538" y="2788920"/>
            <a:ext cx="2966618"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Build a skill</a:t>
            </a:r>
            <a:endParaRPr lang="en-US" sz="1800" dirty="0"/>
          </a:p>
        </p:txBody>
      </p:sp>
      <p:sp>
        <p:nvSpPr>
          <p:cNvPr id="13" name="Text 9"/>
          <p:cNvSpPr txBox="1"/>
          <p:nvPr/>
        </p:nvSpPr>
        <p:spPr>
          <a:xfrm>
            <a:off x="4612538" y="3154680"/>
            <a:ext cx="2966618" cy="320040"/>
          </a:xfrm>
          <a:prstGeom prst="rect">
            <a:avLst/>
          </a:prstGeom>
          <a:noFill/>
          <a:ln/>
        </p:spPr>
        <p:txBody>
          <a:bodyPr wrap="square" lIns="0" tIns="0" rIns="0" bIns="0" rtlCol="0" anchor="ctr"/>
          <a:lstStyle/>
          <a:p>
            <a:pPr marL="0" indent="0">
              <a:buNone/>
            </a:pPr>
            <a:r>
              <a:rPr lang="en-US" u="sng" dirty="0">
                <a:solidFill>
                  <a:srgbClr val="5B8CF5"/>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aka.ms/cowork-skills</a:t>
            </a:r>
            <a:endParaRPr lang="en-US" dirty="0"/>
          </a:p>
        </p:txBody>
      </p:sp>
      <p:sp>
        <p:nvSpPr>
          <p:cNvPr id="14" name="Shape 10"/>
          <p:cNvSpPr/>
          <p:nvPr/>
        </p:nvSpPr>
        <p:spPr>
          <a:xfrm>
            <a:off x="8127797" y="1828800"/>
            <a:ext cx="3515258" cy="1737360"/>
          </a:xfrm>
          <a:prstGeom prst="roundRect">
            <a:avLst>
              <a:gd name="adj" fmla="val 9474"/>
            </a:avLst>
          </a:prstGeom>
          <a:solidFill>
            <a:srgbClr val="1F0F38"/>
          </a:solidFill>
          <a:ln w="12700">
            <a:solidFill>
              <a:srgbClr val="3A2260"/>
            </a:solidFill>
            <a:prstDash val="solid"/>
          </a:ln>
        </p:spPr>
        <p:txBody>
          <a:bodyPr/>
          <a:lstStyle/>
          <a:p>
            <a:endParaRPr lang="en-US"/>
          </a:p>
        </p:txBody>
      </p:sp>
      <p:sp>
        <p:nvSpPr>
          <p:cNvPr id="15" name="Shape 11"/>
          <p:cNvSpPr/>
          <p:nvPr/>
        </p:nvSpPr>
        <p:spPr>
          <a:xfrm>
            <a:off x="8402117" y="2103120"/>
            <a:ext cx="640080" cy="640080"/>
          </a:xfrm>
          <a:prstGeom prst="ellipse">
            <a:avLst/>
          </a:prstGeom>
          <a:solidFill>
            <a:srgbClr val="8C38E0"/>
          </a:solidFill>
          <a:ln/>
        </p:spPr>
        <p:txBody>
          <a:bodyPr/>
          <a:lstStyle/>
          <a:p>
            <a:endParaRPr lang="en-US"/>
          </a:p>
        </p:txBody>
      </p:sp>
      <p:pic>
        <p:nvPicPr>
          <p:cNvPr id="16" name="Image 2" descr="preencoded.png"/>
          <p:cNvPicPr>
            <a:picLocks noChangeAspect="1"/>
          </p:cNvPicPr>
          <p:nvPr/>
        </p:nvPicPr>
        <p:blipFill>
          <a:blip r:embed="rId7"/>
          <a:stretch>
            <a:fillRect/>
          </a:stretch>
        </p:blipFill>
        <p:spPr>
          <a:xfrm>
            <a:off x="8562137" y="2263140"/>
            <a:ext cx="320040" cy="320040"/>
          </a:xfrm>
          <a:prstGeom prst="rect">
            <a:avLst/>
          </a:prstGeom>
        </p:spPr>
      </p:pic>
      <p:sp>
        <p:nvSpPr>
          <p:cNvPr id="17" name="Text 12"/>
          <p:cNvSpPr txBox="1"/>
          <p:nvPr/>
        </p:nvSpPr>
        <p:spPr>
          <a:xfrm>
            <a:off x="8402117" y="2788920"/>
            <a:ext cx="2966618"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Use or build a plugin</a:t>
            </a:r>
            <a:endParaRPr lang="en-US" sz="1800" dirty="0"/>
          </a:p>
        </p:txBody>
      </p:sp>
      <p:sp>
        <p:nvSpPr>
          <p:cNvPr id="18" name="Text 13"/>
          <p:cNvSpPr txBox="1"/>
          <p:nvPr/>
        </p:nvSpPr>
        <p:spPr>
          <a:xfrm>
            <a:off x="8402117" y="3154680"/>
            <a:ext cx="2966618" cy="320040"/>
          </a:xfrm>
          <a:prstGeom prst="rect">
            <a:avLst/>
          </a:prstGeom>
          <a:noFill/>
          <a:ln/>
        </p:spPr>
        <p:txBody>
          <a:bodyPr wrap="square" lIns="0" tIns="0" rIns="0" bIns="0" rtlCol="0" anchor="ctr"/>
          <a:lstStyle/>
          <a:p>
            <a:pPr marL="0" indent="0">
              <a:buNone/>
            </a:pPr>
            <a:r>
              <a:rPr lang="en-US" u="sng" dirty="0">
                <a:solidFill>
                  <a:srgbClr val="5B8CF5"/>
                </a:solidFill>
                <a:latin typeface="Arial" pitchFamily="34" charset="0"/>
                <a:ea typeface="Arial" pitchFamily="34" charset="-122"/>
                <a:cs typeface="Arial" pitchFamily="34" charset="-120"/>
                <a:hlinkClick r:id="rId8">
                  <a:extLst>
                    <a:ext uri="{A12FA001-AC4F-418D-AE19-62706E023703}">
                      <ahyp:hlinkClr xmlns:ahyp="http://schemas.microsoft.com/office/drawing/2018/hyperlinkcolor" val="tx"/>
                    </a:ext>
                  </a:extLst>
                </a:hlinkClick>
              </a:rPr>
              <a:t>aka.ms/cowork-plugins</a:t>
            </a:r>
            <a:endParaRPr lang="en-US" dirty="0"/>
          </a:p>
        </p:txBody>
      </p:sp>
      <p:sp>
        <p:nvSpPr>
          <p:cNvPr id="19" name="Shape 14"/>
          <p:cNvSpPr/>
          <p:nvPr/>
        </p:nvSpPr>
        <p:spPr>
          <a:xfrm>
            <a:off x="548640" y="3840480"/>
            <a:ext cx="3515258" cy="1737360"/>
          </a:xfrm>
          <a:prstGeom prst="roundRect">
            <a:avLst>
              <a:gd name="adj" fmla="val 9474"/>
            </a:avLst>
          </a:prstGeom>
          <a:solidFill>
            <a:srgbClr val="1F0F38"/>
          </a:solidFill>
          <a:ln w="12700">
            <a:solidFill>
              <a:srgbClr val="3A2260"/>
            </a:solidFill>
            <a:prstDash val="solid"/>
          </a:ln>
        </p:spPr>
        <p:txBody>
          <a:bodyPr/>
          <a:lstStyle/>
          <a:p>
            <a:endParaRPr lang="en-US"/>
          </a:p>
        </p:txBody>
      </p:sp>
      <p:sp>
        <p:nvSpPr>
          <p:cNvPr id="20" name="Shape 15"/>
          <p:cNvSpPr/>
          <p:nvPr/>
        </p:nvSpPr>
        <p:spPr>
          <a:xfrm>
            <a:off x="822960" y="4114800"/>
            <a:ext cx="640080" cy="640080"/>
          </a:xfrm>
          <a:prstGeom prst="ellipse">
            <a:avLst/>
          </a:prstGeom>
          <a:solidFill>
            <a:srgbClr val="3B74F0"/>
          </a:solidFill>
          <a:ln/>
        </p:spPr>
        <p:txBody>
          <a:bodyPr/>
          <a:lstStyle/>
          <a:p>
            <a:endParaRPr lang="en-US"/>
          </a:p>
        </p:txBody>
      </p:sp>
      <p:pic>
        <p:nvPicPr>
          <p:cNvPr id="21" name="Image 3" descr="preencoded.png"/>
          <p:cNvPicPr>
            <a:picLocks noChangeAspect="1"/>
          </p:cNvPicPr>
          <p:nvPr/>
        </p:nvPicPr>
        <p:blipFill>
          <a:blip r:embed="rId9"/>
          <a:stretch>
            <a:fillRect/>
          </a:stretch>
        </p:blipFill>
        <p:spPr>
          <a:xfrm>
            <a:off x="982980" y="4274820"/>
            <a:ext cx="320040" cy="320040"/>
          </a:xfrm>
          <a:prstGeom prst="rect">
            <a:avLst/>
          </a:prstGeom>
        </p:spPr>
      </p:pic>
      <p:sp>
        <p:nvSpPr>
          <p:cNvPr id="22" name="Text 16"/>
          <p:cNvSpPr txBox="1"/>
          <p:nvPr/>
        </p:nvSpPr>
        <p:spPr>
          <a:xfrm>
            <a:off x="822960" y="4800600"/>
            <a:ext cx="2966618"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Hands-on labs</a:t>
            </a:r>
            <a:endParaRPr lang="en-US" sz="1800" dirty="0"/>
          </a:p>
        </p:txBody>
      </p:sp>
      <p:sp>
        <p:nvSpPr>
          <p:cNvPr id="23" name="Text 17"/>
          <p:cNvSpPr txBox="1"/>
          <p:nvPr/>
        </p:nvSpPr>
        <p:spPr>
          <a:xfrm>
            <a:off x="822960" y="5166360"/>
            <a:ext cx="2966618" cy="320040"/>
          </a:xfrm>
          <a:prstGeom prst="rect">
            <a:avLst/>
          </a:prstGeom>
          <a:noFill/>
          <a:ln/>
        </p:spPr>
        <p:txBody>
          <a:bodyPr wrap="square" lIns="0" tIns="0" rIns="0" bIns="0" rtlCol="0" anchor="ctr"/>
          <a:lstStyle/>
          <a:p>
            <a:pPr marL="0" indent="0">
              <a:buNone/>
            </a:pPr>
            <a:r>
              <a:rPr lang="en-US" u="sng" dirty="0">
                <a:solidFill>
                  <a:srgbClr val="5B8CF5"/>
                </a:solidFill>
                <a:latin typeface="Arial" pitchFamily="34" charset="0"/>
                <a:ea typeface="Arial" pitchFamily="34" charset="-122"/>
                <a:cs typeface="Arial" pitchFamily="34" charset="-120"/>
                <a:hlinkClick r:id="rId10">
                  <a:extLst>
                    <a:ext uri="{A12FA001-AC4F-418D-AE19-62706E023703}">
                      <ahyp:hlinkClr xmlns:ahyp="http://schemas.microsoft.com/office/drawing/2018/hyperlinkcolor" val="tx"/>
                    </a:ext>
                  </a:extLst>
                </a:hlinkClick>
              </a:rPr>
              <a:t>aka.ms/cowork-collective</a:t>
            </a:r>
            <a:endParaRPr lang="en-US" dirty="0"/>
          </a:p>
        </p:txBody>
      </p:sp>
      <p:sp>
        <p:nvSpPr>
          <p:cNvPr id="24" name="Shape 18"/>
          <p:cNvSpPr/>
          <p:nvPr/>
        </p:nvSpPr>
        <p:spPr>
          <a:xfrm>
            <a:off x="4338218" y="3840480"/>
            <a:ext cx="3515258" cy="1737360"/>
          </a:xfrm>
          <a:prstGeom prst="roundRect">
            <a:avLst>
              <a:gd name="adj" fmla="val 9474"/>
            </a:avLst>
          </a:prstGeom>
          <a:solidFill>
            <a:srgbClr val="1F0F38"/>
          </a:solidFill>
          <a:ln w="12700">
            <a:solidFill>
              <a:srgbClr val="3A2260"/>
            </a:solidFill>
            <a:prstDash val="solid"/>
          </a:ln>
        </p:spPr>
        <p:txBody>
          <a:bodyPr/>
          <a:lstStyle/>
          <a:p>
            <a:endParaRPr lang="en-US"/>
          </a:p>
        </p:txBody>
      </p:sp>
      <p:sp>
        <p:nvSpPr>
          <p:cNvPr id="25" name="Shape 19"/>
          <p:cNvSpPr/>
          <p:nvPr/>
        </p:nvSpPr>
        <p:spPr>
          <a:xfrm>
            <a:off x="4612538" y="4114800"/>
            <a:ext cx="640080" cy="640080"/>
          </a:xfrm>
          <a:prstGeom prst="ellipse">
            <a:avLst/>
          </a:prstGeom>
          <a:solidFill>
            <a:srgbClr val="5A56E8"/>
          </a:solidFill>
          <a:ln/>
        </p:spPr>
        <p:txBody>
          <a:bodyPr/>
          <a:lstStyle/>
          <a:p>
            <a:endParaRPr lang="en-US"/>
          </a:p>
        </p:txBody>
      </p:sp>
      <p:pic>
        <p:nvPicPr>
          <p:cNvPr id="26" name="Image 4" descr="preencoded.png"/>
          <p:cNvPicPr>
            <a:picLocks noChangeAspect="1"/>
          </p:cNvPicPr>
          <p:nvPr/>
        </p:nvPicPr>
        <p:blipFill>
          <a:blip r:embed="rId11"/>
          <a:stretch>
            <a:fillRect/>
          </a:stretch>
        </p:blipFill>
        <p:spPr>
          <a:xfrm>
            <a:off x="4772558" y="4274820"/>
            <a:ext cx="320040" cy="320040"/>
          </a:xfrm>
          <a:prstGeom prst="rect">
            <a:avLst/>
          </a:prstGeom>
        </p:spPr>
      </p:pic>
      <p:sp>
        <p:nvSpPr>
          <p:cNvPr id="27" name="Text 20"/>
          <p:cNvSpPr txBox="1"/>
          <p:nvPr/>
        </p:nvSpPr>
        <p:spPr>
          <a:xfrm>
            <a:off x="4612538" y="4800600"/>
            <a:ext cx="2966618"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Demos from today</a:t>
            </a:r>
            <a:endParaRPr lang="en-US" sz="1800" dirty="0"/>
          </a:p>
        </p:txBody>
      </p:sp>
      <p:sp>
        <p:nvSpPr>
          <p:cNvPr id="28" name="Text 21"/>
          <p:cNvSpPr txBox="1"/>
          <p:nvPr/>
        </p:nvSpPr>
        <p:spPr>
          <a:xfrm>
            <a:off x="4612538" y="5166360"/>
            <a:ext cx="2966618" cy="320040"/>
          </a:xfrm>
          <a:prstGeom prst="rect">
            <a:avLst/>
          </a:prstGeom>
          <a:noFill/>
          <a:ln/>
        </p:spPr>
        <p:txBody>
          <a:bodyPr wrap="square" lIns="0" tIns="0" rIns="0" bIns="0" rtlCol="0" anchor="ctr"/>
          <a:lstStyle/>
          <a:p>
            <a:pPr marL="0" indent="0">
              <a:buNone/>
            </a:pPr>
            <a:r>
              <a:rPr lang="en-US" u="sng" dirty="0">
                <a:solidFill>
                  <a:srgbClr val="5B8CF5"/>
                </a:solidFill>
                <a:latin typeface="Arial" pitchFamily="34" charset="0"/>
                <a:ea typeface="Arial" pitchFamily="34" charset="-122"/>
                <a:cs typeface="Arial" pitchFamily="34" charset="-120"/>
                <a:hlinkClick r:id="rId12">
                  <a:extLst>
                    <a:ext uri="{A12FA001-AC4F-418D-AE19-62706E023703}">
                      <ahyp:hlinkClr xmlns:ahyp="http://schemas.microsoft.com/office/drawing/2018/hyperlinkcolor" val="tx"/>
                    </a:ext>
                  </a:extLst>
                </a:hlinkClick>
              </a:rPr>
              <a:t>youtube.com/@AprilDunnam</a:t>
            </a:r>
            <a:endParaRPr lang="en-US" dirty="0"/>
          </a:p>
        </p:txBody>
      </p:sp>
      <p:sp>
        <p:nvSpPr>
          <p:cNvPr id="29" name="Shape 22"/>
          <p:cNvSpPr/>
          <p:nvPr/>
        </p:nvSpPr>
        <p:spPr>
          <a:xfrm>
            <a:off x="8127797" y="3840480"/>
            <a:ext cx="3515258" cy="1737360"/>
          </a:xfrm>
          <a:prstGeom prst="roundRect">
            <a:avLst>
              <a:gd name="adj" fmla="val 9474"/>
            </a:avLst>
          </a:prstGeom>
          <a:solidFill>
            <a:srgbClr val="1F0F38"/>
          </a:solidFill>
          <a:ln w="12700">
            <a:solidFill>
              <a:srgbClr val="3A2260"/>
            </a:solidFill>
            <a:prstDash val="solid"/>
          </a:ln>
        </p:spPr>
        <p:txBody>
          <a:bodyPr/>
          <a:lstStyle/>
          <a:p>
            <a:endParaRPr lang="en-US"/>
          </a:p>
        </p:txBody>
      </p:sp>
      <p:sp>
        <p:nvSpPr>
          <p:cNvPr id="30" name="Shape 23"/>
          <p:cNvSpPr/>
          <p:nvPr/>
        </p:nvSpPr>
        <p:spPr>
          <a:xfrm>
            <a:off x="8402117" y="4114800"/>
            <a:ext cx="640080" cy="640080"/>
          </a:xfrm>
          <a:prstGeom prst="ellipse">
            <a:avLst/>
          </a:prstGeom>
          <a:solidFill>
            <a:srgbClr val="8C38E0"/>
          </a:solidFill>
          <a:ln/>
        </p:spPr>
        <p:txBody>
          <a:bodyPr/>
          <a:lstStyle/>
          <a:p>
            <a:endParaRPr lang="en-US"/>
          </a:p>
        </p:txBody>
      </p:sp>
      <p:pic>
        <p:nvPicPr>
          <p:cNvPr id="31" name="Image 5" descr="preencoded.png"/>
          <p:cNvPicPr>
            <a:picLocks noChangeAspect="1"/>
          </p:cNvPicPr>
          <p:nvPr/>
        </p:nvPicPr>
        <p:blipFill>
          <a:blip r:embed="rId13"/>
          <a:stretch>
            <a:fillRect/>
          </a:stretch>
        </p:blipFill>
        <p:spPr>
          <a:xfrm>
            <a:off x="8562137" y="4274820"/>
            <a:ext cx="320040" cy="320040"/>
          </a:xfrm>
          <a:prstGeom prst="rect">
            <a:avLst/>
          </a:prstGeom>
        </p:spPr>
      </p:pic>
      <p:sp>
        <p:nvSpPr>
          <p:cNvPr id="32" name="Text 24"/>
          <p:cNvSpPr txBox="1"/>
          <p:nvPr/>
        </p:nvSpPr>
        <p:spPr>
          <a:xfrm>
            <a:off x="8402117" y="4800600"/>
            <a:ext cx="2966618"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Agent Academy</a:t>
            </a:r>
            <a:endParaRPr lang="en-US" sz="1800" dirty="0"/>
          </a:p>
        </p:txBody>
      </p:sp>
      <p:sp>
        <p:nvSpPr>
          <p:cNvPr id="33" name="Text 25"/>
          <p:cNvSpPr txBox="1"/>
          <p:nvPr/>
        </p:nvSpPr>
        <p:spPr>
          <a:xfrm>
            <a:off x="8402117" y="5166360"/>
            <a:ext cx="2966618" cy="320040"/>
          </a:xfrm>
          <a:prstGeom prst="rect">
            <a:avLst/>
          </a:prstGeom>
          <a:noFill/>
          <a:ln/>
        </p:spPr>
        <p:txBody>
          <a:bodyPr wrap="square" lIns="0" tIns="0" rIns="0" bIns="0" rtlCol="0" anchor="ctr"/>
          <a:lstStyle/>
          <a:p>
            <a:pPr marL="0" indent="0">
              <a:buNone/>
            </a:pPr>
            <a:r>
              <a:rPr lang="en-US" u="sng" dirty="0">
                <a:solidFill>
                  <a:srgbClr val="5B8CF5"/>
                </a:solidFill>
                <a:latin typeface="Arial" pitchFamily="34" charset="0"/>
                <a:ea typeface="Arial" pitchFamily="34" charset="-122"/>
                <a:cs typeface="Arial" pitchFamily="34" charset="-120"/>
                <a:hlinkClick r:id="rId14">
                  <a:extLst>
                    <a:ext uri="{A12FA001-AC4F-418D-AE19-62706E023703}">
                      <ahyp:hlinkClr xmlns:ahyp="http://schemas.microsoft.com/office/drawing/2018/hyperlinkcolor" val="tx"/>
                    </a:ext>
                  </a:extLst>
                </a:hlinkClick>
              </a:rPr>
              <a:t>aka.ms/agent-academy</a:t>
            </a:r>
            <a:endParaRPr lang="en-US" dirty="0"/>
          </a:p>
        </p:txBody>
      </p:sp>
    </p:spTree>
  </p:cSld>
  <p:clrMapOvr>
    <a:masterClrMapping/>
  </p:clrMapOvr>
</p:sld>
</file>

<file path=ppt/theme/theme1.xml><?xml version="1.0" encoding="utf-8"?>
<a:theme xmlns:a="http://schemas.openxmlformats.org/drawingml/2006/main" name="Vibe 2.0">
  <a:themeElements>
    <a:clrScheme name="Vibe 2.0">
      <a:dk1>
        <a:srgbClr val="11011D"/>
      </a:dk1>
      <a:lt1>
        <a:srgbClr val="FFFFFF"/>
      </a:lt1>
      <a:dk2>
        <a:srgbClr val="1F0F38"/>
      </a:dk2>
      <a:lt2>
        <a:srgbClr val="CFC8E0"/>
      </a:lt2>
      <a:accent1>
        <a:srgbClr val="3B74F0"/>
      </a:accent1>
      <a:accent2>
        <a:srgbClr val="8C38E0"/>
      </a:accent2>
      <a:accent3>
        <a:srgbClr val="E8307A"/>
      </a:accent3>
      <a:accent4>
        <a:srgbClr val="5B8CF5"/>
      </a:accent4>
      <a:accent5>
        <a:srgbClr val="B06CF5"/>
      </a:accent5>
      <a:accent6>
        <a:srgbClr val="FF5C9E"/>
      </a:accent6>
      <a:hlink>
        <a:srgbClr val="5B8CF5"/>
      </a:hlink>
      <a:folHlink>
        <a:srgbClr val="B06CF5"/>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be 2.0"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941</TotalTime>
  <Words>6377</Words>
  <Application>Microsoft Macintosh PowerPoint</Application>
  <PresentationFormat>Widescreen</PresentationFormat>
  <Paragraphs>495</Paragraphs>
  <Slides>39</Slides>
  <Notes>39</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Courier New</vt:lpstr>
      <vt:lpstr>Vibe 2.0</vt:lpstr>
      <vt:lpstr>Delegating real work to Copilot Cowork</vt:lpstr>
      <vt:lpstr>PowerPoint Presentation</vt:lpstr>
      <vt:lpstr>April Dunnam</vt:lpstr>
      <vt:lpstr>Where we're going</vt:lpstr>
      <vt:lpstr>Today's demo company: April's Analog</vt:lpstr>
      <vt:lpstr>Which Copilot?</vt:lpstr>
      <vt:lpstr>The Copilot family, in plain English</vt:lpstr>
      <vt:lpstr>The real difference isn't think vs. do</vt:lpstr>
      <vt:lpstr>Not every task needs an autopilot</vt:lpstr>
      <vt:lpstr>Copilot Cowork vs. Claude Cowork</vt:lpstr>
      <vt:lpstr>How Cowork works</vt:lpstr>
      <vt:lpstr>What happens when you hand Cowork a task</vt:lpstr>
      <vt:lpstr>Cowork 101: clear my fest inbox</vt:lpstr>
      <vt:lpstr>The mindset shift: delegate, don't prompt</vt:lpstr>
      <vt:lpstr>Work IQ: why Cowork knows your work</vt:lpstr>
      <vt:lpstr>13 skills built in, no setup required</vt:lpstr>
      <vt:lpstr>Multi-file creation</vt:lpstr>
      <vt:lpstr>What just landed</vt:lpstr>
      <vt:lpstr>Three months of Cowork updates</vt:lpstr>
      <vt:lpstr>NEW: Build apps right inside Cowork</vt:lpstr>
      <vt:lpstr>Build the crew check-in app with /app</vt:lpstr>
      <vt:lpstr>Automations: scheduled or triggered by events</vt:lpstr>
      <vt:lpstr>Scheduling tasks</vt:lpstr>
      <vt:lpstr>Tune every task for speed, smarts, or cost</vt:lpstr>
      <vt:lpstr>Cowork goes wherever you work</vt:lpstr>
      <vt:lpstr>Make it yours</vt:lpstr>
      <vt:lpstr>A skill is a capability. A plugin is a container.</vt:lpstr>
      <vt:lpstr>Anatomy of a custom skill</vt:lpstr>
      <vt:lpstr>Don't start with a skill. Start with a task.</vt:lpstr>
      <vt:lpstr>Three kinds of connectors. One works in Cowork.</vt:lpstr>
      <vt:lpstr>Inside a plugin, and why MCP matters</vt:lpstr>
      <vt:lpstr>The plugin catalog is growing fast</vt:lpstr>
      <vt:lpstr>One job, multiple apps</vt:lpstr>
      <vt:lpstr>Run it like a pro</vt:lpstr>
      <vt:lpstr>Anatomy of a great Cowork request</vt:lpstr>
      <vt:lpstr>What does it cost?</vt:lpstr>
      <vt:lpstr>Is it secure? The questions IT always asks</vt:lpstr>
      <vt:lpstr>Three Cowork jobs to start wit</vt:lpstr>
      <vt:lpstr>Keep going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Delegating real work to Copilot Cowork</dc:title>
  <dc:subject>PptxGenJS Presentation</dc:subject>
  <dc:creator>April Dunnam</dc:creator>
  <cp:lastModifiedBy>Demo User 185</cp:lastModifiedBy>
  <cp:revision>10</cp:revision>
  <dcterms:created xsi:type="dcterms:W3CDTF">2026-09-21T06:19:38Z</dcterms:created>
  <dcterms:modified xsi:type="dcterms:W3CDTF">2026-09-21T22:24:19Z</dcterms:modified>
</cp:coreProperties>
</file>